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1448944615" r:id="rId2"/>
    <p:sldId id="1448944598" r:id="rId3"/>
    <p:sldId id="1448944616" r:id="rId4"/>
    <p:sldId id="1448944617" r:id="rId5"/>
    <p:sldId id="1448944620" r:id="rId6"/>
    <p:sldId id="1448944621" r:id="rId7"/>
    <p:sldId id="1448944618" r:id="rId8"/>
    <p:sldId id="1448944622" r:id="rId9"/>
    <p:sldId id="1448944623" r:id="rId10"/>
    <p:sldId id="1448944629" r:id="rId11"/>
    <p:sldId id="1448944628" r:id="rId12"/>
    <p:sldId id="1448944631" r:id="rId13"/>
    <p:sldId id="256" r:id="rId14"/>
    <p:sldId id="257" r:id="rId15"/>
    <p:sldId id="258" r:id="rId16"/>
    <p:sldId id="259" r:id="rId17"/>
    <p:sldId id="260" r:id="rId18"/>
    <p:sldId id="261" r:id="rId19"/>
    <p:sldId id="1448944625" r:id="rId20"/>
    <p:sldId id="1448944626" r:id="rId21"/>
    <p:sldId id="1448944632" r:id="rId22"/>
    <p:sldId id="1448944630"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BA21"/>
    <a:srgbClr val="009EDB"/>
    <a:srgbClr val="049B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4188" autoAdjust="0"/>
  </p:normalViewPr>
  <p:slideViewPr>
    <p:cSldViewPr snapToGrid="0">
      <p:cViewPr varScale="1">
        <p:scale>
          <a:sx n="53" d="100"/>
          <a:sy n="53" d="100"/>
        </p:scale>
        <p:origin x="11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7146AC-91B1-478C-8856-09A11651431C}" type="datetimeFigureOut">
              <a:rPr lang="en-US" smtClean="0"/>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E4243C-45DD-4622-9728-5080CDD53D12}" type="slidenum">
              <a:rPr lang="en-US" smtClean="0"/>
              <a:t>‹#›</a:t>
            </a:fld>
            <a:endParaRPr lang="en-US"/>
          </a:p>
        </p:txBody>
      </p:sp>
    </p:spTree>
    <p:extLst>
      <p:ext uri="{BB962C8B-B14F-4D97-AF65-F5344CB8AC3E}">
        <p14:creationId xmlns:p14="http://schemas.microsoft.com/office/powerpoint/2010/main" val="2064631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Terms of Reference</a:t>
            </a:r>
          </a:p>
        </p:txBody>
      </p:sp>
      <p:sp>
        <p:nvSpPr>
          <p:cNvPr id="4" name="Slide Number Placeholder 3"/>
          <p:cNvSpPr>
            <a:spLocks noGrp="1"/>
          </p:cNvSpPr>
          <p:nvPr>
            <p:ph type="sldNum" sz="quarter" idx="5"/>
          </p:nvPr>
        </p:nvSpPr>
        <p:spPr/>
        <p:txBody>
          <a:bodyPr/>
          <a:lstStyle/>
          <a:p>
            <a:fld id="{50E4243C-45DD-4622-9728-5080CDD53D12}" type="slidenum">
              <a:rPr lang="en-US" smtClean="0"/>
              <a:t>7</a:t>
            </a:fld>
            <a:endParaRPr lang="en-US"/>
          </a:p>
        </p:txBody>
      </p:sp>
    </p:spTree>
    <p:extLst>
      <p:ext uri="{BB962C8B-B14F-4D97-AF65-F5344CB8AC3E}">
        <p14:creationId xmlns:p14="http://schemas.microsoft.com/office/powerpoint/2010/main" val="13661645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Approach bottom up </a:t>
            </a:r>
            <a:r>
              <a:rPr lang="en-US" dirty="0">
                <a:sym typeface="Wingdings" panose="05000000000000000000" pitchFamily="2" charset="2"/>
              </a:rPr>
              <a:t> what we need from you</a:t>
            </a:r>
            <a:endParaRPr lang="en-US" dirty="0"/>
          </a:p>
        </p:txBody>
      </p:sp>
      <p:sp>
        <p:nvSpPr>
          <p:cNvPr id="4" name="Slide Number Placeholder 3"/>
          <p:cNvSpPr>
            <a:spLocks noGrp="1"/>
          </p:cNvSpPr>
          <p:nvPr>
            <p:ph type="sldNum" sz="quarter" idx="5"/>
          </p:nvPr>
        </p:nvSpPr>
        <p:spPr/>
        <p:txBody>
          <a:bodyPr/>
          <a:lstStyle/>
          <a:p>
            <a:fld id="{50E4243C-45DD-4622-9728-5080CDD53D12}" type="slidenum">
              <a:rPr lang="en-US" smtClean="0"/>
              <a:t>9</a:t>
            </a:fld>
            <a:endParaRPr lang="en-US"/>
          </a:p>
        </p:txBody>
      </p:sp>
    </p:spTree>
    <p:extLst>
      <p:ext uri="{BB962C8B-B14F-4D97-AF65-F5344CB8AC3E}">
        <p14:creationId xmlns:p14="http://schemas.microsoft.com/office/powerpoint/2010/main" val="1756063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43314-B2B9-0370-FEAA-674CC5701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7DE07-6D99-7721-C781-B53349496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1CBF75-3910-292C-4296-64A7539F3816}"/>
              </a:ext>
            </a:extLst>
          </p:cNvPr>
          <p:cNvSpPr>
            <a:spLocks noGrp="1"/>
          </p:cNvSpPr>
          <p:nvPr>
            <p:ph type="body" idx="1"/>
          </p:nvPr>
        </p:nvSpPr>
        <p:spPr/>
        <p:txBody>
          <a:bodyPr/>
          <a:lstStyle/>
          <a:p>
            <a:r>
              <a:rPr lang="en-US" dirty="0"/>
              <a:t>Approach bottom up </a:t>
            </a:r>
            <a:r>
              <a:rPr lang="en-US" dirty="0">
                <a:sym typeface="Wingdings" panose="05000000000000000000" pitchFamily="2" charset="2"/>
              </a:rPr>
              <a:t> what we need from you</a:t>
            </a:r>
            <a:endParaRPr lang="en-US" dirty="0"/>
          </a:p>
        </p:txBody>
      </p:sp>
      <p:sp>
        <p:nvSpPr>
          <p:cNvPr id="4" name="Slide Number Placeholder 3">
            <a:extLst>
              <a:ext uri="{FF2B5EF4-FFF2-40B4-BE49-F238E27FC236}">
                <a16:creationId xmlns:a16="http://schemas.microsoft.com/office/drawing/2014/main" id="{A78EB91B-8A4E-235D-932F-20001031BE5D}"/>
              </a:ext>
            </a:extLst>
          </p:cNvPr>
          <p:cNvSpPr>
            <a:spLocks noGrp="1"/>
          </p:cNvSpPr>
          <p:nvPr>
            <p:ph type="sldNum" sz="quarter" idx="5"/>
          </p:nvPr>
        </p:nvSpPr>
        <p:spPr/>
        <p:txBody>
          <a:bodyPr/>
          <a:lstStyle/>
          <a:p>
            <a:fld id="{50E4243C-45DD-4622-9728-5080CDD53D12}" type="slidenum">
              <a:rPr lang="en-US" smtClean="0"/>
              <a:t>10</a:t>
            </a:fld>
            <a:endParaRPr lang="en-US"/>
          </a:p>
        </p:txBody>
      </p:sp>
    </p:spTree>
    <p:extLst>
      <p:ext uri="{BB962C8B-B14F-4D97-AF65-F5344CB8AC3E}">
        <p14:creationId xmlns:p14="http://schemas.microsoft.com/office/powerpoint/2010/main" val="9308211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E068B-9362-7D1E-1A06-531ACE97F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A3AA6C-7E5B-C10F-EA5E-A0ED6284E7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054BF5-CE04-E87E-3779-3B199C42E544}"/>
              </a:ext>
            </a:extLst>
          </p:cNvPr>
          <p:cNvSpPr>
            <a:spLocks noGrp="1"/>
          </p:cNvSpPr>
          <p:nvPr>
            <p:ph type="body" idx="1"/>
          </p:nvPr>
        </p:nvSpPr>
        <p:spPr/>
        <p:txBody>
          <a:bodyPr/>
          <a:lstStyle/>
          <a:p>
            <a:r>
              <a:rPr lang="en-US" dirty="0"/>
              <a:t>Which </a:t>
            </a:r>
            <a:r>
              <a:rPr lang="en-US" dirty="0" err="1"/>
              <a:t>prez</a:t>
            </a:r>
            <a:r>
              <a:rPr lang="en-US" dirty="0"/>
              <a:t> from workshops to add as reference?</a:t>
            </a:r>
          </a:p>
          <a:p>
            <a:r>
              <a:rPr lang="en-US" dirty="0"/>
              <a:t>Contributions are driven by the community </a:t>
            </a:r>
          </a:p>
          <a:p>
            <a:r>
              <a:rPr lang="en-US" dirty="0"/>
              <a:t>Technical Development rather than policy work. We are in a position of solution architect even if not everything is done by SG17. </a:t>
            </a:r>
          </a:p>
          <a:p>
            <a:endParaRPr lang="en-US" dirty="0"/>
          </a:p>
        </p:txBody>
      </p:sp>
      <p:sp>
        <p:nvSpPr>
          <p:cNvPr id="4" name="Slide Number Placeholder 3">
            <a:extLst>
              <a:ext uri="{FF2B5EF4-FFF2-40B4-BE49-F238E27FC236}">
                <a16:creationId xmlns:a16="http://schemas.microsoft.com/office/drawing/2014/main" id="{E25E7EF8-C1D1-BA07-E811-33459A1BC493}"/>
              </a:ext>
            </a:extLst>
          </p:cNvPr>
          <p:cNvSpPr>
            <a:spLocks noGrp="1"/>
          </p:cNvSpPr>
          <p:nvPr>
            <p:ph type="sldNum" sz="quarter" idx="5"/>
          </p:nvPr>
        </p:nvSpPr>
        <p:spPr/>
        <p:txBody>
          <a:bodyPr/>
          <a:lstStyle/>
          <a:p>
            <a:fld id="{50E4243C-45DD-4622-9728-5080CDD53D12}" type="slidenum">
              <a:rPr lang="en-US" smtClean="0"/>
              <a:t>12</a:t>
            </a:fld>
            <a:endParaRPr lang="en-US"/>
          </a:p>
        </p:txBody>
      </p:sp>
    </p:spTree>
    <p:extLst>
      <p:ext uri="{BB962C8B-B14F-4D97-AF65-F5344CB8AC3E}">
        <p14:creationId xmlns:p14="http://schemas.microsoft.com/office/powerpoint/2010/main" val="3490643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Control &amp; Security Policy Enforcement with Metamorphing AI Agents. Work stream 2 of 2. Use for FG-TIDA brainstorm.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Remote Attestation for AI Agents.  Use for FG-TIDA brainstorm.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and Access for AI Agents.  Use for FG-TIDA brainstorm.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Cross-Border and Cross-Organization Trust Bridging.  Use for FG-TIDA brainstorm.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Identity and Trust Stack.  Use for FG-TIDA brainstorm.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TNO on invitation</a:t>
            </a:r>
          </a:p>
        </p:txBody>
      </p:sp>
      <p:sp>
        <p:nvSpPr>
          <p:cNvPr id="4" name="Slide Number Placeholder 3"/>
          <p:cNvSpPr>
            <a:spLocks noGrp="1"/>
          </p:cNvSpPr>
          <p:nvPr>
            <p:ph type="sldNum" sz="quarter" idx="5"/>
          </p:nvPr>
        </p:nvSpPr>
        <p:spPr/>
        <p:txBody>
          <a:bodyPr/>
          <a:lstStyle/>
          <a:p>
            <a:fld id="{50E4243C-45DD-4622-9728-5080CDD53D12}" type="slidenum">
              <a:rPr lang="en-US" smtClean="0"/>
              <a:t>20</a:t>
            </a:fld>
            <a:endParaRPr lang="en-US"/>
          </a:p>
        </p:txBody>
      </p:sp>
    </p:spTree>
    <p:extLst>
      <p:ext uri="{BB962C8B-B14F-4D97-AF65-F5344CB8AC3E}">
        <p14:creationId xmlns:p14="http://schemas.microsoft.com/office/powerpoint/2010/main" val="3058151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EF99A-C621-A186-5A2A-439FA6A14C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27807282-993E-F770-C64D-000F5A0E00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B40A57C8-5756-AE75-CF1C-5375052567E0}"/>
              </a:ext>
            </a:extLst>
          </p:cNvPr>
          <p:cNvSpPr>
            <a:spLocks noGrp="1"/>
          </p:cNvSpPr>
          <p:nvPr>
            <p:ph type="dt" sz="half" idx="10"/>
          </p:nvPr>
        </p:nvSpPr>
        <p:spPr/>
        <p:txBody>
          <a:bodyPr/>
          <a:lstStyle/>
          <a:p>
            <a:fld id="{4BDC2062-6E7A-4594-8AA0-CC862D6C2B72}" type="datetimeFigureOut">
              <a:rPr lang="fr-FR" smtClean="0"/>
              <a:t>29/07/2026</a:t>
            </a:fld>
            <a:endParaRPr lang="fr-FR"/>
          </a:p>
        </p:txBody>
      </p:sp>
      <p:sp>
        <p:nvSpPr>
          <p:cNvPr id="5" name="Footer Placeholder 4">
            <a:extLst>
              <a:ext uri="{FF2B5EF4-FFF2-40B4-BE49-F238E27FC236}">
                <a16:creationId xmlns:a16="http://schemas.microsoft.com/office/drawing/2014/main" id="{C23BD65A-81E3-F0C7-DFA3-D06D6BEF6E30}"/>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21819E62-A837-D6A2-9052-E142B47C07BD}"/>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128360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B5105-6DE9-82A8-A652-E2DC8195CCF7}"/>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DC9F9A48-AA36-36F2-E934-4AA153F34A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144E4DF7-6EDB-1667-8336-25835B4BA505}"/>
              </a:ext>
            </a:extLst>
          </p:cNvPr>
          <p:cNvSpPr>
            <a:spLocks noGrp="1"/>
          </p:cNvSpPr>
          <p:nvPr>
            <p:ph type="dt" sz="half" idx="10"/>
          </p:nvPr>
        </p:nvSpPr>
        <p:spPr/>
        <p:txBody>
          <a:bodyPr/>
          <a:lstStyle/>
          <a:p>
            <a:fld id="{4BDC2062-6E7A-4594-8AA0-CC862D6C2B72}" type="datetimeFigureOut">
              <a:rPr lang="fr-FR" smtClean="0"/>
              <a:t>29/07/2026</a:t>
            </a:fld>
            <a:endParaRPr lang="fr-FR"/>
          </a:p>
        </p:txBody>
      </p:sp>
      <p:sp>
        <p:nvSpPr>
          <p:cNvPr id="5" name="Footer Placeholder 4">
            <a:extLst>
              <a:ext uri="{FF2B5EF4-FFF2-40B4-BE49-F238E27FC236}">
                <a16:creationId xmlns:a16="http://schemas.microsoft.com/office/drawing/2014/main" id="{F1011BE4-69F7-AD77-8BCF-D4A07E31D5F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0BCCC25E-0590-FD43-18FF-0E44381D4E9E}"/>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1403989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9D044-8043-0B05-8306-74637BE46F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CDE70645-0B5F-D8E8-63EA-D6820A1AB2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8D432E-6DB2-BE1B-1C06-6FCFCFBCE3B2}"/>
              </a:ext>
            </a:extLst>
          </p:cNvPr>
          <p:cNvSpPr>
            <a:spLocks noGrp="1"/>
          </p:cNvSpPr>
          <p:nvPr>
            <p:ph type="dt" sz="half" idx="10"/>
          </p:nvPr>
        </p:nvSpPr>
        <p:spPr/>
        <p:txBody>
          <a:bodyPr/>
          <a:lstStyle/>
          <a:p>
            <a:fld id="{4BDC2062-6E7A-4594-8AA0-CC862D6C2B72}" type="datetimeFigureOut">
              <a:rPr lang="fr-FR" smtClean="0"/>
              <a:t>29/07/2026</a:t>
            </a:fld>
            <a:endParaRPr lang="fr-FR"/>
          </a:p>
        </p:txBody>
      </p:sp>
      <p:sp>
        <p:nvSpPr>
          <p:cNvPr id="5" name="Footer Placeholder 4">
            <a:extLst>
              <a:ext uri="{FF2B5EF4-FFF2-40B4-BE49-F238E27FC236}">
                <a16:creationId xmlns:a16="http://schemas.microsoft.com/office/drawing/2014/main" id="{CEFE11E0-BA51-323C-CA78-DB0D4B6C565B}"/>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8A3BE12F-E686-C38E-62BB-46D179799079}"/>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57873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39226-FAF3-B00D-B436-C12747DDB076}"/>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812FC885-3D02-32E4-4A70-745BA1E431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6F95EFCB-8F0C-833F-601F-D59910C6C0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58957883-2132-6ACF-B26D-218B10A41B00}"/>
              </a:ext>
            </a:extLst>
          </p:cNvPr>
          <p:cNvSpPr>
            <a:spLocks noGrp="1"/>
          </p:cNvSpPr>
          <p:nvPr>
            <p:ph type="dt" sz="half" idx="10"/>
          </p:nvPr>
        </p:nvSpPr>
        <p:spPr/>
        <p:txBody>
          <a:bodyPr/>
          <a:lstStyle/>
          <a:p>
            <a:fld id="{4BDC2062-6E7A-4594-8AA0-CC862D6C2B72}" type="datetimeFigureOut">
              <a:rPr lang="fr-FR" smtClean="0"/>
              <a:t>29/07/2026</a:t>
            </a:fld>
            <a:endParaRPr lang="fr-FR"/>
          </a:p>
        </p:txBody>
      </p:sp>
      <p:sp>
        <p:nvSpPr>
          <p:cNvPr id="6" name="Footer Placeholder 5">
            <a:extLst>
              <a:ext uri="{FF2B5EF4-FFF2-40B4-BE49-F238E27FC236}">
                <a16:creationId xmlns:a16="http://schemas.microsoft.com/office/drawing/2014/main" id="{2289F917-552F-B126-D9F6-E694CB91E7D1}"/>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98A221D2-7695-5D9F-FFD5-E498E313A850}"/>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381873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15F0C-9195-EF66-4170-B274087F43A1}"/>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3A1847E9-B8C0-B6F9-A918-4B0E6CD969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9F8AAD-EC3E-0E24-0190-481FFE1A2C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8E7A32C3-0F85-8732-21E3-C51B166F7C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92E302-C262-20CA-683A-7F57726954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44A36FD1-A8AE-1528-F29B-5104196F0421}"/>
              </a:ext>
            </a:extLst>
          </p:cNvPr>
          <p:cNvSpPr>
            <a:spLocks noGrp="1"/>
          </p:cNvSpPr>
          <p:nvPr>
            <p:ph type="dt" sz="half" idx="10"/>
          </p:nvPr>
        </p:nvSpPr>
        <p:spPr/>
        <p:txBody>
          <a:bodyPr/>
          <a:lstStyle/>
          <a:p>
            <a:fld id="{4BDC2062-6E7A-4594-8AA0-CC862D6C2B72}" type="datetimeFigureOut">
              <a:rPr lang="fr-FR" smtClean="0"/>
              <a:t>29/07/2026</a:t>
            </a:fld>
            <a:endParaRPr lang="fr-FR"/>
          </a:p>
        </p:txBody>
      </p:sp>
      <p:sp>
        <p:nvSpPr>
          <p:cNvPr id="8" name="Footer Placeholder 7">
            <a:extLst>
              <a:ext uri="{FF2B5EF4-FFF2-40B4-BE49-F238E27FC236}">
                <a16:creationId xmlns:a16="http://schemas.microsoft.com/office/drawing/2014/main" id="{23F031F6-CEEC-5683-CBCD-811976C4C835}"/>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15464CD9-1886-CF40-500F-FA81BA27101C}"/>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2907187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BF7B7-54C1-2BCC-C55D-0D279464A9B7}"/>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4AD9A7C9-0128-4EF6-2228-07F8CF08FAD4}"/>
              </a:ext>
            </a:extLst>
          </p:cNvPr>
          <p:cNvSpPr>
            <a:spLocks noGrp="1"/>
          </p:cNvSpPr>
          <p:nvPr>
            <p:ph type="dt" sz="half" idx="10"/>
          </p:nvPr>
        </p:nvSpPr>
        <p:spPr/>
        <p:txBody>
          <a:bodyPr/>
          <a:lstStyle/>
          <a:p>
            <a:fld id="{4BDC2062-6E7A-4594-8AA0-CC862D6C2B72}" type="datetimeFigureOut">
              <a:rPr lang="fr-FR" smtClean="0"/>
              <a:t>29/07/2026</a:t>
            </a:fld>
            <a:endParaRPr lang="fr-FR"/>
          </a:p>
        </p:txBody>
      </p:sp>
      <p:sp>
        <p:nvSpPr>
          <p:cNvPr id="4" name="Footer Placeholder 3">
            <a:extLst>
              <a:ext uri="{FF2B5EF4-FFF2-40B4-BE49-F238E27FC236}">
                <a16:creationId xmlns:a16="http://schemas.microsoft.com/office/drawing/2014/main" id="{EB2F1362-DE8D-89FC-5F75-6D76C33B7F8E}"/>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4B3841CF-A51F-F88D-BFCE-E15EC47F32F1}"/>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2968973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F3B53C-D80E-78FB-308A-BBCFABFCAF5A}"/>
              </a:ext>
            </a:extLst>
          </p:cNvPr>
          <p:cNvSpPr>
            <a:spLocks noGrp="1"/>
          </p:cNvSpPr>
          <p:nvPr>
            <p:ph type="dt" sz="half" idx="10"/>
          </p:nvPr>
        </p:nvSpPr>
        <p:spPr/>
        <p:txBody>
          <a:bodyPr/>
          <a:lstStyle/>
          <a:p>
            <a:fld id="{4BDC2062-6E7A-4594-8AA0-CC862D6C2B72}" type="datetimeFigureOut">
              <a:rPr lang="fr-FR" smtClean="0"/>
              <a:t>29/07/2026</a:t>
            </a:fld>
            <a:endParaRPr lang="fr-FR"/>
          </a:p>
        </p:txBody>
      </p:sp>
      <p:sp>
        <p:nvSpPr>
          <p:cNvPr id="3" name="Footer Placeholder 2">
            <a:extLst>
              <a:ext uri="{FF2B5EF4-FFF2-40B4-BE49-F238E27FC236}">
                <a16:creationId xmlns:a16="http://schemas.microsoft.com/office/drawing/2014/main" id="{DD2D69DB-FAB6-49BA-3D9D-95D4D5D913A3}"/>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86D87715-9066-BFA8-8AC8-7EAC4094EF5B}"/>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3811960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DA97B-5608-05A6-5B59-01FB16A0B0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59EC406F-71B4-4613-7139-A789AAE2CD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849F7945-FDA2-2CB3-300D-06CAC6D31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5A5D6F-5E5B-A94B-490B-A9616A9B638C}"/>
              </a:ext>
            </a:extLst>
          </p:cNvPr>
          <p:cNvSpPr>
            <a:spLocks noGrp="1"/>
          </p:cNvSpPr>
          <p:nvPr>
            <p:ph type="dt" sz="half" idx="10"/>
          </p:nvPr>
        </p:nvSpPr>
        <p:spPr/>
        <p:txBody>
          <a:bodyPr/>
          <a:lstStyle/>
          <a:p>
            <a:fld id="{4BDC2062-6E7A-4594-8AA0-CC862D6C2B72}" type="datetimeFigureOut">
              <a:rPr lang="fr-FR" smtClean="0"/>
              <a:t>29/07/2026</a:t>
            </a:fld>
            <a:endParaRPr lang="fr-FR"/>
          </a:p>
        </p:txBody>
      </p:sp>
      <p:sp>
        <p:nvSpPr>
          <p:cNvPr id="6" name="Footer Placeholder 5">
            <a:extLst>
              <a:ext uri="{FF2B5EF4-FFF2-40B4-BE49-F238E27FC236}">
                <a16:creationId xmlns:a16="http://schemas.microsoft.com/office/drawing/2014/main" id="{833D0695-3EB2-C179-DFAD-1E9966E8916F}"/>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9B659489-36B6-EE3A-3B4A-3C1690714862}"/>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1302043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764D4-2E92-6BD8-2143-528ABA7C1D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8D0983D2-4E49-12A5-E397-8E77AF75F3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BB8A7BDF-7CB5-14CC-006A-53118C6586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5BDC58-6717-7269-E95E-0987E8A97C74}"/>
              </a:ext>
            </a:extLst>
          </p:cNvPr>
          <p:cNvSpPr>
            <a:spLocks noGrp="1"/>
          </p:cNvSpPr>
          <p:nvPr>
            <p:ph type="dt" sz="half" idx="10"/>
          </p:nvPr>
        </p:nvSpPr>
        <p:spPr/>
        <p:txBody>
          <a:bodyPr/>
          <a:lstStyle/>
          <a:p>
            <a:fld id="{4BDC2062-6E7A-4594-8AA0-CC862D6C2B72}" type="datetimeFigureOut">
              <a:rPr lang="fr-FR" smtClean="0"/>
              <a:t>29/07/2026</a:t>
            </a:fld>
            <a:endParaRPr lang="fr-FR"/>
          </a:p>
        </p:txBody>
      </p:sp>
      <p:sp>
        <p:nvSpPr>
          <p:cNvPr id="6" name="Footer Placeholder 5">
            <a:extLst>
              <a:ext uri="{FF2B5EF4-FFF2-40B4-BE49-F238E27FC236}">
                <a16:creationId xmlns:a16="http://schemas.microsoft.com/office/drawing/2014/main" id="{3BBB5421-C6D6-EC59-FFC2-6CE8E48F76A7}"/>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3E4FEA39-E95D-A614-37E3-26AA45038CFB}"/>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2080484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B809E-5167-A68C-4651-57E05ACD8D0E}"/>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E9F2C5B1-8F48-FF14-1E62-FC891D10D3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BFF34BD2-6AE5-D61A-7FA8-E4095E0DC070}"/>
              </a:ext>
            </a:extLst>
          </p:cNvPr>
          <p:cNvSpPr>
            <a:spLocks noGrp="1"/>
          </p:cNvSpPr>
          <p:nvPr>
            <p:ph type="dt" sz="half" idx="10"/>
          </p:nvPr>
        </p:nvSpPr>
        <p:spPr/>
        <p:txBody>
          <a:bodyPr/>
          <a:lstStyle/>
          <a:p>
            <a:fld id="{4BDC2062-6E7A-4594-8AA0-CC862D6C2B72}" type="datetimeFigureOut">
              <a:rPr lang="fr-FR" smtClean="0"/>
              <a:t>29/07/2026</a:t>
            </a:fld>
            <a:endParaRPr lang="fr-FR"/>
          </a:p>
        </p:txBody>
      </p:sp>
      <p:sp>
        <p:nvSpPr>
          <p:cNvPr id="5" name="Footer Placeholder 4">
            <a:extLst>
              <a:ext uri="{FF2B5EF4-FFF2-40B4-BE49-F238E27FC236}">
                <a16:creationId xmlns:a16="http://schemas.microsoft.com/office/drawing/2014/main" id="{0441757E-3BFB-F975-1187-6A2213E335D1}"/>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24A44003-B9CD-4403-6552-DBB0A1CE7F81}"/>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1727058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6DECCA-5038-748F-E4D3-30CC4EBBF3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E9693D91-CF78-488F-819D-E08B3BBD79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AB41F554-EA90-F39D-2CC5-9EF662E13A43}"/>
              </a:ext>
            </a:extLst>
          </p:cNvPr>
          <p:cNvSpPr>
            <a:spLocks noGrp="1"/>
          </p:cNvSpPr>
          <p:nvPr>
            <p:ph type="dt" sz="half" idx="10"/>
          </p:nvPr>
        </p:nvSpPr>
        <p:spPr/>
        <p:txBody>
          <a:bodyPr/>
          <a:lstStyle/>
          <a:p>
            <a:fld id="{4BDC2062-6E7A-4594-8AA0-CC862D6C2B72}" type="datetimeFigureOut">
              <a:rPr lang="fr-FR" smtClean="0"/>
              <a:t>29/07/2026</a:t>
            </a:fld>
            <a:endParaRPr lang="fr-FR"/>
          </a:p>
        </p:txBody>
      </p:sp>
      <p:sp>
        <p:nvSpPr>
          <p:cNvPr id="5" name="Footer Placeholder 4">
            <a:extLst>
              <a:ext uri="{FF2B5EF4-FFF2-40B4-BE49-F238E27FC236}">
                <a16:creationId xmlns:a16="http://schemas.microsoft.com/office/drawing/2014/main" id="{C12E9CEC-5F10-C13B-029E-E2BEE3FB6E35}"/>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A392FF3E-6C87-3937-24F7-391A99A950AB}"/>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12248439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3906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056F67-8D88-98FE-3969-1399AD1652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A7B8B2EA-AFF6-6AA2-0336-C263ECF8E2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5C7DAB46-C55A-8DC7-818A-77CFE3DDF2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DC2062-6E7A-4594-8AA0-CC862D6C2B72}" type="datetimeFigureOut">
              <a:rPr lang="fr-FR" smtClean="0"/>
              <a:t>29/07/2026</a:t>
            </a:fld>
            <a:endParaRPr lang="fr-FR"/>
          </a:p>
        </p:txBody>
      </p:sp>
      <p:sp>
        <p:nvSpPr>
          <p:cNvPr id="5" name="Footer Placeholder 4">
            <a:extLst>
              <a:ext uri="{FF2B5EF4-FFF2-40B4-BE49-F238E27FC236}">
                <a16:creationId xmlns:a16="http://schemas.microsoft.com/office/drawing/2014/main" id="{E204ECA4-AD84-8C4D-2277-65E5FD3D18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a:extLst>
              <a:ext uri="{FF2B5EF4-FFF2-40B4-BE49-F238E27FC236}">
                <a16:creationId xmlns:a16="http://schemas.microsoft.com/office/drawing/2014/main" id="{5EFB3551-697D-F9D6-4FB4-6D2F3C04DC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B53A18-C0F4-4606-8A93-560A6BFAD2D3}" type="slidenum">
              <a:rPr lang="fr-FR" smtClean="0"/>
              <a:t>‹#›</a:t>
            </a:fld>
            <a:endParaRPr lang="fr-FR"/>
          </a:p>
        </p:txBody>
      </p:sp>
    </p:spTree>
    <p:extLst>
      <p:ext uri="{BB962C8B-B14F-4D97-AF65-F5344CB8AC3E}">
        <p14:creationId xmlns:p14="http://schemas.microsoft.com/office/powerpoint/2010/main" val="2520336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4.jpg"/><Relationship Id="rId7" Type="http://schemas.openxmlformats.org/officeDocument/2006/relationships/image" Target="../media/image8.jp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 Id="rId9" Type="http://schemas.openxmlformats.org/officeDocument/2006/relationships/image" Target="../media/image10.jp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www.itu.int/en/ITU-T/focusgroups/tida/Pages/ToR.aspx"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tida.community" TargetMode="External"/><Relationship Id="rId5" Type="http://schemas.openxmlformats.org/officeDocument/2006/relationships/hyperlink" Target="https://www.itu.int/en/ITU-T/focusgroups/tida/Pages/default.aspx" TargetMode="Externa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gisec.ae/"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67314-3688-B3A5-6652-B011C8A5ADE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87B9139-E6DB-AAB8-6936-82D803A57264}"/>
              </a:ext>
            </a:extLst>
          </p:cNvPr>
          <p:cNvSpPr/>
          <p:nvPr/>
        </p:nvSpPr>
        <p:spPr>
          <a:xfrm>
            <a:off x="0" y="-35169"/>
            <a:ext cx="12192000" cy="3621032"/>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A6CCEB54-71A6-27BE-D631-346C836DF926}"/>
              </a:ext>
            </a:extLst>
          </p:cNvPr>
          <p:cNvSpPr>
            <a:spLocks noGrp="1"/>
          </p:cNvSpPr>
          <p:nvPr>
            <p:ph type="ctrTitle"/>
          </p:nvPr>
        </p:nvSpPr>
        <p:spPr>
          <a:xfrm>
            <a:off x="1524000" y="581547"/>
            <a:ext cx="9144000" cy="2387600"/>
          </a:xfrm>
        </p:spPr>
        <p:txBody>
          <a:bodyPr/>
          <a:lstStyle/>
          <a:p>
            <a:r>
              <a:rPr lang="en-GB" noProof="0" dirty="0">
                <a:solidFill>
                  <a:schemeClr val="bg1"/>
                </a:solidFill>
              </a:rPr>
              <a:t>Auto-reporting tools </a:t>
            </a:r>
          </a:p>
        </p:txBody>
      </p:sp>
      <p:pic>
        <p:nvPicPr>
          <p:cNvPr id="5" name="Graphic 4">
            <a:extLst>
              <a:ext uri="{FF2B5EF4-FFF2-40B4-BE49-F238E27FC236}">
                <a16:creationId xmlns:a16="http://schemas.microsoft.com/office/drawing/2014/main" id="{89F5CFE6-F155-2E75-5308-3553512A50C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01467" y="3585863"/>
            <a:ext cx="2789066" cy="3281254"/>
          </a:xfrm>
          <a:prstGeom prst="rect">
            <a:avLst/>
          </a:prstGeom>
        </p:spPr>
      </p:pic>
      <p:pic>
        <p:nvPicPr>
          <p:cNvPr id="8" name="Picture 7">
            <a:extLst>
              <a:ext uri="{FF2B5EF4-FFF2-40B4-BE49-F238E27FC236}">
                <a16:creationId xmlns:a16="http://schemas.microsoft.com/office/drawing/2014/main" id="{8E3ECE8D-7960-85D1-18C1-C36F143DF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73466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AD41E-25A3-12DB-3259-70B661AE252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2A7C3BC-CD5D-7DB2-4ABC-D91FEF400F58}"/>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D8E3F4F8-1963-7D7C-97ED-AFCB14B50306}"/>
              </a:ext>
            </a:extLst>
          </p:cNvPr>
          <p:cNvSpPr>
            <a:spLocks noGrp="1"/>
          </p:cNvSpPr>
          <p:nvPr>
            <p:ph type="title"/>
          </p:nvPr>
        </p:nvSpPr>
        <p:spPr>
          <a:xfrm>
            <a:off x="341085" y="219392"/>
            <a:ext cx="10515600" cy="1325563"/>
          </a:xfrm>
        </p:spPr>
        <p:txBody>
          <a:bodyPr/>
          <a:lstStyle/>
          <a:p>
            <a:r>
              <a:rPr lang="en-US" dirty="0">
                <a:solidFill>
                  <a:schemeClr val="bg1"/>
                </a:solidFill>
              </a:rPr>
              <a:t>Agenda</a:t>
            </a:r>
            <a:endParaRPr lang="en-GB" noProof="0" dirty="0">
              <a:solidFill>
                <a:schemeClr val="bg1"/>
              </a:solidFill>
            </a:endParaRPr>
          </a:p>
        </p:txBody>
      </p:sp>
      <p:pic>
        <p:nvPicPr>
          <p:cNvPr id="13" name="Picture 12">
            <a:extLst>
              <a:ext uri="{FF2B5EF4-FFF2-40B4-BE49-F238E27FC236}">
                <a16:creationId xmlns:a16="http://schemas.microsoft.com/office/drawing/2014/main" id="{B744122D-5091-3C14-4BF7-04AC423C7E0F}"/>
              </a:ext>
            </a:extLst>
          </p:cNvPr>
          <p:cNvPicPr>
            <a:picLocks noChangeAspect="1"/>
          </p:cNvPicPr>
          <p:nvPr/>
        </p:nvPicPr>
        <p:blipFill>
          <a:blip r:embed="rId2"/>
          <a:stretch>
            <a:fillRect/>
          </a:stretch>
        </p:blipFill>
        <p:spPr>
          <a:xfrm>
            <a:off x="9958212" y="107366"/>
            <a:ext cx="2064271" cy="696502"/>
          </a:xfrm>
          <a:prstGeom prst="rect">
            <a:avLst/>
          </a:prstGeom>
        </p:spPr>
      </p:pic>
      <p:sp>
        <p:nvSpPr>
          <p:cNvPr id="15" name="TextBox 14">
            <a:extLst>
              <a:ext uri="{FF2B5EF4-FFF2-40B4-BE49-F238E27FC236}">
                <a16:creationId xmlns:a16="http://schemas.microsoft.com/office/drawing/2014/main" id="{8216A7EC-A3C1-9A40-7642-DACAFDD937DE}"/>
              </a:ext>
            </a:extLst>
          </p:cNvPr>
          <p:cNvSpPr txBox="1"/>
          <p:nvPr/>
        </p:nvSpPr>
        <p:spPr>
          <a:xfrm>
            <a:off x="805543" y="2348943"/>
            <a:ext cx="10961915" cy="2862322"/>
          </a:xfrm>
          <a:prstGeom prst="rect">
            <a:avLst/>
          </a:prstGeom>
          <a:noFill/>
        </p:spPr>
        <p:txBody>
          <a:bodyPr wrap="square">
            <a:spAutoFit/>
          </a:bodyPr>
          <a:lstStyle/>
          <a:p>
            <a:pPr marL="342900" marR="0" lvl="0" indent="-342900">
              <a:buSzPts val="1000"/>
              <a:buFont typeface="Symbol" panose="05050102010706020507" pitchFamily="18" charset="2"/>
              <a:buChar char=""/>
              <a:tabLst>
                <a:tab pos="457200" algn="l"/>
              </a:tabLst>
            </a:pPr>
            <a:r>
              <a:rPr lang="en-US" sz="2000" dirty="0">
                <a:solidFill>
                  <a:srgbClr val="000000"/>
                </a:solidFill>
                <a:effectLst/>
                <a:latin typeface="Aptos" panose="020B0004020202020204" pitchFamily="34" charset="0"/>
                <a:ea typeface="SimSun" panose="02010600030101010101" pitchFamily="2" charset="-122"/>
                <a:cs typeface="SimSun" panose="02010600030101010101" pitchFamily="2" charset="-122"/>
              </a:rPr>
              <a:t>Opening remarks and </a:t>
            </a:r>
            <a:r>
              <a:rPr lang="en-US" sz="2000" b="1" dirty="0">
                <a:solidFill>
                  <a:srgbClr val="000000"/>
                </a:solidFill>
                <a:effectLst/>
                <a:latin typeface="Aptos" panose="020B0004020202020204" pitchFamily="34" charset="0"/>
                <a:ea typeface="SimSun" panose="02010600030101010101" pitchFamily="2" charset="-122"/>
                <a:cs typeface="SimSun" panose="02010600030101010101" pitchFamily="2" charset="-122"/>
              </a:rPr>
              <a:t>agenda adoption</a:t>
            </a:r>
            <a:r>
              <a:rPr lang="en-US" sz="2000" dirty="0">
                <a:solidFill>
                  <a:srgbClr val="000000"/>
                </a:solidFill>
                <a:effectLst/>
                <a:latin typeface="Aptos" panose="020B0004020202020204" pitchFamily="34" charset="0"/>
                <a:ea typeface="SimSun" panose="02010600030101010101" pitchFamily="2" charset="-122"/>
                <a:cs typeface="SimSun" panose="02010600030101010101" pitchFamily="2" charset="-122"/>
              </a:rPr>
              <a:t>;</a:t>
            </a:r>
            <a:endParaRPr lang="en-US" sz="2000" dirty="0">
              <a:solidFill>
                <a:srgbClr val="000000"/>
              </a:solidFill>
              <a:effectLst/>
              <a:latin typeface="SimSun" panose="02010600030101010101" pitchFamily="2" charset="-122"/>
              <a:ea typeface="SimSun" panose="02010600030101010101" pitchFamily="2" charset="-122"/>
              <a:cs typeface="SimSun" panose="02010600030101010101" pitchFamily="2" charset="-122"/>
            </a:endParaRPr>
          </a:p>
          <a:p>
            <a:pPr marL="342900" marR="0" lvl="0" indent="-342900">
              <a:buSzPts val="1000"/>
              <a:buFont typeface="Symbol" panose="05050102010706020507" pitchFamily="18" charset="2"/>
              <a:buChar char=""/>
              <a:tabLst>
                <a:tab pos="457200" algn="l"/>
              </a:tabLst>
            </a:pPr>
            <a:r>
              <a:rPr lang="en-US" sz="2000" b="1" dirty="0">
                <a:solidFill>
                  <a:srgbClr val="000000"/>
                </a:solidFill>
                <a:effectLst/>
                <a:latin typeface="Aptos" panose="020B0004020202020204" pitchFamily="34" charset="0"/>
                <a:ea typeface="SimSun" panose="02010600030101010101" pitchFamily="2" charset="-122"/>
                <a:cs typeface="SimSun" panose="02010600030101010101" pitchFamily="2" charset="-122"/>
              </a:rPr>
              <a:t>What happened so far</a:t>
            </a:r>
            <a:r>
              <a:rPr lang="en-US" sz="2000" dirty="0">
                <a:solidFill>
                  <a:srgbClr val="000000"/>
                </a:solidFill>
                <a:effectLst/>
                <a:latin typeface="Aptos" panose="020B0004020202020204" pitchFamily="34" charset="0"/>
                <a:ea typeface="SimSun" panose="02010600030101010101" pitchFamily="2" charset="-122"/>
                <a:cs typeface="SimSun" panose="02010600030101010101" pitchFamily="2" charset="-122"/>
              </a:rPr>
              <a:t>: establishment of the Focus Group, Terms of Reference, launch;</a:t>
            </a:r>
            <a:endParaRPr lang="en-US" sz="2000" dirty="0">
              <a:solidFill>
                <a:srgbClr val="000000"/>
              </a:solidFill>
              <a:effectLst/>
              <a:latin typeface="SimSun" panose="02010600030101010101" pitchFamily="2" charset="-122"/>
              <a:ea typeface="SimSun" panose="02010600030101010101" pitchFamily="2" charset="-122"/>
              <a:cs typeface="SimSun" panose="02010600030101010101" pitchFamily="2" charset="-122"/>
            </a:endParaRPr>
          </a:p>
          <a:p>
            <a:pPr marL="342900" marR="0" lvl="0" indent="-342900">
              <a:buSzPts val="1000"/>
              <a:buFont typeface="Symbol" panose="05050102010706020507" pitchFamily="18" charset="2"/>
              <a:buChar char=""/>
              <a:tabLst>
                <a:tab pos="457200" algn="l"/>
              </a:tabLst>
            </a:pPr>
            <a:r>
              <a:rPr lang="en-US" sz="2000" b="1" dirty="0">
                <a:solidFill>
                  <a:srgbClr val="000000"/>
                </a:solidFill>
                <a:effectLst/>
                <a:latin typeface="Aptos" panose="020B0004020202020204" pitchFamily="34" charset="0"/>
                <a:ea typeface="SimSun" panose="02010600030101010101" pitchFamily="2" charset="-122"/>
                <a:cs typeface="SimSun" panose="02010600030101010101" pitchFamily="2" charset="-122"/>
              </a:rPr>
              <a:t>What is happening next</a:t>
            </a:r>
            <a:r>
              <a:rPr lang="en-US" sz="2000" dirty="0">
                <a:solidFill>
                  <a:srgbClr val="000000"/>
                </a:solidFill>
                <a:effectLst/>
                <a:latin typeface="Aptos" panose="020B0004020202020204" pitchFamily="34" charset="0"/>
                <a:ea typeface="SimSun" panose="02010600030101010101" pitchFamily="2" charset="-122"/>
                <a:cs typeface="SimSun" panose="02010600030101010101" pitchFamily="2" charset="-122"/>
              </a:rPr>
              <a:t>, and the objective for the first meeting (Paris, 1–4 December);</a:t>
            </a:r>
            <a:endParaRPr lang="en-US" sz="2000" dirty="0">
              <a:solidFill>
                <a:srgbClr val="000000"/>
              </a:solidFill>
              <a:effectLst/>
              <a:latin typeface="SimSun" panose="02010600030101010101" pitchFamily="2" charset="-122"/>
              <a:ea typeface="SimSun" panose="02010600030101010101" pitchFamily="2" charset="-122"/>
              <a:cs typeface="SimSun" panose="02010600030101010101" pitchFamily="2" charset="-122"/>
            </a:endParaRPr>
          </a:p>
          <a:p>
            <a:pPr marL="342900" marR="0" lvl="0" indent="-342900">
              <a:buSzPts val="1000"/>
              <a:buFont typeface="Symbol" panose="05050102010706020507" pitchFamily="18" charset="2"/>
              <a:buChar char=""/>
              <a:tabLst>
                <a:tab pos="457200" algn="l"/>
              </a:tabLst>
            </a:pPr>
            <a:r>
              <a:rPr lang="en-US" sz="2000" b="1" dirty="0">
                <a:solidFill>
                  <a:srgbClr val="000000"/>
                </a:solidFill>
                <a:effectLst/>
                <a:latin typeface="Aptos" panose="020B0004020202020204" pitchFamily="34" charset="0"/>
                <a:ea typeface="SimSun" panose="02010600030101010101" pitchFamily="2" charset="-122"/>
                <a:cs typeface="SimSun" panose="02010600030101010101" pitchFamily="2" charset="-122"/>
              </a:rPr>
              <a:t>Open discussion on initial deliverables </a:t>
            </a:r>
            <a:r>
              <a:rPr lang="en-US" sz="2000" dirty="0">
                <a:solidFill>
                  <a:srgbClr val="000000"/>
                </a:solidFill>
                <a:effectLst/>
                <a:latin typeface="Aptos" panose="020B0004020202020204" pitchFamily="34" charset="0"/>
                <a:ea typeface="SimSun" panose="02010600030101010101" pitchFamily="2" charset="-122"/>
                <a:cs typeface="SimSun" panose="02010600030101010101" pitchFamily="2" charset="-122"/>
              </a:rPr>
              <a:t>from the Terms of Reference annex and from ad-hoc discussions, IETF meetings, etc.;</a:t>
            </a:r>
            <a:endParaRPr lang="en-US" sz="2000" dirty="0">
              <a:solidFill>
                <a:srgbClr val="000000"/>
              </a:solidFill>
              <a:effectLst/>
              <a:latin typeface="SimSun" panose="02010600030101010101" pitchFamily="2" charset="-122"/>
              <a:ea typeface="SimSun" panose="02010600030101010101" pitchFamily="2" charset="-122"/>
              <a:cs typeface="SimSun" panose="02010600030101010101" pitchFamily="2" charset="-122"/>
            </a:endParaRPr>
          </a:p>
          <a:p>
            <a:pPr marL="342900" marR="0" lvl="0" indent="-342900">
              <a:buSzPts val="1000"/>
              <a:buFont typeface="Symbol" panose="05050102010706020507" pitchFamily="18" charset="2"/>
              <a:buChar char=""/>
              <a:tabLst>
                <a:tab pos="457200" algn="l"/>
              </a:tabLst>
            </a:pPr>
            <a:r>
              <a:rPr lang="en-US" sz="2000" b="1" dirty="0">
                <a:solidFill>
                  <a:srgbClr val="000000"/>
                </a:solidFill>
                <a:effectLst/>
                <a:latin typeface="Aptos" panose="020B0004020202020204" pitchFamily="34" charset="0"/>
                <a:ea typeface="SimSun" panose="02010600030101010101" pitchFamily="2" charset="-122"/>
                <a:cs typeface="SimSun" panose="02010600030101010101" pitchFamily="2" charset="-122"/>
              </a:rPr>
              <a:t>Working Group structure </a:t>
            </a:r>
            <a:r>
              <a:rPr lang="en-US" sz="2000" dirty="0">
                <a:solidFill>
                  <a:srgbClr val="000000"/>
                </a:solidFill>
                <a:effectLst/>
                <a:latin typeface="Aptos" panose="020B0004020202020204" pitchFamily="34" charset="0"/>
                <a:ea typeface="SimSun" panose="02010600030101010101" pitchFamily="2" charset="-122"/>
                <a:cs typeface="SimSun" panose="02010600030101010101" pitchFamily="2" charset="-122"/>
              </a:rPr>
              <a:t>and organization;</a:t>
            </a:r>
            <a:endParaRPr lang="en-US" sz="2000" dirty="0">
              <a:solidFill>
                <a:srgbClr val="000000"/>
              </a:solidFill>
              <a:effectLst/>
              <a:latin typeface="SimSun" panose="02010600030101010101" pitchFamily="2" charset="-122"/>
              <a:ea typeface="SimSun" panose="02010600030101010101" pitchFamily="2" charset="-122"/>
              <a:cs typeface="SimSun" panose="02010600030101010101" pitchFamily="2" charset="-122"/>
            </a:endParaRPr>
          </a:p>
          <a:p>
            <a:pPr marL="342900" marR="0" lvl="0" indent="-342900">
              <a:buSzPts val="1000"/>
              <a:buFont typeface="Symbol" panose="05050102010706020507" pitchFamily="18" charset="2"/>
              <a:buChar char=""/>
              <a:tabLst>
                <a:tab pos="457200" algn="l"/>
              </a:tabLst>
            </a:pPr>
            <a:r>
              <a:rPr lang="en-US" sz="2000" b="1" dirty="0">
                <a:solidFill>
                  <a:srgbClr val="000000"/>
                </a:solidFill>
                <a:effectLst/>
                <a:latin typeface="Aptos" panose="020B0004020202020204" pitchFamily="34" charset="0"/>
                <a:ea typeface="SimSun" panose="02010600030101010101" pitchFamily="2" charset="-122"/>
                <a:cs typeface="SimSun" panose="02010600030101010101" pitchFamily="2" charset="-122"/>
              </a:rPr>
              <a:t>Tools</a:t>
            </a:r>
            <a:r>
              <a:rPr lang="en-US" sz="2000" dirty="0">
                <a:solidFill>
                  <a:srgbClr val="000000"/>
                </a:solidFill>
                <a:effectLst/>
                <a:latin typeface="Aptos" panose="020B0004020202020204" pitchFamily="34" charset="0"/>
                <a:ea typeface="SimSun" panose="02010600030101010101" pitchFamily="2" charset="-122"/>
                <a:cs typeface="SimSun" panose="02010600030101010101" pitchFamily="2" charset="-122"/>
              </a:rPr>
              <a:t> and working methods;</a:t>
            </a:r>
            <a:endParaRPr lang="en-US" sz="2000" dirty="0">
              <a:solidFill>
                <a:srgbClr val="000000"/>
              </a:solidFill>
              <a:effectLst/>
              <a:latin typeface="SimSun" panose="02010600030101010101" pitchFamily="2" charset="-122"/>
              <a:ea typeface="SimSun" panose="02010600030101010101" pitchFamily="2" charset="-122"/>
              <a:cs typeface="SimSun" panose="02010600030101010101" pitchFamily="2" charset="-122"/>
            </a:endParaRPr>
          </a:p>
          <a:p>
            <a:pPr marL="342900" marR="0" lvl="0" indent="-342900">
              <a:buSzPts val="1000"/>
              <a:buFont typeface="Symbol" panose="05050102010706020507" pitchFamily="18" charset="2"/>
              <a:buChar char=""/>
              <a:tabLst>
                <a:tab pos="457200" algn="l"/>
              </a:tabLst>
            </a:pPr>
            <a:r>
              <a:rPr lang="en-US" sz="2000" b="1" dirty="0">
                <a:solidFill>
                  <a:srgbClr val="000000"/>
                </a:solidFill>
                <a:effectLst/>
                <a:latin typeface="Aptos" panose="020B0004020202020204" pitchFamily="34" charset="0"/>
                <a:ea typeface="SimSun" panose="02010600030101010101" pitchFamily="2" charset="-122"/>
                <a:cs typeface="SimSun" panose="02010600030101010101" pitchFamily="2" charset="-122"/>
              </a:rPr>
              <a:t>Next milestones</a:t>
            </a:r>
            <a:r>
              <a:rPr lang="en-US" sz="2000" dirty="0">
                <a:solidFill>
                  <a:srgbClr val="000000"/>
                </a:solidFill>
                <a:effectLst/>
                <a:latin typeface="Aptos" panose="020B0004020202020204" pitchFamily="34" charset="0"/>
                <a:ea typeface="SimSun" panose="02010600030101010101" pitchFamily="2" charset="-122"/>
                <a:cs typeface="SimSun" panose="02010600030101010101" pitchFamily="2" charset="-122"/>
              </a:rPr>
              <a:t>, next meetings and proposed cadence;</a:t>
            </a:r>
            <a:endParaRPr lang="en-US" sz="2000" dirty="0">
              <a:solidFill>
                <a:srgbClr val="000000"/>
              </a:solidFill>
              <a:effectLst/>
              <a:latin typeface="SimSun" panose="02010600030101010101" pitchFamily="2" charset="-122"/>
              <a:ea typeface="SimSun" panose="02010600030101010101" pitchFamily="2" charset="-122"/>
              <a:cs typeface="SimSun" panose="02010600030101010101" pitchFamily="2" charset="-122"/>
            </a:endParaRPr>
          </a:p>
          <a:p>
            <a:pPr marL="342900" marR="0" lvl="0" indent="-342900">
              <a:buSzPts val="1000"/>
              <a:buFont typeface="Symbol" panose="05050102010706020507" pitchFamily="18" charset="2"/>
              <a:buChar char=""/>
              <a:tabLst>
                <a:tab pos="457200" algn="l"/>
              </a:tabLst>
            </a:pPr>
            <a:r>
              <a:rPr lang="en-US" sz="2000" dirty="0">
                <a:solidFill>
                  <a:srgbClr val="000000"/>
                </a:solidFill>
                <a:effectLst/>
                <a:latin typeface="Aptos" panose="020B0004020202020204" pitchFamily="34" charset="0"/>
                <a:ea typeface="SimSun" panose="02010600030101010101" pitchFamily="2" charset="-122"/>
                <a:cs typeface="SimSun" panose="02010600030101010101" pitchFamily="2" charset="-122"/>
              </a:rPr>
              <a:t>AOB and agreement on next steps.</a:t>
            </a:r>
            <a:endParaRPr lang="en-US" sz="2000" dirty="0">
              <a:solidFill>
                <a:srgbClr val="000000"/>
              </a:solidFill>
              <a:effectLst/>
              <a:latin typeface="SimSun" panose="02010600030101010101" pitchFamily="2" charset="-122"/>
              <a:ea typeface="SimSun" panose="02010600030101010101" pitchFamily="2" charset="-122"/>
              <a:cs typeface="SimSun" panose="02010600030101010101" pitchFamily="2" charset="-122"/>
            </a:endParaRPr>
          </a:p>
        </p:txBody>
      </p:sp>
    </p:spTree>
    <p:extLst>
      <p:ext uri="{BB962C8B-B14F-4D97-AF65-F5344CB8AC3E}">
        <p14:creationId xmlns:p14="http://schemas.microsoft.com/office/powerpoint/2010/main" val="4265614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AF8F0-2415-9D41-9323-FA97F02B51B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3E4F5F6-8F6F-024F-1719-97FE29808874}"/>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F0110497-4BC2-A4D5-BA77-1C696F024B1B}"/>
              </a:ext>
            </a:extLst>
          </p:cNvPr>
          <p:cNvSpPr>
            <a:spLocks noGrp="1"/>
          </p:cNvSpPr>
          <p:nvPr>
            <p:ph type="title"/>
          </p:nvPr>
        </p:nvSpPr>
        <p:spPr>
          <a:xfrm>
            <a:off x="341085" y="219392"/>
            <a:ext cx="10515600" cy="1325563"/>
          </a:xfrm>
        </p:spPr>
        <p:txBody>
          <a:bodyPr/>
          <a:lstStyle/>
          <a:p>
            <a:r>
              <a:rPr lang="en-US" dirty="0">
                <a:solidFill>
                  <a:schemeClr val="bg1"/>
                </a:solidFill>
              </a:rPr>
              <a:t>THANK YOU!!</a:t>
            </a:r>
            <a:endParaRPr lang="en-GB" noProof="0" dirty="0">
              <a:solidFill>
                <a:schemeClr val="bg1"/>
              </a:solidFill>
            </a:endParaRPr>
          </a:p>
        </p:txBody>
      </p:sp>
      <p:pic>
        <p:nvPicPr>
          <p:cNvPr id="13" name="Picture 12">
            <a:extLst>
              <a:ext uri="{FF2B5EF4-FFF2-40B4-BE49-F238E27FC236}">
                <a16:creationId xmlns:a16="http://schemas.microsoft.com/office/drawing/2014/main" id="{40DFAA85-0955-83B7-DBF1-6DEBF59F5E94}"/>
              </a:ext>
            </a:extLst>
          </p:cNvPr>
          <p:cNvPicPr>
            <a:picLocks noChangeAspect="1"/>
          </p:cNvPicPr>
          <p:nvPr/>
        </p:nvPicPr>
        <p:blipFill>
          <a:blip r:embed="rId2"/>
          <a:stretch>
            <a:fillRect/>
          </a:stretch>
        </p:blipFill>
        <p:spPr>
          <a:xfrm>
            <a:off x="9958212" y="107366"/>
            <a:ext cx="2064271" cy="696502"/>
          </a:xfrm>
          <a:prstGeom prst="rect">
            <a:avLst/>
          </a:prstGeom>
        </p:spPr>
      </p:pic>
      <p:pic>
        <p:nvPicPr>
          <p:cNvPr id="3" name="Picture 2">
            <a:extLst>
              <a:ext uri="{FF2B5EF4-FFF2-40B4-BE49-F238E27FC236}">
                <a16:creationId xmlns:a16="http://schemas.microsoft.com/office/drawing/2014/main" id="{165F168B-7C4E-2514-B1A9-D628987452AE}"/>
              </a:ext>
            </a:extLst>
          </p:cNvPr>
          <p:cNvPicPr>
            <a:picLocks noChangeAspect="1"/>
          </p:cNvPicPr>
          <p:nvPr/>
        </p:nvPicPr>
        <p:blipFill>
          <a:blip r:embed="rId3"/>
          <a:stretch>
            <a:fillRect/>
          </a:stretch>
        </p:blipFill>
        <p:spPr>
          <a:xfrm>
            <a:off x="272869" y="1529871"/>
            <a:ext cx="3810000" cy="2543175"/>
          </a:xfrm>
          <a:prstGeom prst="rect">
            <a:avLst/>
          </a:prstGeom>
        </p:spPr>
      </p:pic>
      <p:pic>
        <p:nvPicPr>
          <p:cNvPr id="5" name="Picture 4">
            <a:extLst>
              <a:ext uri="{FF2B5EF4-FFF2-40B4-BE49-F238E27FC236}">
                <a16:creationId xmlns:a16="http://schemas.microsoft.com/office/drawing/2014/main" id="{32532C2F-AF9F-34AE-8117-C474232EB3CD}"/>
              </a:ext>
            </a:extLst>
          </p:cNvPr>
          <p:cNvPicPr>
            <a:picLocks noChangeAspect="1"/>
          </p:cNvPicPr>
          <p:nvPr/>
        </p:nvPicPr>
        <p:blipFill>
          <a:blip r:embed="rId4"/>
          <a:stretch>
            <a:fillRect/>
          </a:stretch>
        </p:blipFill>
        <p:spPr>
          <a:xfrm>
            <a:off x="4109564" y="4297037"/>
            <a:ext cx="3810000" cy="2038350"/>
          </a:xfrm>
          <a:prstGeom prst="rect">
            <a:avLst/>
          </a:prstGeom>
        </p:spPr>
      </p:pic>
      <p:pic>
        <p:nvPicPr>
          <p:cNvPr id="8" name="Picture 7">
            <a:extLst>
              <a:ext uri="{FF2B5EF4-FFF2-40B4-BE49-F238E27FC236}">
                <a16:creationId xmlns:a16="http://schemas.microsoft.com/office/drawing/2014/main" id="{51D1772B-7EFB-423D-98E8-11E674215F6D}"/>
              </a:ext>
            </a:extLst>
          </p:cNvPr>
          <p:cNvPicPr>
            <a:picLocks noChangeAspect="1"/>
          </p:cNvPicPr>
          <p:nvPr/>
        </p:nvPicPr>
        <p:blipFill>
          <a:blip r:embed="rId5"/>
          <a:stretch>
            <a:fillRect/>
          </a:stretch>
        </p:blipFill>
        <p:spPr>
          <a:xfrm>
            <a:off x="8098411" y="5063799"/>
            <a:ext cx="3810000" cy="2080222"/>
          </a:xfrm>
          <a:prstGeom prst="rect">
            <a:avLst/>
          </a:prstGeom>
        </p:spPr>
      </p:pic>
      <p:pic>
        <p:nvPicPr>
          <p:cNvPr id="11" name="Picture 10">
            <a:extLst>
              <a:ext uri="{FF2B5EF4-FFF2-40B4-BE49-F238E27FC236}">
                <a16:creationId xmlns:a16="http://schemas.microsoft.com/office/drawing/2014/main" id="{95943317-E6F4-2ED9-D20B-584CEFF22F9D}"/>
              </a:ext>
            </a:extLst>
          </p:cNvPr>
          <p:cNvPicPr>
            <a:picLocks noChangeAspect="1"/>
          </p:cNvPicPr>
          <p:nvPr/>
        </p:nvPicPr>
        <p:blipFill>
          <a:blip r:embed="rId6"/>
          <a:stretch>
            <a:fillRect/>
          </a:stretch>
        </p:blipFill>
        <p:spPr>
          <a:xfrm>
            <a:off x="3354295" y="1277536"/>
            <a:ext cx="4666419" cy="2414872"/>
          </a:xfrm>
          <a:prstGeom prst="rect">
            <a:avLst/>
          </a:prstGeom>
        </p:spPr>
      </p:pic>
      <p:pic>
        <p:nvPicPr>
          <p:cNvPr id="14" name="Picture 13">
            <a:extLst>
              <a:ext uri="{FF2B5EF4-FFF2-40B4-BE49-F238E27FC236}">
                <a16:creationId xmlns:a16="http://schemas.microsoft.com/office/drawing/2014/main" id="{EA95CFC6-0C44-18F4-4447-8AE9776AC0A8}"/>
              </a:ext>
            </a:extLst>
          </p:cNvPr>
          <p:cNvPicPr>
            <a:picLocks noChangeAspect="1"/>
          </p:cNvPicPr>
          <p:nvPr/>
        </p:nvPicPr>
        <p:blipFill>
          <a:blip r:embed="rId7"/>
          <a:stretch>
            <a:fillRect/>
          </a:stretch>
        </p:blipFill>
        <p:spPr>
          <a:xfrm>
            <a:off x="8098411" y="2483167"/>
            <a:ext cx="3810000" cy="2543175"/>
          </a:xfrm>
          <a:prstGeom prst="rect">
            <a:avLst/>
          </a:prstGeom>
        </p:spPr>
      </p:pic>
      <p:pic>
        <p:nvPicPr>
          <p:cNvPr id="17" name="Picture 16">
            <a:extLst>
              <a:ext uri="{FF2B5EF4-FFF2-40B4-BE49-F238E27FC236}">
                <a16:creationId xmlns:a16="http://schemas.microsoft.com/office/drawing/2014/main" id="{43A33769-E59A-FD9B-6C87-45BE3B103C5A}"/>
              </a:ext>
            </a:extLst>
          </p:cNvPr>
          <p:cNvPicPr>
            <a:picLocks noChangeAspect="1"/>
          </p:cNvPicPr>
          <p:nvPr/>
        </p:nvPicPr>
        <p:blipFill>
          <a:blip r:embed="rId8"/>
          <a:stretch>
            <a:fillRect/>
          </a:stretch>
        </p:blipFill>
        <p:spPr>
          <a:xfrm>
            <a:off x="169517" y="4453684"/>
            <a:ext cx="3810000" cy="2543175"/>
          </a:xfrm>
          <a:prstGeom prst="rect">
            <a:avLst/>
          </a:prstGeom>
        </p:spPr>
      </p:pic>
      <p:pic>
        <p:nvPicPr>
          <p:cNvPr id="19" name="Picture 18">
            <a:extLst>
              <a:ext uri="{FF2B5EF4-FFF2-40B4-BE49-F238E27FC236}">
                <a16:creationId xmlns:a16="http://schemas.microsoft.com/office/drawing/2014/main" id="{1AF21E30-ECE0-F87A-F848-5C3BC413E003}"/>
              </a:ext>
            </a:extLst>
          </p:cNvPr>
          <p:cNvPicPr>
            <a:picLocks noChangeAspect="1"/>
          </p:cNvPicPr>
          <p:nvPr/>
        </p:nvPicPr>
        <p:blipFill>
          <a:blip r:embed="rId9"/>
          <a:stretch>
            <a:fillRect/>
          </a:stretch>
        </p:blipFill>
        <p:spPr>
          <a:xfrm>
            <a:off x="8225636" y="867255"/>
            <a:ext cx="3800475" cy="1876425"/>
          </a:xfrm>
          <a:prstGeom prst="rect">
            <a:avLst/>
          </a:prstGeom>
        </p:spPr>
      </p:pic>
      <p:sp>
        <p:nvSpPr>
          <p:cNvPr id="21" name="PageNum">
            <a:extLst>
              <a:ext uri="{FF2B5EF4-FFF2-40B4-BE49-F238E27FC236}">
                <a16:creationId xmlns:a16="http://schemas.microsoft.com/office/drawing/2014/main" id="{96400ECB-5537-1907-D8F3-64EFD21EC94E}"/>
              </a:ext>
            </a:extLst>
          </p:cNvPr>
          <p:cNvSpPr/>
          <p:nvPr/>
        </p:nvSpPr>
        <p:spPr>
          <a:xfrm>
            <a:off x="11544640" y="6817461"/>
            <a:ext cx="500000" cy="300000"/>
          </a:xfrm>
          <a:prstGeom prst="rect">
            <a:avLst/>
          </a:prstGeom>
          <a:noFill/>
          <a:ln>
            <a:noFill/>
          </a:ln>
        </p:spPr>
        <p:txBody>
          <a:bodyPr/>
          <a:lstStyle/>
          <a:p>
            <a:pPr algn="r"/>
            <a:r>
              <a:rPr lang="en-US" sz="900" dirty="0">
                <a:solidFill>
                  <a:srgbClr val="6B7785"/>
                </a:solidFill>
              </a:rPr>
              <a:t>17</a:t>
            </a:r>
          </a:p>
        </p:txBody>
      </p:sp>
    </p:spTree>
    <p:extLst>
      <p:ext uri="{BB962C8B-B14F-4D97-AF65-F5344CB8AC3E}">
        <p14:creationId xmlns:p14="http://schemas.microsoft.com/office/powerpoint/2010/main" val="2053462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AF648-A011-A91E-765D-C3F0C5E9F0E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BD3D649-5913-85FE-7ED2-867234B4F620}"/>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4DD0BD25-BD1D-BF18-69B2-A8AEFACF4CB6}"/>
              </a:ext>
            </a:extLst>
          </p:cNvPr>
          <p:cNvSpPr>
            <a:spLocks noGrp="1"/>
          </p:cNvSpPr>
          <p:nvPr>
            <p:ph type="title"/>
          </p:nvPr>
        </p:nvSpPr>
        <p:spPr>
          <a:xfrm>
            <a:off x="341085" y="219392"/>
            <a:ext cx="10515600" cy="1325563"/>
          </a:xfrm>
        </p:spPr>
        <p:txBody>
          <a:bodyPr/>
          <a:lstStyle/>
          <a:p>
            <a:r>
              <a:rPr lang="en-US" dirty="0">
                <a:solidFill>
                  <a:schemeClr val="bg1"/>
                </a:solidFill>
              </a:rPr>
              <a:t>4 Workshops led us to today</a:t>
            </a:r>
            <a:endParaRPr lang="en-GB" noProof="0" dirty="0">
              <a:solidFill>
                <a:schemeClr val="bg1"/>
              </a:solidFill>
            </a:endParaRPr>
          </a:p>
        </p:txBody>
      </p:sp>
      <p:pic>
        <p:nvPicPr>
          <p:cNvPr id="13" name="Picture 12">
            <a:extLst>
              <a:ext uri="{FF2B5EF4-FFF2-40B4-BE49-F238E27FC236}">
                <a16:creationId xmlns:a16="http://schemas.microsoft.com/office/drawing/2014/main" id="{9A4DE7B4-8970-E273-FF4B-08EFFB8F2F7E}"/>
              </a:ext>
            </a:extLst>
          </p:cNvPr>
          <p:cNvPicPr>
            <a:picLocks noChangeAspect="1"/>
          </p:cNvPicPr>
          <p:nvPr/>
        </p:nvPicPr>
        <p:blipFill>
          <a:blip r:embed="rId2"/>
          <a:stretch>
            <a:fillRect/>
          </a:stretch>
        </p:blipFill>
        <p:spPr>
          <a:xfrm>
            <a:off x="9958212" y="107366"/>
            <a:ext cx="2064271" cy="696502"/>
          </a:xfrm>
          <a:prstGeom prst="rect">
            <a:avLst/>
          </a:prstGeom>
        </p:spPr>
      </p:pic>
      <p:sp>
        <p:nvSpPr>
          <p:cNvPr id="5" name="Rounded Rectangle 6">
            <a:extLst>
              <a:ext uri="{FF2B5EF4-FFF2-40B4-BE49-F238E27FC236}">
                <a16:creationId xmlns:a16="http://schemas.microsoft.com/office/drawing/2014/main" id="{BDD9F232-8B8E-8D3B-64E8-9215A1792885}"/>
              </a:ext>
            </a:extLst>
          </p:cNvPr>
          <p:cNvSpPr/>
          <p:nvPr/>
        </p:nvSpPr>
        <p:spPr>
          <a:xfrm>
            <a:off x="7044809" y="4289563"/>
            <a:ext cx="3749039" cy="2497221"/>
          </a:xfrm>
          <a:prstGeom prst="roundRect">
            <a:avLst>
              <a:gd name="adj" fmla="val 6000"/>
            </a:avLst>
          </a:prstGeom>
          <a:solidFill>
            <a:srgbClr val="E9EEF7"/>
          </a:solidFill>
          <a:ln w="762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4D54291E-238C-9FA2-F34A-9F608E0930B0}"/>
              </a:ext>
            </a:extLst>
          </p:cNvPr>
          <p:cNvSpPr/>
          <p:nvPr/>
        </p:nvSpPr>
        <p:spPr>
          <a:xfrm>
            <a:off x="7044809" y="4289563"/>
            <a:ext cx="3749039" cy="365760"/>
          </a:xfrm>
          <a:prstGeom prst="rect">
            <a:avLst/>
          </a:prstGeom>
          <a:solidFill>
            <a:srgbClr val="E8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BF1909F6-4449-5F88-38BC-7E0AFA1AD53A}"/>
              </a:ext>
            </a:extLst>
          </p:cNvPr>
          <p:cNvSpPr txBox="1"/>
          <p:nvPr/>
        </p:nvSpPr>
        <p:spPr>
          <a:xfrm>
            <a:off x="7044809" y="4330866"/>
            <a:ext cx="3749039" cy="283154"/>
          </a:xfrm>
          <a:prstGeom prst="rect">
            <a:avLst/>
          </a:prstGeom>
          <a:noFill/>
        </p:spPr>
        <p:txBody>
          <a:bodyPr wrap="square" lIns="36576" tIns="18288" rIns="36576" bIns="18288" anchor="ctr">
            <a:spAutoFit/>
          </a:bodyPr>
          <a:lstStyle/>
          <a:p>
            <a:pPr algn="ctr"/>
            <a:r>
              <a:rPr lang="en-US" sz="1600" b="1" dirty="0">
                <a:solidFill>
                  <a:srgbClr val="FFFFFF"/>
                </a:solidFill>
                <a:latin typeface="Calibri"/>
              </a:rPr>
              <a:t>9</a:t>
            </a:r>
            <a:r>
              <a:rPr lang="en-US" sz="1600" b="1" i="0" dirty="0">
                <a:solidFill>
                  <a:srgbClr val="FFFFFF"/>
                </a:solidFill>
                <a:latin typeface="Calibri"/>
              </a:rPr>
              <a:t> Jul</a:t>
            </a:r>
            <a:r>
              <a:rPr sz="1600" b="1" i="0" dirty="0">
                <a:solidFill>
                  <a:srgbClr val="FFFFFF"/>
                </a:solidFill>
                <a:latin typeface="Calibri"/>
              </a:rPr>
              <a:t> 2026</a:t>
            </a:r>
          </a:p>
        </p:txBody>
      </p:sp>
      <p:sp>
        <p:nvSpPr>
          <p:cNvPr id="14" name="TextBox 13">
            <a:extLst>
              <a:ext uri="{FF2B5EF4-FFF2-40B4-BE49-F238E27FC236}">
                <a16:creationId xmlns:a16="http://schemas.microsoft.com/office/drawing/2014/main" id="{E159E019-6170-63C8-A8D7-E9EB12FB642D}"/>
              </a:ext>
            </a:extLst>
          </p:cNvPr>
          <p:cNvSpPr txBox="1"/>
          <p:nvPr/>
        </p:nvSpPr>
        <p:spPr>
          <a:xfrm>
            <a:off x="7181969" y="4782759"/>
            <a:ext cx="3474720" cy="529376"/>
          </a:xfrm>
          <a:prstGeom prst="rect">
            <a:avLst/>
          </a:prstGeom>
          <a:noFill/>
        </p:spPr>
        <p:txBody>
          <a:bodyPr wrap="square" lIns="36576" tIns="18288" rIns="36576" bIns="18288" anchor="t">
            <a:spAutoFit/>
          </a:bodyPr>
          <a:lstStyle/>
          <a:p>
            <a:r>
              <a:rPr lang="en-US" sz="1600" b="1" i="1" dirty="0">
                <a:solidFill>
                  <a:srgbClr val="13294B"/>
                </a:solidFill>
                <a:latin typeface="Calibri"/>
              </a:rPr>
              <a:t>Designing the trust management for Agentic AI</a:t>
            </a:r>
          </a:p>
        </p:txBody>
      </p:sp>
      <p:sp>
        <p:nvSpPr>
          <p:cNvPr id="17" name="TextBox 16">
            <a:extLst>
              <a:ext uri="{FF2B5EF4-FFF2-40B4-BE49-F238E27FC236}">
                <a16:creationId xmlns:a16="http://schemas.microsoft.com/office/drawing/2014/main" id="{5FC45E5C-AE8D-393B-D136-8CBC0BCA56C8}"/>
              </a:ext>
            </a:extLst>
          </p:cNvPr>
          <p:cNvSpPr txBox="1"/>
          <p:nvPr/>
        </p:nvSpPr>
        <p:spPr>
          <a:xfrm>
            <a:off x="7181969" y="5081175"/>
            <a:ext cx="3674716" cy="2085443"/>
          </a:xfrm>
          <a:prstGeom prst="rect">
            <a:avLst/>
          </a:prstGeom>
          <a:noFill/>
        </p:spPr>
        <p:txBody>
          <a:bodyPr wrap="square" lIns="36576" tIns="18288" rIns="36576" bIns="18288" anchor="t">
            <a:spAutoFit/>
          </a:bodyPr>
          <a:lstStyle/>
          <a:p>
            <a:pPr>
              <a:lnSpc>
                <a:spcPct val="120000"/>
              </a:lnSpc>
            </a:pPr>
            <a:endParaRPr lang="en-US" sz="1600" b="1" i="1" dirty="0">
              <a:solidFill>
                <a:srgbClr val="13294B"/>
              </a:solidFill>
              <a:latin typeface="Calibri"/>
            </a:endParaRPr>
          </a:p>
          <a:p>
            <a:pPr marL="285750" indent="-285750">
              <a:lnSpc>
                <a:spcPct val="120000"/>
              </a:lnSpc>
              <a:buFont typeface="Arial" panose="020B0604020202020204" pitchFamily="34" charset="0"/>
              <a:buChar char="•"/>
            </a:pPr>
            <a:r>
              <a:rPr lang="en-US" sz="1600" b="0" i="0" dirty="0">
                <a:solidFill>
                  <a:srgbClr val="22303C"/>
                </a:solidFill>
                <a:latin typeface="Calibri"/>
              </a:rPr>
              <a:t>Hiroshima Process outcome to embed into standardization/technical req</a:t>
            </a:r>
          </a:p>
          <a:p>
            <a:pPr marL="285750" indent="-285750">
              <a:lnSpc>
                <a:spcPct val="120000"/>
              </a:lnSpc>
              <a:buFont typeface="Arial" panose="020B0604020202020204" pitchFamily="34" charset="0"/>
              <a:buChar char="•"/>
            </a:pPr>
            <a:r>
              <a:rPr lang="en-US" sz="1600" dirty="0">
                <a:solidFill>
                  <a:srgbClr val="22303C"/>
                </a:solidFill>
                <a:latin typeface="Calibri"/>
              </a:rPr>
              <a:t>First elements of trustworthiness for the design of the controls/control planes shared</a:t>
            </a:r>
            <a:endParaRPr lang="en-US" sz="1600" b="0" i="0" dirty="0">
              <a:solidFill>
                <a:srgbClr val="22303C"/>
              </a:solidFill>
              <a:latin typeface="Calibri"/>
            </a:endParaRPr>
          </a:p>
          <a:p>
            <a:pPr marL="285750" indent="-285750">
              <a:lnSpc>
                <a:spcPct val="120000"/>
              </a:lnSpc>
              <a:buFont typeface="Arial" panose="020B0604020202020204" pitchFamily="34" charset="0"/>
              <a:buChar char="•"/>
            </a:pPr>
            <a:endParaRPr lang="en-US" sz="1600" dirty="0">
              <a:solidFill>
                <a:srgbClr val="22303C"/>
              </a:solidFill>
              <a:latin typeface="Calibri"/>
            </a:endParaRPr>
          </a:p>
        </p:txBody>
      </p:sp>
      <p:sp>
        <p:nvSpPr>
          <p:cNvPr id="19" name="Rounded Rectangle 12">
            <a:extLst>
              <a:ext uri="{FF2B5EF4-FFF2-40B4-BE49-F238E27FC236}">
                <a16:creationId xmlns:a16="http://schemas.microsoft.com/office/drawing/2014/main" id="{6DD10788-DBE3-5A08-EB51-6CF407E3EC91}"/>
              </a:ext>
            </a:extLst>
          </p:cNvPr>
          <p:cNvSpPr/>
          <p:nvPr/>
        </p:nvSpPr>
        <p:spPr>
          <a:xfrm>
            <a:off x="6209173" y="1509949"/>
            <a:ext cx="3749039" cy="2497221"/>
          </a:xfrm>
          <a:prstGeom prst="roundRect">
            <a:avLst>
              <a:gd name="adj" fmla="val 6000"/>
            </a:avLst>
          </a:prstGeom>
          <a:solidFill>
            <a:srgbClr val="E9EEF7"/>
          </a:solidFill>
          <a:ln w="762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8BA3FC22-70FE-E083-155F-CD907B76F6A8}"/>
              </a:ext>
            </a:extLst>
          </p:cNvPr>
          <p:cNvSpPr/>
          <p:nvPr/>
        </p:nvSpPr>
        <p:spPr>
          <a:xfrm>
            <a:off x="6209173" y="1509949"/>
            <a:ext cx="3749039" cy="365760"/>
          </a:xfrm>
          <a:prstGeom prst="rect">
            <a:avLst/>
          </a:prstGeom>
          <a:solidFill>
            <a:srgbClr val="7B3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2A0219BE-C6A4-AD4B-1636-94D6B659348D}"/>
              </a:ext>
            </a:extLst>
          </p:cNvPr>
          <p:cNvSpPr txBox="1"/>
          <p:nvPr/>
        </p:nvSpPr>
        <p:spPr>
          <a:xfrm>
            <a:off x="6209173" y="1551252"/>
            <a:ext cx="3749039" cy="283154"/>
          </a:xfrm>
          <a:prstGeom prst="rect">
            <a:avLst/>
          </a:prstGeom>
          <a:noFill/>
        </p:spPr>
        <p:txBody>
          <a:bodyPr wrap="square" lIns="36576" tIns="18288" rIns="36576" bIns="18288" anchor="ctr">
            <a:spAutoFit/>
          </a:bodyPr>
          <a:lstStyle/>
          <a:p>
            <a:pPr algn="ctr"/>
            <a:r>
              <a:rPr sz="1600" b="1" i="0">
                <a:solidFill>
                  <a:srgbClr val="FFFFFF"/>
                </a:solidFill>
                <a:latin typeface="Calibri"/>
              </a:rPr>
              <a:t>12 May 2026</a:t>
            </a:r>
          </a:p>
        </p:txBody>
      </p:sp>
      <p:sp>
        <p:nvSpPr>
          <p:cNvPr id="25" name="TextBox 24">
            <a:extLst>
              <a:ext uri="{FF2B5EF4-FFF2-40B4-BE49-F238E27FC236}">
                <a16:creationId xmlns:a16="http://schemas.microsoft.com/office/drawing/2014/main" id="{CE357AF5-21D1-0E0B-5B6B-8859B28B7492}"/>
              </a:ext>
            </a:extLst>
          </p:cNvPr>
          <p:cNvSpPr txBox="1"/>
          <p:nvPr/>
        </p:nvSpPr>
        <p:spPr>
          <a:xfrm>
            <a:off x="6346333" y="2056109"/>
            <a:ext cx="3474720" cy="303416"/>
          </a:xfrm>
          <a:prstGeom prst="rect">
            <a:avLst/>
          </a:prstGeom>
          <a:noFill/>
        </p:spPr>
        <p:txBody>
          <a:bodyPr wrap="square" lIns="36576" tIns="18288" rIns="36576" bIns="18288" anchor="t">
            <a:spAutoFit/>
          </a:bodyPr>
          <a:lstStyle/>
          <a:p>
            <a:pPr>
              <a:lnSpc>
                <a:spcPct val="115000"/>
              </a:lnSpc>
            </a:pPr>
            <a:r>
              <a:rPr sz="1600" b="1" i="1" dirty="0">
                <a:solidFill>
                  <a:srgbClr val="7B3FA1"/>
                </a:solidFill>
                <a:latin typeface="Calibri"/>
              </a:rPr>
              <a:t>X.509 </a:t>
            </a:r>
            <a:r>
              <a:rPr lang="en-US" sz="1600" b="1" i="1" dirty="0">
                <a:solidFill>
                  <a:srgbClr val="7B3FA1"/>
                </a:solidFill>
                <a:latin typeface="Calibri"/>
              </a:rPr>
              <a:t>day</a:t>
            </a:r>
            <a:endParaRPr sz="1600" b="1" i="1" dirty="0">
              <a:solidFill>
                <a:srgbClr val="7B3FA1"/>
              </a:solidFill>
              <a:latin typeface="Calibri"/>
            </a:endParaRPr>
          </a:p>
        </p:txBody>
      </p:sp>
      <p:sp>
        <p:nvSpPr>
          <p:cNvPr id="27" name="TextBox 26">
            <a:extLst>
              <a:ext uri="{FF2B5EF4-FFF2-40B4-BE49-F238E27FC236}">
                <a16:creationId xmlns:a16="http://schemas.microsoft.com/office/drawing/2014/main" id="{42BE5705-81C7-FB32-6043-385FBA0AA6A8}"/>
              </a:ext>
            </a:extLst>
          </p:cNvPr>
          <p:cNvSpPr txBox="1"/>
          <p:nvPr/>
        </p:nvSpPr>
        <p:spPr>
          <a:xfrm>
            <a:off x="6330531" y="2659907"/>
            <a:ext cx="3474720" cy="1199046"/>
          </a:xfrm>
          <a:prstGeom prst="rect">
            <a:avLst/>
          </a:prstGeom>
          <a:noFill/>
        </p:spPr>
        <p:txBody>
          <a:bodyPr wrap="square" lIns="36576" tIns="18288" rIns="36576" bIns="18288" anchor="t">
            <a:spAutoFit/>
          </a:bodyPr>
          <a:lstStyle/>
          <a:p>
            <a:pPr marL="285750" indent="-285750">
              <a:lnSpc>
                <a:spcPct val="120000"/>
              </a:lnSpc>
              <a:buFont typeface="Arial" panose="020B0604020202020204" pitchFamily="34" charset="0"/>
              <a:buChar char="•"/>
            </a:pPr>
            <a:r>
              <a:rPr sz="1600" b="0" i="0" dirty="0">
                <a:solidFill>
                  <a:srgbClr val="22303C"/>
                </a:solidFill>
                <a:latin typeface="Calibri"/>
              </a:rPr>
              <a:t>Pervasive X.509 referenced in nearly every March presentation</a:t>
            </a:r>
            <a:endParaRPr lang="en-US" sz="1600" b="0" i="0" dirty="0">
              <a:solidFill>
                <a:srgbClr val="22303C"/>
              </a:solidFill>
              <a:latin typeface="Calibri"/>
            </a:endParaRPr>
          </a:p>
          <a:p>
            <a:pPr marL="285750" indent="-285750">
              <a:lnSpc>
                <a:spcPct val="120000"/>
              </a:lnSpc>
              <a:buFont typeface="Arial" panose="020B0604020202020204" pitchFamily="34" charset="0"/>
              <a:buChar char="•"/>
            </a:pPr>
            <a:r>
              <a:rPr lang="en-US" sz="1600" b="0" i="0" dirty="0">
                <a:solidFill>
                  <a:srgbClr val="22303C"/>
                </a:solidFill>
                <a:latin typeface="Calibri"/>
              </a:rPr>
              <a:t>Federation of</a:t>
            </a:r>
            <a:r>
              <a:rPr lang="en-US" sz="1600" dirty="0">
                <a:solidFill>
                  <a:srgbClr val="22303C"/>
                </a:solidFill>
                <a:latin typeface="Calibri"/>
              </a:rPr>
              <a:t> trust doesn’t work today  </a:t>
            </a:r>
            <a:r>
              <a:rPr lang="en-US" sz="1600" dirty="0">
                <a:solidFill>
                  <a:srgbClr val="22303C"/>
                </a:solidFill>
                <a:latin typeface="Calibri"/>
                <a:sym typeface="Wingdings" panose="05000000000000000000" pitchFamily="2" charset="2"/>
              </a:rPr>
              <a:t> </a:t>
            </a:r>
            <a:r>
              <a:rPr lang="en-US" sz="1600" dirty="0" err="1">
                <a:solidFill>
                  <a:srgbClr val="22303C"/>
                </a:solidFill>
                <a:latin typeface="Calibri"/>
                <a:sym typeface="Wingdings" panose="05000000000000000000" pitchFamily="2" charset="2"/>
              </a:rPr>
              <a:t>X.dpki</a:t>
            </a:r>
            <a:r>
              <a:rPr lang="en-US" sz="1600" dirty="0">
                <a:solidFill>
                  <a:srgbClr val="22303C"/>
                </a:solidFill>
                <a:latin typeface="Calibri"/>
                <a:sym typeface="Wingdings" panose="05000000000000000000" pitchFamily="2" charset="2"/>
              </a:rPr>
              <a:t> as a proposal</a:t>
            </a:r>
            <a:endParaRPr sz="1600" b="0" i="0" dirty="0">
              <a:solidFill>
                <a:srgbClr val="22303C"/>
              </a:solidFill>
              <a:latin typeface="Calibri"/>
            </a:endParaRPr>
          </a:p>
        </p:txBody>
      </p:sp>
      <p:sp>
        <p:nvSpPr>
          <p:cNvPr id="29" name="Rounded Rectangle 18">
            <a:extLst>
              <a:ext uri="{FF2B5EF4-FFF2-40B4-BE49-F238E27FC236}">
                <a16:creationId xmlns:a16="http://schemas.microsoft.com/office/drawing/2014/main" id="{C3016B08-7EFF-D455-42D4-35DB4249965D}"/>
              </a:ext>
            </a:extLst>
          </p:cNvPr>
          <p:cNvSpPr/>
          <p:nvPr/>
        </p:nvSpPr>
        <p:spPr>
          <a:xfrm>
            <a:off x="1981549" y="1459563"/>
            <a:ext cx="3749039" cy="2497221"/>
          </a:xfrm>
          <a:prstGeom prst="roundRect">
            <a:avLst>
              <a:gd name="adj" fmla="val 6000"/>
            </a:avLst>
          </a:prstGeom>
          <a:solidFill>
            <a:srgbClr val="E9EEF7"/>
          </a:solidFill>
          <a:ln w="762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a:extLst>
              <a:ext uri="{FF2B5EF4-FFF2-40B4-BE49-F238E27FC236}">
                <a16:creationId xmlns:a16="http://schemas.microsoft.com/office/drawing/2014/main" id="{41E197DD-B178-8A9A-1D00-F1DDB7B5602F}"/>
              </a:ext>
            </a:extLst>
          </p:cNvPr>
          <p:cNvSpPr/>
          <p:nvPr/>
        </p:nvSpPr>
        <p:spPr>
          <a:xfrm>
            <a:off x="1981549" y="1459563"/>
            <a:ext cx="3749039" cy="365760"/>
          </a:xfrm>
          <a:prstGeom prst="rect">
            <a:avLst/>
          </a:prstGeom>
          <a:solidFill>
            <a:srgbClr val="132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6E2BCD79-7ED8-EF17-2B3A-3BEED2E74ABA}"/>
              </a:ext>
            </a:extLst>
          </p:cNvPr>
          <p:cNvSpPr txBox="1"/>
          <p:nvPr/>
        </p:nvSpPr>
        <p:spPr>
          <a:xfrm>
            <a:off x="1981549" y="1500866"/>
            <a:ext cx="3749039" cy="283154"/>
          </a:xfrm>
          <a:prstGeom prst="rect">
            <a:avLst/>
          </a:prstGeom>
          <a:noFill/>
        </p:spPr>
        <p:txBody>
          <a:bodyPr wrap="square" lIns="36576" tIns="18288" rIns="36576" bIns="18288" anchor="ctr">
            <a:spAutoFit/>
          </a:bodyPr>
          <a:lstStyle/>
          <a:p>
            <a:pPr algn="ctr"/>
            <a:r>
              <a:rPr lang="en-US" sz="1600" b="1" dirty="0">
                <a:solidFill>
                  <a:srgbClr val="FFFFFF"/>
                </a:solidFill>
                <a:latin typeface="Calibri"/>
              </a:rPr>
              <a:t>30-31 Mar</a:t>
            </a:r>
            <a:r>
              <a:rPr sz="1600" b="1" i="0" dirty="0">
                <a:solidFill>
                  <a:srgbClr val="FFFFFF"/>
                </a:solidFill>
                <a:latin typeface="Calibri"/>
              </a:rPr>
              <a:t> 2026</a:t>
            </a:r>
          </a:p>
        </p:txBody>
      </p:sp>
      <p:sp>
        <p:nvSpPr>
          <p:cNvPr id="35" name="TextBox 34">
            <a:extLst>
              <a:ext uri="{FF2B5EF4-FFF2-40B4-BE49-F238E27FC236}">
                <a16:creationId xmlns:a16="http://schemas.microsoft.com/office/drawing/2014/main" id="{F27CDBD2-55DA-B62F-9AE9-3428CEBE3C4D}"/>
              </a:ext>
            </a:extLst>
          </p:cNvPr>
          <p:cNvSpPr txBox="1"/>
          <p:nvPr/>
        </p:nvSpPr>
        <p:spPr>
          <a:xfrm>
            <a:off x="2118708" y="1948036"/>
            <a:ext cx="3474720" cy="586571"/>
          </a:xfrm>
          <a:prstGeom prst="rect">
            <a:avLst/>
          </a:prstGeom>
          <a:noFill/>
        </p:spPr>
        <p:txBody>
          <a:bodyPr wrap="square" lIns="36576" tIns="18288" rIns="36576" bIns="18288" anchor="t">
            <a:spAutoFit/>
          </a:bodyPr>
          <a:lstStyle/>
          <a:p>
            <a:pPr>
              <a:lnSpc>
                <a:spcPct val="115000"/>
              </a:lnSpc>
            </a:pPr>
            <a:r>
              <a:rPr sz="1600" b="1" i="1" dirty="0">
                <a:solidFill>
                  <a:srgbClr val="13294B"/>
                </a:solidFill>
                <a:latin typeface="Calibri"/>
              </a:rPr>
              <a:t>Globally Interoperable Digital Identity for Humans and Agents</a:t>
            </a:r>
          </a:p>
        </p:txBody>
      </p:sp>
      <p:sp>
        <p:nvSpPr>
          <p:cNvPr id="37" name="TextBox 36">
            <a:extLst>
              <a:ext uri="{FF2B5EF4-FFF2-40B4-BE49-F238E27FC236}">
                <a16:creationId xmlns:a16="http://schemas.microsoft.com/office/drawing/2014/main" id="{27A68E79-8BF9-B264-69E1-660D1FE8E739}"/>
              </a:ext>
            </a:extLst>
          </p:cNvPr>
          <p:cNvSpPr txBox="1"/>
          <p:nvPr/>
        </p:nvSpPr>
        <p:spPr>
          <a:xfrm>
            <a:off x="2118708" y="2640898"/>
            <a:ext cx="3474720" cy="1199046"/>
          </a:xfrm>
          <a:prstGeom prst="rect">
            <a:avLst/>
          </a:prstGeom>
          <a:noFill/>
        </p:spPr>
        <p:txBody>
          <a:bodyPr wrap="square" lIns="36576" tIns="18288" rIns="36576" bIns="18288" anchor="t">
            <a:spAutoFit/>
          </a:bodyPr>
          <a:lstStyle/>
          <a:p>
            <a:pPr marL="285750" indent="-285750">
              <a:lnSpc>
                <a:spcPct val="120000"/>
              </a:lnSpc>
              <a:buFont typeface="Arial" panose="020B0604020202020204" pitchFamily="34" charset="0"/>
              <a:buChar char="•"/>
            </a:pPr>
            <a:r>
              <a:rPr lang="en-US" sz="1600" dirty="0">
                <a:solidFill>
                  <a:srgbClr val="22303C"/>
                </a:solidFill>
                <a:latin typeface="Calibri"/>
              </a:rPr>
              <a:t>Agentic ID contested</a:t>
            </a:r>
          </a:p>
          <a:p>
            <a:pPr marL="285750" indent="-285750">
              <a:lnSpc>
                <a:spcPct val="120000"/>
              </a:lnSpc>
              <a:buFont typeface="Arial" panose="020B0604020202020204" pitchFamily="34" charset="0"/>
              <a:buChar char="•"/>
            </a:pPr>
            <a:r>
              <a:rPr lang="en-US" sz="1600" dirty="0">
                <a:solidFill>
                  <a:srgbClr val="22303C"/>
                </a:solidFill>
                <a:latin typeface="Calibri"/>
              </a:rPr>
              <a:t>We lack terminology on Agentic</a:t>
            </a:r>
          </a:p>
          <a:p>
            <a:pPr marL="285750" indent="-285750">
              <a:lnSpc>
                <a:spcPct val="120000"/>
              </a:lnSpc>
              <a:buFont typeface="Arial" panose="020B0604020202020204" pitchFamily="34" charset="0"/>
              <a:buChar char="•"/>
            </a:pPr>
            <a:r>
              <a:rPr lang="en-US" sz="1600" dirty="0">
                <a:solidFill>
                  <a:srgbClr val="22303C"/>
                </a:solidFill>
                <a:latin typeface="Calibri"/>
              </a:rPr>
              <a:t>Discovery and delegation are open problems</a:t>
            </a:r>
          </a:p>
        </p:txBody>
      </p:sp>
      <p:sp>
        <p:nvSpPr>
          <p:cNvPr id="69" name="Rounded Rectangle 18">
            <a:extLst>
              <a:ext uri="{FF2B5EF4-FFF2-40B4-BE49-F238E27FC236}">
                <a16:creationId xmlns:a16="http://schemas.microsoft.com/office/drawing/2014/main" id="{E8E3E1B8-B743-9B4F-D0D0-AFBA7DF9A93A}"/>
              </a:ext>
            </a:extLst>
          </p:cNvPr>
          <p:cNvSpPr/>
          <p:nvPr/>
        </p:nvSpPr>
        <p:spPr>
          <a:xfrm>
            <a:off x="1104037" y="4286325"/>
            <a:ext cx="3749039" cy="2497221"/>
          </a:xfrm>
          <a:prstGeom prst="roundRect">
            <a:avLst>
              <a:gd name="adj" fmla="val 6000"/>
            </a:avLst>
          </a:prstGeom>
          <a:solidFill>
            <a:srgbClr val="E9EEF7"/>
          </a:solidFill>
          <a:ln w="762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3881D9E4-4CE0-29FA-41ED-ED327B4775A2}"/>
              </a:ext>
            </a:extLst>
          </p:cNvPr>
          <p:cNvSpPr txBox="1"/>
          <p:nvPr/>
        </p:nvSpPr>
        <p:spPr>
          <a:xfrm>
            <a:off x="1309776" y="4708994"/>
            <a:ext cx="3611880" cy="869725"/>
          </a:xfrm>
          <a:prstGeom prst="rect">
            <a:avLst/>
          </a:prstGeom>
          <a:noFill/>
        </p:spPr>
        <p:txBody>
          <a:bodyPr wrap="square" lIns="36576" tIns="18288" rIns="36576" bIns="18288" anchor="t">
            <a:spAutoFit/>
          </a:bodyPr>
          <a:lstStyle/>
          <a:p>
            <a:pPr>
              <a:lnSpc>
                <a:spcPct val="115000"/>
              </a:lnSpc>
            </a:pPr>
            <a:r>
              <a:rPr lang="en-US" sz="1600" b="1" i="1" dirty="0">
                <a:solidFill>
                  <a:srgbClr val="13294B"/>
                </a:solidFill>
                <a:latin typeface="Calibri"/>
              </a:rPr>
              <a:t>Global interoperability for trust management of digital identity for Humans and Agents</a:t>
            </a:r>
            <a:endParaRPr sz="1600" b="1" i="1" dirty="0">
              <a:solidFill>
                <a:srgbClr val="13294B"/>
              </a:solidFill>
              <a:latin typeface="Calibri"/>
            </a:endParaRPr>
          </a:p>
        </p:txBody>
      </p:sp>
      <p:sp>
        <p:nvSpPr>
          <p:cNvPr id="75" name="TextBox 74">
            <a:extLst>
              <a:ext uri="{FF2B5EF4-FFF2-40B4-BE49-F238E27FC236}">
                <a16:creationId xmlns:a16="http://schemas.microsoft.com/office/drawing/2014/main" id="{FF9D61BC-006D-93CF-2141-2692C0AD9DD2}"/>
              </a:ext>
            </a:extLst>
          </p:cNvPr>
          <p:cNvSpPr txBox="1"/>
          <p:nvPr/>
        </p:nvSpPr>
        <p:spPr>
          <a:xfrm>
            <a:off x="1288794" y="5524373"/>
            <a:ext cx="3474720" cy="1494512"/>
          </a:xfrm>
          <a:prstGeom prst="rect">
            <a:avLst/>
          </a:prstGeom>
          <a:noFill/>
        </p:spPr>
        <p:txBody>
          <a:bodyPr wrap="square" lIns="36576" tIns="18288" rIns="36576" bIns="18288" anchor="t">
            <a:spAutoFit/>
          </a:bodyPr>
          <a:lstStyle/>
          <a:p>
            <a:pPr marL="285750" indent="-285750">
              <a:lnSpc>
                <a:spcPct val="120000"/>
              </a:lnSpc>
              <a:buFont typeface="Arial" panose="020B0604020202020204" pitchFamily="34" charset="0"/>
              <a:buChar char="•"/>
            </a:pPr>
            <a:r>
              <a:rPr lang="en-US" sz="1600" b="0" i="0" dirty="0">
                <a:solidFill>
                  <a:srgbClr val="22303C"/>
                </a:solidFill>
                <a:latin typeface="Calibri"/>
              </a:rPr>
              <a:t>Trust management for verifiers and wallets is an open problem</a:t>
            </a:r>
          </a:p>
          <a:p>
            <a:pPr marL="285750" indent="-285750">
              <a:lnSpc>
                <a:spcPct val="120000"/>
              </a:lnSpc>
              <a:buFont typeface="Arial" panose="020B0604020202020204" pitchFamily="34" charset="0"/>
              <a:buChar char="•"/>
            </a:pPr>
            <a:r>
              <a:rPr lang="en-US" sz="1600" dirty="0">
                <a:solidFill>
                  <a:srgbClr val="22303C"/>
                </a:solidFill>
                <a:latin typeface="Calibri"/>
              </a:rPr>
              <a:t>Trust management of Agentic works only within enterprise domain</a:t>
            </a:r>
            <a:endParaRPr lang="en-US" sz="1600" b="0" i="0" dirty="0">
              <a:solidFill>
                <a:srgbClr val="22303C"/>
              </a:solidFill>
              <a:latin typeface="Calibri"/>
            </a:endParaRPr>
          </a:p>
          <a:p>
            <a:pPr marL="285750" indent="-285750">
              <a:lnSpc>
                <a:spcPct val="120000"/>
              </a:lnSpc>
              <a:buFont typeface="Arial" panose="020B0604020202020204" pitchFamily="34" charset="0"/>
              <a:buChar char="•"/>
            </a:pPr>
            <a:endParaRPr sz="1600" b="0" i="0" dirty="0">
              <a:solidFill>
                <a:srgbClr val="22303C"/>
              </a:solidFill>
              <a:latin typeface="Calibri"/>
            </a:endParaRPr>
          </a:p>
        </p:txBody>
      </p:sp>
      <p:sp>
        <p:nvSpPr>
          <p:cNvPr id="79" name="Rectangle 78">
            <a:extLst>
              <a:ext uri="{FF2B5EF4-FFF2-40B4-BE49-F238E27FC236}">
                <a16:creationId xmlns:a16="http://schemas.microsoft.com/office/drawing/2014/main" id="{D7F008EE-347F-DDE4-2EB4-9DCF483218EA}"/>
              </a:ext>
            </a:extLst>
          </p:cNvPr>
          <p:cNvSpPr/>
          <p:nvPr/>
        </p:nvSpPr>
        <p:spPr>
          <a:xfrm>
            <a:off x="1151635" y="4289563"/>
            <a:ext cx="3749039" cy="365760"/>
          </a:xfrm>
          <a:prstGeom prst="rect">
            <a:avLst/>
          </a:prstGeom>
          <a:solidFill>
            <a:schemeClr val="accent3">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19315122-FD2E-096A-A949-86ED432A5012}"/>
              </a:ext>
            </a:extLst>
          </p:cNvPr>
          <p:cNvSpPr txBox="1"/>
          <p:nvPr/>
        </p:nvSpPr>
        <p:spPr>
          <a:xfrm>
            <a:off x="1172617" y="4317230"/>
            <a:ext cx="3749039" cy="283154"/>
          </a:xfrm>
          <a:prstGeom prst="rect">
            <a:avLst/>
          </a:prstGeom>
          <a:noFill/>
        </p:spPr>
        <p:txBody>
          <a:bodyPr wrap="square" lIns="36576" tIns="18288" rIns="36576" bIns="18288" anchor="ctr">
            <a:spAutoFit/>
          </a:bodyPr>
          <a:lstStyle/>
          <a:p>
            <a:pPr algn="ctr"/>
            <a:r>
              <a:rPr sz="1600" b="1" i="0" dirty="0">
                <a:solidFill>
                  <a:srgbClr val="FFFFFF"/>
                </a:solidFill>
                <a:latin typeface="Calibri"/>
              </a:rPr>
              <a:t>2 Jun 2026</a:t>
            </a:r>
          </a:p>
        </p:txBody>
      </p:sp>
    </p:spTree>
    <p:extLst>
      <p:ext uri="{BB962C8B-B14F-4D97-AF65-F5344CB8AC3E}">
        <p14:creationId xmlns:p14="http://schemas.microsoft.com/office/powerpoint/2010/main" val="1644115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ADCCB-24EE-D457-B630-97AC8137032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77D7C7B-013F-4B58-8A6B-F69AAF9E2F35}"/>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01DEF8EB-5532-4B82-8611-70A44EA76713}"/>
              </a:ext>
            </a:extLst>
          </p:cNvPr>
          <p:cNvSpPr>
            <a:spLocks noGrp="1"/>
          </p:cNvSpPr>
          <p:nvPr>
            <p:ph type="title"/>
          </p:nvPr>
        </p:nvSpPr>
        <p:spPr>
          <a:xfrm>
            <a:off x="341085" y="219392"/>
            <a:ext cx="10515600" cy="1325563"/>
          </a:xfrm>
        </p:spPr>
        <p:txBody>
          <a:bodyPr/>
          <a:lstStyle/>
          <a:p>
            <a:r>
              <a:rPr lang="en-US" dirty="0">
                <a:solidFill>
                  <a:schemeClr val="bg1"/>
                </a:solidFill>
              </a:rPr>
              <a:t>What is a Focus Group in ITU?</a:t>
            </a:r>
            <a:endParaRPr lang="en-GB" noProof="0" dirty="0">
              <a:solidFill>
                <a:schemeClr val="bg1"/>
              </a:solidFill>
            </a:endParaRPr>
          </a:p>
        </p:txBody>
      </p:sp>
      <p:pic>
        <p:nvPicPr>
          <p:cNvPr id="13" name="Picture 12">
            <a:extLst>
              <a:ext uri="{FF2B5EF4-FFF2-40B4-BE49-F238E27FC236}">
                <a16:creationId xmlns:a16="http://schemas.microsoft.com/office/drawing/2014/main" id="{3A6E706E-C5EB-D60A-28F6-E20815A6D5D4}"/>
              </a:ext>
            </a:extLst>
          </p:cNvPr>
          <p:cNvPicPr>
            <a:picLocks noChangeAspect="1"/>
          </p:cNvPicPr>
          <p:nvPr/>
        </p:nvPicPr>
        <p:blipFill>
          <a:blip r:embed="rId2"/>
          <a:stretch>
            <a:fillRect/>
          </a:stretch>
        </p:blipFill>
        <p:spPr>
          <a:xfrm>
            <a:off x="9958212" y="107366"/>
            <a:ext cx="2064271" cy="696502"/>
          </a:xfrm>
          <a:prstGeom prst="rect">
            <a:avLst/>
          </a:prstGeom>
        </p:spPr>
      </p:pic>
      <p:sp>
        <p:nvSpPr>
          <p:cNvPr id="3" name="TextBox 2">
            <a:extLst>
              <a:ext uri="{FF2B5EF4-FFF2-40B4-BE49-F238E27FC236}">
                <a16:creationId xmlns:a16="http://schemas.microsoft.com/office/drawing/2014/main" id="{99F61192-C12F-7970-22BB-68998A465BE1}"/>
              </a:ext>
            </a:extLst>
          </p:cNvPr>
          <p:cNvSpPr txBox="1"/>
          <p:nvPr/>
        </p:nvSpPr>
        <p:spPr>
          <a:xfrm>
            <a:off x="1127235" y="2547257"/>
            <a:ext cx="9937529" cy="2246769"/>
          </a:xfrm>
          <a:prstGeom prst="rect">
            <a:avLst/>
          </a:prstGeom>
          <a:noFill/>
        </p:spPr>
        <p:txBody>
          <a:bodyPr wrap="none" rtlCol="0">
            <a:spAutoFit/>
          </a:bodyPr>
          <a:lstStyle/>
          <a:p>
            <a:r>
              <a:rPr lang="en-US" sz="2800" dirty="0"/>
              <a:t>TIDA Focus Group is</a:t>
            </a:r>
          </a:p>
          <a:p>
            <a:endParaRPr lang="en-US" sz="2800" dirty="0"/>
          </a:p>
          <a:p>
            <a:r>
              <a:rPr lang="en-US" sz="2800" dirty="0"/>
              <a:t>An </a:t>
            </a:r>
            <a:r>
              <a:rPr lang="en-US" sz="2800" b="1" dirty="0">
                <a:solidFill>
                  <a:schemeClr val="accent1"/>
                </a:solidFill>
              </a:rPr>
              <a:t>Open Community </a:t>
            </a:r>
            <a:r>
              <a:rPr lang="en-US" sz="2800" dirty="0"/>
              <a:t>(</a:t>
            </a:r>
            <a:r>
              <a:rPr lang="en-US" sz="2800" dirty="0">
                <a:sym typeface="Wingdings" panose="05000000000000000000" pitchFamily="2" charset="2"/>
              </a:rPr>
              <a:t>no need to be member of ITU to participate) </a:t>
            </a:r>
          </a:p>
          <a:p>
            <a:endParaRPr lang="en-US" sz="2800" dirty="0">
              <a:sym typeface="Wingdings" panose="05000000000000000000" pitchFamily="2" charset="2"/>
            </a:endParaRPr>
          </a:p>
          <a:p>
            <a:r>
              <a:rPr lang="en-US" sz="2800" dirty="0">
                <a:sym typeface="Wingdings" panose="05000000000000000000" pitchFamily="2" charset="2"/>
              </a:rPr>
              <a:t>conducting </a:t>
            </a:r>
            <a:r>
              <a:rPr lang="en-US" sz="2800" b="1" dirty="0">
                <a:solidFill>
                  <a:schemeClr val="accent1"/>
                </a:solidFill>
                <a:sym typeface="Wingdings" panose="05000000000000000000" pitchFamily="2" charset="2"/>
              </a:rPr>
              <a:t>pre-standardization work</a:t>
            </a:r>
            <a:endParaRPr lang="en-US" sz="2800" b="1" dirty="0">
              <a:solidFill>
                <a:schemeClr val="accent1"/>
              </a:solidFill>
            </a:endParaRPr>
          </a:p>
        </p:txBody>
      </p:sp>
    </p:spTree>
    <p:extLst>
      <p:ext uri="{BB962C8B-B14F-4D97-AF65-F5344CB8AC3E}">
        <p14:creationId xmlns:p14="http://schemas.microsoft.com/office/powerpoint/2010/main" val="1844872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F5D4C-6B8B-3F0D-1F5C-55C8EB862FF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1D0B4E9-113F-1B59-9C78-028D9DA8AC81}"/>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EEA606E3-0F92-7615-B925-127DA6E2D807}"/>
              </a:ext>
            </a:extLst>
          </p:cNvPr>
          <p:cNvSpPr>
            <a:spLocks noGrp="1"/>
          </p:cNvSpPr>
          <p:nvPr>
            <p:ph type="title"/>
          </p:nvPr>
        </p:nvSpPr>
        <p:spPr>
          <a:xfrm>
            <a:off x="341085" y="219392"/>
            <a:ext cx="10515600" cy="1325563"/>
          </a:xfrm>
        </p:spPr>
        <p:txBody>
          <a:bodyPr/>
          <a:lstStyle/>
          <a:p>
            <a:r>
              <a:rPr lang="en-US" dirty="0">
                <a:solidFill>
                  <a:schemeClr val="bg1"/>
                </a:solidFill>
              </a:rPr>
              <a:t>Why creating TIDA?</a:t>
            </a:r>
            <a:endParaRPr lang="en-GB" noProof="0" dirty="0">
              <a:solidFill>
                <a:schemeClr val="bg1"/>
              </a:solidFill>
            </a:endParaRPr>
          </a:p>
        </p:txBody>
      </p:sp>
      <p:pic>
        <p:nvPicPr>
          <p:cNvPr id="13" name="Picture 12">
            <a:extLst>
              <a:ext uri="{FF2B5EF4-FFF2-40B4-BE49-F238E27FC236}">
                <a16:creationId xmlns:a16="http://schemas.microsoft.com/office/drawing/2014/main" id="{7750198F-17D5-680D-FED5-6526C305DCBC}"/>
              </a:ext>
            </a:extLst>
          </p:cNvPr>
          <p:cNvPicPr>
            <a:picLocks noChangeAspect="1"/>
          </p:cNvPicPr>
          <p:nvPr/>
        </p:nvPicPr>
        <p:blipFill>
          <a:blip r:embed="rId2"/>
          <a:stretch>
            <a:fillRect/>
          </a:stretch>
        </p:blipFill>
        <p:spPr>
          <a:xfrm>
            <a:off x="9958212" y="107366"/>
            <a:ext cx="2064271" cy="696502"/>
          </a:xfrm>
          <a:prstGeom prst="rect">
            <a:avLst/>
          </a:prstGeom>
        </p:spPr>
      </p:pic>
      <p:sp>
        <p:nvSpPr>
          <p:cNvPr id="3" name="TextBox 2">
            <a:extLst>
              <a:ext uri="{FF2B5EF4-FFF2-40B4-BE49-F238E27FC236}">
                <a16:creationId xmlns:a16="http://schemas.microsoft.com/office/drawing/2014/main" id="{98527B60-3A7C-AF9C-F08D-38B041DF3CEC}"/>
              </a:ext>
            </a:extLst>
          </p:cNvPr>
          <p:cNvSpPr txBox="1"/>
          <p:nvPr/>
        </p:nvSpPr>
        <p:spPr>
          <a:xfrm>
            <a:off x="651511" y="1908224"/>
            <a:ext cx="11144250" cy="3785652"/>
          </a:xfrm>
          <a:prstGeom prst="rect">
            <a:avLst/>
          </a:prstGeom>
          <a:noFill/>
        </p:spPr>
        <p:txBody>
          <a:bodyPr wrap="square" rtlCol="0">
            <a:spAutoFit/>
          </a:bodyPr>
          <a:lstStyle/>
          <a:p>
            <a:r>
              <a:rPr lang="en-US" sz="2400" i="1" dirty="0"/>
              <a:t>As AI agents begin to negotiate, transact, and act autonomously on our behalf, the world lacks </a:t>
            </a:r>
            <a:r>
              <a:rPr lang="en-US" sz="2400" b="1" i="1" dirty="0"/>
              <a:t>common international foundations </a:t>
            </a:r>
            <a:r>
              <a:rPr lang="en-US" sz="2400" i="1" dirty="0"/>
              <a:t>to establish who these agents are, when they can be trusted, and how humans remain in control: FG-TIDA was created to build that foundation before agentic AI becomes ubiquitous</a:t>
            </a:r>
          </a:p>
          <a:p>
            <a:endParaRPr lang="en-US" sz="2400" b="1" i="1" dirty="0">
              <a:solidFill>
                <a:schemeClr val="accent1"/>
              </a:solidFill>
            </a:endParaRPr>
          </a:p>
          <a:p>
            <a:r>
              <a:rPr lang="en-US" sz="2400" b="1" i="1" dirty="0">
                <a:solidFill>
                  <a:schemeClr val="accent1"/>
                </a:solidFill>
              </a:rPr>
              <a:t>Our objective is to define architectural models and interoperability frameworks that establish trust in agentic AI.</a:t>
            </a:r>
          </a:p>
          <a:p>
            <a:endParaRPr lang="en-US" sz="2400" b="1" i="1" dirty="0">
              <a:solidFill>
                <a:schemeClr val="accent1"/>
              </a:solidFill>
            </a:endParaRPr>
          </a:p>
          <a:p>
            <a:r>
              <a:rPr lang="en-US" sz="2400" b="1" i="1" dirty="0">
                <a:solidFill>
                  <a:schemeClr val="accent1"/>
                </a:solidFill>
              </a:rPr>
              <a:t>As part of the UN, we bring together an inclusive, global community of Member States, academia, and industry to build this foundation together.</a:t>
            </a:r>
          </a:p>
        </p:txBody>
      </p:sp>
    </p:spTree>
    <p:extLst>
      <p:ext uri="{BB962C8B-B14F-4D97-AF65-F5344CB8AC3E}">
        <p14:creationId xmlns:p14="http://schemas.microsoft.com/office/powerpoint/2010/main" val="1371515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6C036-742D-E6FF-6A39-95B87B450B0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7EF1ABB-0FDF-41EC-E63C-4FB0587C44D3}"/>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CB2CA1DF-0418-BC15-3989-C679FAEDF80A}"/>
              </a:ext>
            </a:extLst>
          </p:cNvPr>
          <p:cNvSpPr>
            <a:spLocks noGrp="1"/>
          </p:cNvSpPr>
          <p:nvPr>
            <p:ph type="title"/>
          </p:nvPr>
        </p:nvSpPr>
        <p:spPr>
          <a:xfrm>
            <a:off x="341085" y="219392"/>
            <a:ext cx="10515600" cy="1325563"/>
          </a:xfrm>
        </p:spPr>
        <p:txBody>
          <a:bodyPr/>
          <a:lstStyle/>
          <a:p>
            <a:r>
              <a:rPr lang="en-US" dirty="0">
                <a:solidFill>
                  <a:schemeClr val="bg1"/>
                </a:solidFill>
              </a:rPr>
              <a:t>9 July 2026: the launch of FG-TIDA</a:t>
            </a:r>
          </a:p>
        </p:txBody>
      </p:sp>
      <p:pic>
        <p:nvPicPr>
          <p:cNvPr id="13" name="Picture 12">
            <a:extLst>
              <a:ext uri="{FF2B5EF4-FFF2-40B4-BE49-F238E27FC236}">
                <a16:creationId xmlns:a16="http://schemas.microsoft.com/office/drawing/2014/main" id="{144793A6-877D-7840-A3F0-DCB3ACBD1126}"/>
              </a:ext>
            </a:extLst>
          </p:cNvPr>
          <p:cNvPicPr>
            <a:picLocks noChangeAspect="1"/>
          </p:cNvPicPr>
          <p:nvPr/>
        </p:nvPicPr>
        <p:blipFill>
          <a:blip r:embed="rId3"/>
          <a:stretch>
            <a:fillRect/>
          </a:stretch>
        </p:blipFill>
        <p:spPr>
          <a:xfrm>
            <a:off x="9958212" y="107366"/>
            <a:ext cx="2064271" cy="696502"/>
          </a:xfrm>
          <a:prstGeom prst="rect">
            <a:avLst/>
          </a:prstGeom>
        </p:spPr>
      </p:pic>
      <p:pic>
        <p:nvPicPr>
          <p:cNvPr id="3" name="Image 1" descr="/sessions/festive-gracious-tesla/mnt/outputs/orig_image5.jpeg">
            <a:extLst>
              <a:ext uri="{FF2B5EF4-FFF2-40B4-BE49-F238E27FC236}">
                <a16:creationId xmlns:a16="http://schemas.microsoft.com/office/drawing/2014/main" id="{A48814AE-B925-2CAD-0896-25CD20DBA388}"/>
              </a:ext>
            </a:extLst>
          </p:cNvPr>
          <p:cNvPicPr>
            <a:picLocks noChangeAspect="1"/>
          </p:cNvPicPr>
          <p:nvPr/>
        </p:nvPicPr>
        <p:blipFill>
          <a:blip r:embed="rId4"/>
          <a:stretch>
            <a:fillRect/>
          </a:stretch>
        </p:blipFill>
        <p:spPr>
          <a:xfrm>
            <a:off x="6871062" y="1944189"/>
            <a:ext cx="4736592" cy="2395728"/>
          </a:xfrm>
          <a:prstGeom prst="rect">
            <a:avLst/>
          </a:prstGeom>
        </p:spPr>
      </p:pic>
      <p:sp>
        <p:nvSpPr>
          <p:cNvPr id="5" name="Text 2">
            <a:extLst>
              <a:ext uri="{FF2B5EF4-FFF2-40B4-BE49-F238E27FC236}">
                <a16:creationId xmlns:a16="http://schemas.microsoft.com/office/drawing/2014/main" id="{6FD3F225-1502-D0B7-1CEC-ACA698F51A8E}"/>
              </a:ext>
            </a:extLst>
          </p:cNvPr>
          <p:cNvSpPr/>
          <p:nvPr/>
        </p:nvSpPr>
        <p:spPr>
          <a:xfrm>
            <a:off x="6871062" y="4367349"/>
            <a:ext cx="4736592" cy="274320"/>
          </a:xfrm>
          <a:prstGeom prst="rect">
            <a:avLst/>
          </a:prstGeom>
          <a:noFill/>
          <a:ln/>
        </p:spPr>
        <p:txBody>
          <a:bodyPr wrap="square" lIns="0" tIns="0" rIns="0" bIns="0" rtlCol="0" anchor="ctr"/>
          <a:lstStyle/>
          <a:p>
            <a:pPr marL="0" indent="0" algn="ctr">
              <a:buNone/>
            </a:pPr>
            <a:r>
              <a:rPr lang="en-US" sz="1000" i="1" dirty="0">
                <a:solidFill>
                  <a:srgbClr val="6B7785"/>
                </a:solidFill>
                <a:latin typeface="Calibri" pitchFamily="34" charset="0"/>
                <a:ea typeface="Calibri" pitchFamily="34" charset="-122"/>
                <a:cs typeface="Calibri" pitchFamily="34" charset="-120"/>
              </a:rPr>
              <a:t>The initial supporters, called one by one to the AI for Good Centre Stage</a:t>
            </a:r>
            <a:endParaRPr lang="en-US" sz="1000" dirty="0"/>
          </a:p>
        </p:txBody>
      </p:sp>
      <p:sp>
        <p:nvSpPr>
          <p:cNvPr id="8" name="Shape 3">
            <a:extLst>
              <a:ext uri="{FF2B5EF4-FFF2-40B4-BE49-F238E27FC236}">
                <a16:creationId xmlns:a16="http://schemas.microsoft.com/office/drawing/2014/main" id="{D0955D11-EFBE-F52C-D237-7B8EA537136F}"/>
              </a:ext>
            </a:extLst>
          </p:cNvPr>
          <p:cNvSpPr/>
          <p:nvPr/>
        </p:nvSpPr>
        <p:spPr>
          <a:xfrm>
            <a:off x="515982" y="1989909"/>
            <a:ext cx="2514600" cy="1097280"/>
          </a:xfrm>
          <a:prstGeom prst="roundRect">
            <a:avLst>
              <a:gd name="adj" fmla="val 5833"/>
            </a:avLst>
          </a:prstGeom>
          <a:solidFill>
            <a:srgbClr val="F3F6FB"/>
          </a:solidFill>
          <a:ln w="9525">
            <a:solidFill>
              <a:srgbClr val="D8E0EC"/>
            </a:solidFill>
            <a:prstDash val="solid"/>
          </a:ln>
          <a:effectLst>
            <a:outerShdw blurRad="101600" dist="25400" dir="5400000" algn="bl" rotWithShape="0">
              <a:srgbClr val="000000">
                <a:alpha val="10000"/>
              </a:srgbClr>
            </a:outerShdw>
          </a:effectLst>
        </p:spPr>
        <p:txBody>
          <a:bodyPr/>
          <a:lstStyle/>
          <a:p>
            <a:endParaRPr lang="fr-FR"/>
          </a:p>
        </p:txBody>
      </p:sp>
      <p:sp>
        <p:nvSpPr>
          <p:cNvPr id="11" name="Text 4">
            <a:extLst>
              <a:ext uri="{FF2B5EF4-FFF2-40B4-BE49-F238E27FC236}">
                <a16:creationId xmlns:a16="http://schemas.microsoft.com/office/drawing/2014/main" id="{5D92EF33-400A-1E55-301F-338C318B318B}"/>
              </a:ext>
            </a:extLst>
          </p:cNvPr>
          <p:cNvSpPr/>
          <p:nvPr/>
        </p:nvSpPr>
        <p:spPr>
          <a:xfrm>
            <a:off x="515982" y="2037437"/>
            <a:ext cx="2514600" cy="640080"/>
          </a:xfrm>
          <a:prstGeom prst="rect">
            <a:avLst/>
          </a:prstGeom>
          <a:noFill/>
          <a:ln/>
        </p:spPr>
        <p:txBody>
          <a:bodyPr wrap="square" lIns="0" tIns="0" rIns="0" bIns="0" rtlCol="0" anchor="ctr"/>
          <a:lstStyle/>
          <a:p>
            <a:pPr marL="0" indent="0" algn="ctr">
              <a:buNone/>
            </a:pPr>
            <a:r>
              <a:rPr lang="en-US" sz="3300" b="1" dirty="0">
                <a:solidFill>
                  <a:srgbClr val="13294B"/>
                </a:solidFill>
                <a:latin typeface="Calibri" pitchFamily="34" charset="0"/>
                <a:ea typeface="Calibri" pitchFamily="34" charset="-122"/>
                <a:cs typeface="Calibri" pitchFamily="34" charset="-120"/>
              </a:rPr>
              <a:t>54</a:t>
            </a:r>
            <a:endParaRPr lang="en-US" sz="3300" dirty="0"/>
          </a:p>
        </p:txBody>
      </p:sp>
      <p:sp>
        <p:nvSpPr>
          <p:cNvPr id="14" name="Text 5">
            <a:extLst>
              <a:ext uri="{FF2B5EF4-FFF2-40B4-BE49-F238E27FC236}">
                <a16:creationId xmlns:a16="http://schemas.microsoft.com/office/drawing/2014/main" id="{F59095ED-EF24-8CBC-D0BC-7AAEEF3C5C06}"/>
              </a:ext>
            </a:extLst>
          </p:cNvPr>
          <p:cNvSpPr/>
          <p:nvPr/>
        </p:nvSpPr>
        <p:spPr>
          <a:xfrm>
            <a:off x="515982" y="2563217"/>
            <a:ext cx="2514600" cy="502920"/>
          </a:xfrm>
          <a:prstGeom prst="rect">
            <a:avLst/>
          </a:prstGeom>
          <a:noFill/>
          <a:ln/>
        </p:spPr>
        <p:txBody>
          <a:bodyPr wrap="square" lIns="0" tIns="0" rIns="0" bIns="0" rtlCol="0" anchor="ctr"/>
          <a:lstStyle/>
          <a:p>
            <a:pPr marL="0" indent="0" algn="ctr">
              <a:buNone/>
            </a:pPr>
            <a:r>
              <a:rPr lang="en-US" sz="2000" dirty="0">
                <a:solidFill>
                  <a:srgbClr val="6B7785"/>
                </a:solidFill>
                <a:latin typeface="Calibri" pitchFamily="34" charset="0"/>
                <a:ea typeface="Calibri" pitchFamily="34" charset="-122"/>
                <a:cs typeface="Calibri" pitchFamily="34" charset="-120"/>
              </a:rPr>
              <a:t>countries in the consensus</a:t>
            </a:r>
            <a:endParaRPr lang="en-US" sz="2000" dirty="0"/>
          </a:p>
        </p:txBody>
      </p:sp>
      <p:sp>
        <p:nvSpPr>
          <p:cNvPr id="17" name="Shape 6">
            <a:extLst>
              <a:ext uri="{FF2B5EF4-FFF2-40B4-BE49-F238E27FC236}">
                <a16:creationId xmlns:a16="http://schemas.microsoft.com/office/drawing/2014/main" id="{B413AB9B-10C8-4B73-D68D-B9F8BF708BBD}"/>
              </a:ext>
            </a:extLst>
          </p:cNvPr>
          <p:cNvSpPr/>
          <p:nvPr/>
        </p:nvSpPr>
        <p:spPr>
          <a:xfrm>
            <a:off x="3304902" y="1989909"/>
            <a:ext cx="2514600" cy="1097280"/>
          </a:xfrm>
          <a:prstGeom prst="roundRect">
            <a:avLst>
              <a:gd name="adj" fmla="val 5833"/>
            </a:avLst>
          </a:prstGeom>
          <a:solidFill>
            <a:srgbClr val="F3F6FB"/>
          </a:solidFill>
          <a:ln w="9525">
            <a:solidFill>
              <a:srgbClr val="D8E0EC"/>
            </a:solidFill>
            <a:prstDash val="solid"/>
          </a:ln>
          <a:effectLst>
            <a:outerShdw blurRad="101600" dist="25400" dir="5400000" algn="bl" rotWithShape="0">
              <a:srgbClr val="000000">
                <a:alpha val="10000"/>
              </a:srgbClr>
            </a:outerShdw>
          </a:effectLst>
        </p:spPr>
        <p:txBody>
          <a:bodyPr/>
          <a:lstStyle/>
          <a:p>
            <a:endParaRPr lang="fr-FR"/>
          </a:p>
        </p:txBody>
      </p:sp>
      <p:sp>
        <p:nvSpPr>
          <p:cNvPr id="19" name="Text 7">
            <a:extLst>
              <a:ext uri="{FF2B5EF4-FFF2-40B4-BE49-F238E27FC236}">
                <a16:creationId xmlns:a16="http://schemas.microsoft.com/office/drawing/2014/main" id="{009FDDC5-9F88-7799-6347-969BAA7736AB}"/>
              </a:ext>
            </a:extLst>
          </p:cNvPr>
          <p:cNvSpPr/>
          <p:nvPr/>
        </p:nvSpPr>
        <p:spPr>
          <a:xfrm>
            <a:off x="3304902" y="2035629"/>
            <a:ext cx="2514600" cy="640080"/>
          </a:xfrm>
          <a:prstGeom prst="rect">
            <a:avLst/>
          </a:prstGeom>
          <a:noFill/>
          <a:ln/>
        </p:spPr>
        <p:txBody>
          <a:bodyPr wrap="square" lIns="0" tIns="0" rIns="0" bIns="0" rtlCol="0" anchor="ctr"/>
          <a:lstStyle/>
          <a:p>
            <a:pPr marL="0" indent="0" algn="ctr">
              <a:buNone/>
            </a:pPr>
            <a:r>
              <a:rPr lang="en-US" sz="3300" b="1" dirty="0">
                <a:solidFill>
                  <a:srgbClr val="13294B"/>
                </a:solidFill>
                <a:latin typeface="Calibri" pitchFamily="34" charset="0"/>
                <a:ea typeface="Calibri" pitchFamily="34" charset="-122"/>
                <a:cs typeface="Calibri" pitchFamily="34" charset="-120"/>
              </a:rPr>
              <a:t>48</a:t>
            </a:r>
            <a:endParaRPr lang="en-US" sz="3300" dirty="0"/>
          </a:p>
        </p:txBody>
      </p:sp>
      <p:sp>
        <p:nvSpPr>
          <p:cNvPr id="21" name="Text 8">
            <a:extLst>
              <a:ext uri="{FF2B5EF4-FFF2-40B4-BE49-F238E27FC236}">
                <a16:creationId xmlns:a16="http://schemas.microsoft.com/office/drawing/2014/main" id="{22BB63B2-32F1-EBB7-FD12-00105EF964FA}"/>
              </a:ext>
            </a:extLst>
          </p:cNvPr>
          <p:cNvSpPr/>
          <p:nvPr/>
        </p:nvSpPr>
        <p:spPr>
          <a:xfrm>
            <a:off x="3304902" y="2584269"/>
            <a:ext cx="2514600" cy="502920"/>
          </a:xfrm>
          <a:prstGeom prst="rect">
            <a:avLst/>
          </a:prstGeom>
          <a:noFill/>
          <a:ln/>
        </p:spPr>
        <p:txBody>
          <a:bodyPr wrap="square" lIns="0" tIns="0" rIns="0" bIns="0" rtlCol="0" anchor="ctr"/>
          <a:lstStyle/>
          <a:p>
            <a:pPr marL="0" indent="0" algn="ctr">
              <a:buNone/>
            </a:pPr>
            <a:r>
              <a:rPr lang="en-US" sz="2000" dirty="0">
                <a:solidFill>
                  <a:srgbClr val="6B7785"/>
                </a:solidFill>
                <a:latin typeface="Calibri" pitchFamily="34" charset="0"/>
                <a:ea typeface="Calibri" pitchFamily="34" charset="-122"/>
                <a:cs typeface="Calibri" pitchFamily="34" charset="-120"/>
              </a:rPr>
              <a:t>companies</a:t>
            </a:r>
            <a:endParaRPr lang="en-US" sz="2000" dirty="0"/>
          </a:p>
        </p:txBody>
      </p:sp>
      <p:sp>
        <p:nvSpPr>
          <p:cNvPr id="23" name="Shape 9">
            <a:extLst>
              <a:ext uri="{FF2B5EF4-FFF2-40B4-BE49-F238E27FC236}">
                <a16:creationId xmlns:a16="http://schemas.microsoft.com/office/drawing/2014/main" id="{3FB5B413-9CFB-8979-5483-13BD11461AD3}"/>
              </a:ext>
            </a:extLst>
          </p:cNvPr>
          <p:cNvSpPr/>
          <p:nvPr/>
        </p:nvSpPr>
        <p:spPr>
          <a:xfrm>
            <a:off x="515982" y="3224349"/>
            <a:ext cx="2514600" cy="1097280"/>
          </a:xfrm>
          <a:prstGeom prst="roundRect">
            <a:avLst>
              <a:gd name="adj" fmla="val 5833"/>
            </a:avLst>
          </a:prstGeom>
          <a:solidFill>
            <a:srgbClr val="F3F6FB"/>
          </a:solidFill>
          <a:ln w="9525">
            <a:solidFill>
              <a:srgbClr val="D8E0EC"/>
            </a:solidFill>
            <a:prstDash val="solid"/>
          </a:ln>
          <a:effectLst>
            <a:outerShdw blurRad="101600" dist="25400" dir="5400000" algn="bl" rotWithShape="0">
              <a:srgbClr val="000000">
                <a:alpha val="10000"/>
              </a:srgbClr>
            </a:outerShdw>
          </a:effectLst>
        </p:spPr>
        <p:txBody>
          <a:bodyPr/>
          <a:lstStyle/>
          <a:p>
            <a:endParaRPr lang="fr-FR"/>
          </a:p>
        </p:txBody>
      </p:sp>
      <p:sp>
        <p:nvSpPr>
          <p:cNvPr id="25" name="Text 10">
            <a:extLst>
              <a:ext uri="{FF2B5EF4-FFF2-40B4-BE49-F238E27FC236}">
                <a16:creationId xmlns:a16="http://schemas.microsoft.com/office/drawing/2014/main" id="{05E763E1-7BD2-23BB-F708-430D94D4E56E}"/>
              </a:ext>
            </a:extLst>
          </p:cNvPr>
          <p:cNvSpPr/>
          <p:nvPr/>
        </p:nvSpPr>
        <p:spPr>
          <a:xfrm>
            <a:off x="515982" y="3224349"/>
            <a:ext cx="2514600" cy="640080"/>
          </a:xfrm>
          <a:prstGeom prst="rect">
            <a:avLst/>
          </a:prstGeom>
          <a:noFill/>
          <a:ln/>
        </p:spPr>
        <p:txBody>
          <a:bodyPr wrap="square" lIns="0" tIns="0" rIns="0" bIns="0" rtlCol="0" anchor="ctr"/>
          <a:lstStyle/>
          <a:p>
            <a:pPr marL="0" indent="0" algn="ctr">
              <a:buNone/>
            </a:pPr>
            <a:r>
              <a:rPr lang="en-US" sz="3300" b="1" dirty="0">
                <a:solidFill>
                  <a:srgbClr val="13294B"/>
                </a:solidFill>
                <a:latin typeface="Calibri" pitchFamily="34" charset="0"/>
                <a:ea typeface="Calibri" pitchFamily="34" charset="-122"/>
                <a:cs typeface="Calibri" pitchFamily="34" charset="-120"/>
              </a:rPr>
              <a:t>11</a:t>
            </a:r>
            <a:endParaRPr lang="en-US" sz="3300" dirty="0"/>
          </a:p>
        </p:txBody>
      </p:sp>
      <p:sp>
        <p:nvSpPr>
          <p:cNvPr id="27" name="Text 11">
            <a:extLst>
              <a:ext uri="{FF2B5EF4-FFF2-40B4-BE49-F238E27FC236}">
                <a16:creationId xmlns:a16="http://schemas.microsoft.com/office/drawing/2014/main" id="{DBC8AF35-76FA-50E9-71B7-9CBDA7968751}"/>
              </a:ext>
            </a:extLst>
          </p:cNvPr>
          <p:cNvSpPr/>
          <p:nvPr/>
        </p:nvSpPr>
        <p:spPr>
          <a:xfrm>
            <a:off x="515982" y="3864429"/>
            <a:ext cx="2514600" cy="502920"/>
          </a:xfrm>
          <a:prstGeom prst="rect">
            <a:avLst/>
          </a:prstGeom>
          <a:noFill/>
          <a:ln/>
        </p:spPr>
        <p:txBody>
          <a:bodyPr wrap="square" lIns="0" tIns="0" rIns="0" bIns="0" rtlCol="0" anchor="ctr"/>
          <a:lstStyle/>
          <a:p>
            <a:pPr marL="0" indent="0" algn="ctr">
              <a:buNone/>
            </a:pPr>
            <a:r>
              <a:rPr lang="en-US" sz="2000" dirty="0">
                <a:solidFill>
                  <a:srgbClr val="6B7785"/>
                </a:solidFill>
                <a:latin typeface="Calibri" pitchFamily="34" charset="0"/>
                <a:ea typeface="Calibri" pitchFamily="34" charset="-122"/>
                <a:cs typeface="Calibri" pitchFamily="34" charset="-120"/>
              </a:rPr>
              <a:t>universities</a:t>
            </a:r>
            <a:endParaRPr lang="en-US" sz="2000" dirty="0"/>
          </a:p>
        </p:txBody>
      </p:sp>
      <p:sp>
        <p:nvSpPr>
          <p:cNvPr id="29" name="Shape 12">
            <a:extLst>
              <a:ext uri="{FF2B5EF4-FFF2-40B4-BE49-F238E27FC236}">
                <a16:creationId xmlns:a16="http://schemas.microsoft.com/office/drawing/2014/main" id="{6F38649C-7B05-D7E9-6505-71619EF91B16}"/>
              </a:ext>
            </a:extLst>
          </p:cNvPr>
          <p:cNvSpPr/>
          <p:nvPr/>
        </p:nvSpPr>
        <p:spPr>
          <a:xfrm>
            <a:off x="3304902" y="3224349"/>
            <a:ext cx="2514600" cy="1097280"/>
          </a:xfrm>
          <a:prstGeom prst="roundRect">
            <a:avLst>
              <a:gd name="adj" fmla="val 5833"/>
            </a:avLst>
          </a:prstGeom>
          <a:solidFill>
            <a:srgbClr val="F3F6FB"/>
          </a:solidFill>
          <a:ln w="9525">
            <a:solidFill>
              <a:srgbClr val="D8E0EC"/>
            </a:solidFill>
            <a:prstDash val="solid"/>
          </a:ln>
          <a:effectLst>
            <a:outerShdw blurRad="101600" dist="25400" dir="5400000" algn="bl" rotWithShape="0">
              <a:srgbClr val="000000">
                <a:alpha val="10000"/>
              </a:srgbClr>
            </a:outerShdw>
          </a:effectLst>
        </p:spPr>
        <p:txBody>
          <a:bodyPr/>
          <a:lstStyle/>
          <a:p>
            <a:endParaRPr lang="fr-FR"/>
          </a:p>
        </p:txBody>
      </p:sp>
      <p:sp>
        <p:nvSpPr>
          <p:cNvPr id="31" name="Text 13">
            <a:extLst>
              <a:ext uri="{FF2B5EF4-FFF2-40B4-BE49-F238E27FC236}">
                <a16:creationId xmlns:a16="http://schemas.microsoft.com/office/drawing/2014/main" id="{FD3FFA76-2355-7355-01E2-3E4062673D21}"/>
              </a:ext>
            </a:extLst>
          </p:cNvPr>
          <p:cNvSpPr/>
          <p:nvPr/>
        </p:nvSpPr>
        <p:spPr>
          <a:xfrm>
            <a:off x="3304902" y="3234787"/>
            <a:ext cx="2514600" cy="640080"/>
          </a:xfrm>
          <a:prstGeom prst="rect">
            <a:avLst/>
          </a:prstGeom>
          <a:noFill/>
          <a:ln/>
        </p:spPr>
        <p:txBody>
          <a:bodyPr wrap="square" lIns="0" tIns="0" rIns="0" bIns="0" rtlCol="0" anchor="ctr"/>
          <a:lstStyle/>
          <a:p>
            <a:pPr marL="0" indent="0" algn="ctr">
              <a:buNone/>
            </a:pPr>
            <a:r>
              <a:rPr lang="en-US" sz="3300" b="1" dirty="0">
                <a:solidFill>
                  <a:srgbClr val="13294B"/>
                </a:solidFill>
                <a:latin typeface="Calibri" pitchFamily="34" charset="0"/>
                <a:ea typeface="Calibri" pitchFamily="34" charset="-122"/>
                <a:cs typeface="Calibri" pitchFamily="34" charset="-120"/>
              </a:rPr>
              <a:t>37</a:t>
            </a:r>
            <a:endParaRPr lang="en-US" sz="3300" dirty="0"/>
          </a:p>
        </p:txBody>
      </p:sp>
      <p:sp>
        <p:nvSpPr>
          <p:cNvPr id="33" name="Text 14">
            <a:extLst>
              <a:ext uri="{FF2B5EF4-FFF2-40B4-BE49-F238E27FC236}">
                <a16:creationId xmlns:a16="http://schemas.microsoft.com/office/drawing/2014/main" id="{70ED36AE-9746-BC03-7425-D43A1B769C2A}"/>
              </a:ext>
            </a:extLst>
          </p:cNvPr>
          <p:cNvSpPr/>
          <p:nvPr/>
        </p:nvSpPr>
        <p:spPr>
          <a:xfrm>
            <a:off x="3304902" y="3818709"/>
            <a:ext cx="2514600" cy="502920"/>
          </a:xfrm>
          <a:prstGeom prst="rect">
            <a:avLst/>
          </a:prstGeom>
          <a:noFill/>
          <a:ln/>
        </p:spPr>
        <p:txBody>
          <a:bodyPr wrap="square" lIns="0" tIns="0" rIns="0" bIns="0" rtlCol="0" anchor="ctr"/>
          <a:lstStyle/>
          <a:p>
            <a:pPr marL="0" indent="0" algn="ctr">
              <a:buNone/>
            </a:pPr>
            <a:r>
              <a:rPr lang="en-US" sz="2000" dirty="0">
                <a:solidFill>
                  <a:srgbClr val="6B7785"/>
                </a:solidFill>
                <a:latin typeface="Calibri" pitchFamily="34" charset="0"/>
                <a:ea typeface="Calibri" pitchFamily="34" charset="-122"/>
                <a:cs typeface="Calibri" pitchFamily="34" charset="-120"/>
              </a:rPr>
              <a:t>initial supporters on stage</a:t>
            </a:r>
            <a:endParaRPr lang="en-US" sz="2000" dirty="0"/>
          </a:p>
        </p:txBody>
      </p:sp>
      <p:sp>
        <p:nvSpPr>
          <p:cNvPr id="35" name="Shape 15">
            <a:extLst>
              <a:ext uri="{FF2B5EF4-FFF2-40B4-BE49-F238E27FC236}">
                <a16:creationId xmlns:a16="http://schemas.microsoft.com/office/drawing/2014/main" id="{79C8BF8B-D585-7F2A-07BE-79D38A755164}"/>
              </a:ext>
            </a:extLst>
          </p:cNvPr>
          <p:cNvSpPr/>
          <p:nvPr/>
        </p:nvSpPr>
        <p:spPr>
          <a:xfrm>
            <a:off x="515982" y="4687389"/>
            <a:ext cx="11091672" cy="1645920"/>
          </a:xfrm>
          <a:prstGeom prst="roundRect">
            <a:avLst>
              <a:gd name="adj" fmla="val 3889"/>
            </a:avLst>
          </a:prstGeom>
          <a:solidFill>
            <a:srgbClr val="F3F6FB"/>
          </a:solidFill>
          <a:ln w="9525">
            <a:solidFill>
              <a:srgbClr val="D8E0EC"/>
            </a:solidFill>
            <a:prstDash val="solid"/>
          </a:ln>
          <a:effectLst>
            <a:outerShdw blurRad="101600" dist="25400" dir="5400000" algn="bl" rotWithShape="0">
              <a:srgbClr val="000000">
                <a:alpha val="10000"/>
              </a:srgbClr>
            </a:outerShdw>
          </a:effectLst>
        </p:spPr>
        <p:txBody>
          <a:bodyPr/>
          <a:lstStyle/>
          <a:p>
            <a:endParaRPr lang="fr-FR"/>
          </a:p>
        </p:txBody>
      </p:sp>
      <p:sp>
        <p:nvSpPr>
          <p:cNvPr id="37" name="Text 16">
            <a:extLst>
              <a:ext uri="{FF2B5EF4-FFF2-40B4-BE49-F238E27FC236}">
                <a16:creationId xmlns:a16="http://schemas.microsoft.com/office/drawing/2014/main" id="{968B8353-70D2-2BDA-AFD7-325C1903FA7F}"/>
              </a:ext>
            </a:extLst>
          </p:cNvPr>
          <p:cNvSpPr/>
          <p:nvPr/>
        </p:nvSpPr>
        <p:spPr>
          <a:xfrm>
            <a:off x="836022" y="4915989"/>
            <a:ext cx="10451592" cy="1188720"/>
          </a:xfrm>
          <a:prstGeom prst="rect">
            <a:avLst/>
          </a:prstGeom>
          <a:noFill/>
          <a:ln/>
        </p:spPr>
        <p:txBody>
          <a:bodyPr wrap="square" lIns="0" tIns="0" rIns="0" bIns="0" rtlCol="0" anchor="ctr"/>
          <a:lstStyle/>
          <a:p>
            <a:pPr marL="0" indent="0">
              <a:buNone/>
            </a:pPr>
            <a:r>
              <a:rPr lang="en-US" sz="2400" b="1" dirty="0">
                <a:solidFill>
                  <a:srgbClr val="2E7D5B"/>
                </a:solidFill>
                <a:latin typeface="Calibri" pitchFamily="34" charset="0"/>
                <a:ea typeface="Calibri" pitchFamily="34" charset="-122"/>
                <a:cs typeface="Calibri" pitchFamily="34" charset="-120"/>
              </a:rPr>
              <a:t>Open to all, free of charge, no ITU membership required.</a:t>
            </a:r>
            <a:endParaRPr lang="en-US" sz="2400" dirty="0"/>
          </a:p>
          <a:p>
            <a:r>
              <a:rPr lang="en-US" sz="2400" b="1" dirty="0">
                <a:solidFill>
                  <a:srgbClr val="0563C1"/>
                </a:solidFill>
                <a:hlinkClick r:id="rId5"/>
              </a:rPr>
              <a:t>FG-TIDA at ITU</a:t>
            </a:r>
            <a:r>
              <a:rPr lang="en-US" sz="2400" dirty="0"/>
              <a:t>   ·   </a:t>
            </a:r>
            <a:r>
              <a:rPr lang="en-US" sz="2400" b="1" dirty="0">
                <a:solidFill>
                  <a:srgbClr val="0563C1"/>
                </a:solidFill>
                <a:hlinkClick r:id="rId6"/>
              </a:rPr>
              <a:t>tida.community</a:t>
            </a:r>
            <a:r>
              <a:rPr lang="en-US" sz="2400" dirty="0"/>
              <a:t>   ·   </a:t>
            </a:r>
            <a:r>
              <a:rPr lang="en-US" sz="2400" b="1" dirty="0">
                <a:solidFill>
                  <a:srgbClr val="0563C1"/>
                </a:solidFill>
                <a:hlinkClick r:id="rId7"/>
              </a:rPr>
              <a:t>Terms of Reference</a:t>
            </a:r>
          </a:p>
        </p:txBody>
      </p:sp>
    </p:spTree>
    <p:extLst>
      <p:ext uri="{BB962C8B-B14F-4D97-AF65-F5344CB8AC3E}">
        <p14:creationId xmlns:p14="http://schemas.microsoft.com/office/powerpoint/2010/main" val="2270079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271F3-66C6-81AB-3E6C-A165D5237CC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5CDB98A-64C3-BC70-BE02-4BD8390CD59B}"/>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1401A143-544D-3018-4757-57592FB4020C}"/>
              </a:ext>
            </a:extLst>
          </p:cNvPr>
          <p:cNvSpPr>
            <a:spLocks noGrp="1"/>
          </p:cNvSpPr>
          <p:nvPr>
            <p:ph type="title"/>
          </p:nvPr>
        </p:nvSpPr>
        <p:spPr>
          <a:xfrm>
            <a:off x="341085" y="219392"/>
            <a:ext cx="10515600" cy="1325563"/>
          </a:xfrm>
        </p:spPr>
        <p:txBody>
          <a:bodyPr/>
          <a:lstStyle/>
          <a:p>
            <a:r>
              <a:rPr lang="en-US" dirty="0">
                <a:solidFill>
                  <a:schemeClr val="bg1"/>
                </a:solidFill>
              </a:rPr>
              <a:t>What is happening next?</a:t>
            </a:r>
            <a:endParaRPr lang="en-GB" noProof="0" dirty="0">
              <a:solidFill>
                <a:schemeClr val="bg1"/>
              </a:solidFill>
            </a:endParaRPr>
          </a:p>
        </p:txBody>
      </p:sp>
      <p:pic>
        <p:nvPicPr>
          <p:cNvPr id="13" name="Picture 12">
            <a:extLst>
              <a:ext uri="{FF2B5EF4-FFF2-40B4-BE49-F238E27FC236}">
                <a16:creationId xmlns:a16="http://schemas.microsoft.com/office/drawing/2014/main" id="{6E54ECDD-3B2C-A3CD-7CB7-C6EE71066C27}"/>
              </a:ext>
            </a:extLst>
          </p:cNvPr>
          <p:cNvPicPr>
            <a:picLocks noChangeAspect="1"/>
          </p:cNvPicPr>
          <p:nvPr/>
        </p:nvPicPr>
        <p:blipFill>
          <a:blip r:embed="rId2"/>
          <a:stretch>
            <a:fillRect/>
          </a:stretch>
        </p:blipFill>
        <p:spPr>
          <a:xfrm>
            <a:off x="9958212" y="107366"/>
            <a:ext cx="2064271" cy="696502"/>
          </a:xfrm>
          <a:prstGeom prst="rect">
            <a:avLst/>
          </a:prstGeom>
        </p:spPr>
      </p:pic>
      <p:sp>
        <p:nvSpPr>
          <p:cNvPr id="4" name="Shape 2">
            <a:extLst>
              <a:ext uri="{FF2B5EF4-FFF2-40B4-BE49-F238E27FC236}">
                <a16:creationId xmlns:a16="http://schemas.microsoft.com/office/drawing/2014/main" id="{D58F7392-D9C0-9848-5C5B-B146EAC5BB25}"/>
              </a:ext>
            </a:extLst>
          </p:cNvPr>
          <p:cNvSpPr/>
          <p:nvPr/>
        </p:nvSpPr>
        <p:spPr>
          <a:xfrm>
            <a:off x="439782" y="1827128"/>
            <a:ext cx="11091672" cy="566928"/>
          </a:xfrm>
          <a:prstGeom prst="roundRect">
            <a:avLst>
              <a:gd name="adj" fmla="val 8065"/>
            </a:avLst>
          </a:prstGeom>
          <a:solidFill>
            <a:srgbClr val="F3F6FB"/>
          </a:solidFill>
          <a:ln w="6350">
            <a:solidFill>
              <a:srgbClr val="D8E0EC"/>
            </a:solidFill>
            <a:prstDash val="solid"/>
          </a:ln>
        </p:spPr>
        <p:txBody>
          <a:bodyPr/>
          <a:lstStyle/>
          <a:p>
            <a:endParaRPr lang="fr-FR"/>
          </a:p>
        </p:txBody>
      </p:sp>
      <p:sp>
        <p:nvSpPr>
          <p:cNvPr id="6" name="Shape 3">
            <a:extLst>
              <a:ext uri="{FF2B5EF4-FFF2-40B4-BE49-F238E27FC236}">
                <a16:creationId xmlns:a16="http://schemas.microsoft.com/office/drawing/2014/main" id="{F6622112-DA0D-4886-98AC-865B66593B5C}"/>
              </a:ext>
            </a:extLst>
          </p:cNvPr>
          <p:cNvSpPr/>
          <p:nvPr/>
        </p:nvSpPr>
        <p:spPr>
          <a:xfrm>
            <a:off x="640950" y="2028296"/>
            <a:ext cx="164592" cy="164592"/>
          </a:xfrm>
          <a:prstGeom prst="ellipse">
            <a:avLst/>
          </a:prstGeom>
          <a:solidFill>
            <a:srgbClr val="F2A900"/>
          </a:solidFill>
          <a:ln/>
        </p:spPr>
        <p:txBody>
          <a:bodyPr/>
          <a:lstStyle/>
          <a:p>
            <a:endParaRPr lang="fr-FR"/>
          </a:p>
        </p:txBody>
      </p:sp>
      <p:sp>
        <p:nvSpPr>
          <p:cNvPr id="10" name="Text 4">
            <a:extLst>
              <a:ext uri="{FF2B5EF4-FFF2-40B4-BE49-F238E27FC236}">
                <a16:creationId xmlns:a16="http://schemas.microsoft.com/office/drawing/2014/main" id="{B601F10D-4C5E-C261-7162-58261879DC3D}"/>
              </a:ext>
            </a:extLst>
          </p:cNvPr>
          <p:cNvSpPr/>
          <p:nvPr/>
        </p:nvSpPr>
        <p:spPr>
          <a:xfrm>
            <a:off x="988422" y="1827128"/>
            <a:ext cx="2286000" cy="56692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7 Sep 2026</a:t>
            </a:r>
            <a:endParaRPr lang="en-US" sz="1300" dirty="0"/>
          </a:p>
        </p:txBody>
      </p:sp>
      <p:sp>
        <p:nvSpPr>
          <p:cNvPr id="12" name="Text 5">
            <a:extLst>
              <a:ext uri="{FF2B5EF4-FFF2-40B4-BE49-F238E27FC236}">
                <a16:creationId xmlns:a16="http://schemas.microsoft.com/office/drawing/2014/main" id="{AF2B81CC-4347-6B3F-8BA8-4B7F0D139A47}"/>
              </a:ext>
            </a:extLst>
          </p:cNvPr>
          <p:cNvSpPr/>
          <p:nvPr/>
        </p:nvSpPr>
        <p:spPr>
          <a:xfrm>
            <a:off x="3365862" y="1827128"/>
            <a:ext cx="4572000" cy="566928"/>
          </a:xfrm>
          <a:prstGeom prst="rect">
            <a:avLst/>
          </a:prstGeom>
          <a:noFill/>
          <a:ln/>
        </p:spPr>
        <p:txBody>
          <a:bodyPr wrap="square" lIns="0" tIns="0" rIns="0" bIns="0" rtlCol="0" anchor="ctr"/>
          <a:lstStyle/>
          <a:p>
            <a:pPr marL="0" indent="0">
              <a:buNone/>
            </a:pPr>
            <a:r>
              <a:rPr lang="en-US" sz="1250" b="1" dirty="0">
                <a:solidFill>
                  <a:srgbClr val="22303C"/>
                </a:solidFill>
                <a:latin typeface="Calibri" pitchFamily="34" charset="0"/>
                <a:ea typeface="Calibri" pitchFamily="34" charset="-122"/>
                <a:cs typeface="Calibri" pitchFamily="34" charset="-120"/>
              </a:rPr>
              <a:t>2nd SG17 Content Week, Chongqing (China)</a:t>
            </a:r>
            <a:endParaRPr lang="en-US" sz="1250" dirty="0"/>
          </a:p>
        </p:txBody>
      </p:sp>
      <p:sp>
        <p:nvSpPr>
          <p:cNvPr id="15" name="Text 6">
            <a:extLst>
              <a:ext uri="{FF2B5EF4-FFF2-40B4-BE49-F238E27FC236}">
                <a16:creationId xmlns:a16="http://schemas.microsoft.com/office/drawing/2014/main" id="{257B9995-1919-02C8-359C-AB3EB0092781}"/>
              </a:ext>
            </a:extLst>
          </p:cNvPr>
          <p:cNvSpPr/>
          <p:nvPr/>
        </p:nvSpPr>
        <p:spPr>
          <a:xfrm>
            <a:off x="8029302" y="1827128"/>
            <a:ext cx="3319272" cy="566928"/>
          </a:xfrm>
          <a:prstGeom prst="rect">
            <a:avLst/>
          </a:prstGeom>
          <a:noFill/>
          <a:ln/>
        </p:spPr>
        <p:txBody>
          <a:bodyPr wrap="square" lIns="0" tIns="0" rIns="0" bIns="0"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Two SG17 workshops: ITS/CAV security · Secure Agentic AI</a:t>
            </a:r>
            <a:endParaRPr lang="en-US" sz="1150" dirty="0"/>
          </a:p>
        </p:txBody>
      </p:sp>
      <p:sp>
        <p:nvSpPr>
          <p:cNvPr id="17" name="Shape 7">
            <a:extLst>
              <a:ext uri="{FF2B5EF4-FFF2-40B4-BE49-F238E27FC236}">
                <a16:creationId xmlns:a16="http://schemas.microsoft.com/office/drawing/2014/main" id="{C03A5987-FF6C-19C9-CEF9-CE8003855208}"/>
              </a:ext>
            </a:extLst>
          </p:cNvPr>
          <p:cNvSpPr/>
          <p:nvPr/>
        </p:nvSpPr>
        <p:spPr>
          <a:xfrm>
            <a:off x="439782" y="2476352"/>
            <a:ext cx="11091672" cy="566928"/>
          </a:xfrm>
          <a:prstGeom prst="roundRect">
            <a:avLst>
              <a:gd name="adj" fmla="val 8065"/>
            </a:avLst>
          </a:prstGeom>
          <a:solidFill>
            <a:srgbClr val="FFFFFF"/>
          </a:solidFill>
          <a:ln w="6350">
            <a:solidFill>
              <a:srgbClr val="D8E0EC"/>
            </a:solidFill>
            <a:prstDash val="solid"/>
          </a:ln>
        </p:spPr>
        <p:txBody>
          <a:bodyPr/>
          <a:lstStyle/>
          <a:p>
            <a:endParaRPr lang="fr-FR"/>
          </a:p>
        </p:txBody>
      </p:sp>
      <p:sp>
        <p:nvSpPr>
          <p:cNvPr id="19" name="Shape 8">
            <a:extLst>
              <a:ext uri="{FF2B5EF4-FFF2-40B4-BE49-F238E27FC236}">
                <a16:creationId xmlns:a16="http://schemas.microsoft.com/office/drawing/2014/main" id="{8AD3EE46-3F48-E0A6-974F-91FE87469589}"/>
              </a:ext>
            </a:extLst>
          </p:cNvPr>
          <p:cNvSpPr/>
          <p:nvPr/>
        </p:nvSpPr>
        <p:spPr>
          <a:xfrm>
            <a:off x="640950" y="2677520"/>
            <a:ext cx="164592" cy="164592"/>
          </a:xfrm>
          <a:prstGeom prst="ellipse">
            <a:avLst/>
          </a:prstGeom>
          <a:solidFill>
            <a:srgbClr val="F2A900"/>
          </a:solidFill>
          <a:ln/>
        </p:spPr>
        <p:txBody>
          <a:bodyPr/>
          <a:lstStyle/>
          <a:p>
            <a:endParaRPr lang="fr-FR"/>
          </a:p>
        </p:txBody>
      </p:sp>
      <p:sp>
        <p:nvSpPr>
          <p:cNvPr id="21" name="Text 9">
            <a:extLst>
              <a:ext uri="{FF2B5EF4-FFF2-40B4-BE49-F238E27FC236}">
                <a16:creationId xmlns:a16="http://schemas.microsoft.com/office/drawing/2014/main" id="{FFF788A3-F3F4-3B59-53CD-83D85B76940C}"/>
              </a:ext>
            </a:extLst>
          </p:cNvPr>
          <p:cNvSpPr/>
          <p:nvPr/>
        </p:nvSpPr>
        <p:spPr>
          <a:xfrm>
            <a:off x="988422" y="2476352"/>
            <a:ext cx="2286000" cy="56692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7 Oct 2026</a:t>
            </a:r>
            <a:endParaRPr lang="en-US" sz="1300" dirty="0"/>
          </a:p>
        </p:txBody>
      </p:sp>
      <p:sp>
        <p:nvSpPr>
          <p:cNvPr id="23" name="Text 10">
            <a:extLst>
              <a:ext uri="{FF2B5EF4-FFF2-40B4-BE49-F238E27FC236}">
                <a16:creationId xmlns:a16="http://schemas.microsoft.com/office/drawing/2014/main" id="{C38DEFA1-61FC-8BF3-50DA-5F927E357A60}"/>
              </a:ext>
            </a:extLst>
          </p:cNvPr>
          <p:cNvSpPr/>
          <p:nvPr/>
        </p:nvSpPr>
        <p:spPr>
          <a:xfrm>
            <a:off x="3365862" y="2476352"/>
            <a:ext cx="4572000" cy="566928"/>
          </a:xfrm>
          <a:prstGeom prst="rect">
            <a:avLst/>
          </a:prstGeom>
          <a:noFill/>
          <a:ln/>
        </p:spPr>
        <p:txBody>
          <a:bodyPr wrap="square" lIns="0" tIns="0" rIns="0" bIns="0" rtlCol="0" anchor="ctr"/>
          <a:lstStyle/>
          <a:p>
            <a:pPr marL="0" indent="0">
              <a:buNone/>
            </a:pPr>
            <a:r>
              <a:rPr lang="en-US" sz="1250" b="1" dirty="0">
                <a:solidFill>
                  <a:srgbClr val="22303C"/>
                </a:solidFill>
                <a:latin typeface="Calibri" pitchFamily="34" charset="0"/>
                <a:ea typeface="Calibri" pitchFamily="34" charset="-122"/>
                <a:cs typeface="Calibri" pitchFamily="34" charset="-120"/>
              </a:rPr>
              <a:t>Interim SG17 plenary (virtual)</a:t>
            </a:r>
            <a:endParaRPr lang="en-US" sz="1250" dirty="0"/>
          </a:p>
        </p:txBody>
      </p:sp>
      <p:sp>
        <p:nvSpPr>
          <p:cNvPr id="25" name="Text 11">
            <a:extLst>
              <a:ext uri="{FF2B5EF4-FFF2-40B4-BE49-F238E27FC236}">
                <a16:creationId xmlns:a16="http://schemas.microsoft.com/office/drawing/2014/main" id="{FF711D9E-BA67-D468-4F0D-054CCABBD701}"/>
              </a:ext>
            </a:extLst>
          </p:cNvPr>
          <p:cNvSpPr/>
          <p:nvPr/>
        </p:nvSpPr>
        <p:spPr>
          <a:xfrm>
            <a:off x="8029302" y="2476352"/>
            <a:ext cx="3319272" cy="566928"/>
          </a:xfrm>
          <a:prstGeom prst="rect">
            <a:avLst/>
          </a:prstGeom>
          <a:noFill/>
          <a:ln/>
        </p:spPr>
        <p:txBody>
          <a:bodyPr wrap="square" lIns="0" tIns="0" rIns="0" bIns="0"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Progress checkpoint</a:t>
            </a:r>
            <a:endParaRPr lang="en-US" sz="1150" dirty="0"/>
          </a:p>
        </p:txBody>
      </p:sp>
      <p:sp>
        <p:nvSpPr>
          <p:cNvPr id="27" name="Shape 12">
            <a:extLst>
              <a:ext uri="{FF2B5EF4-FFF2-40B4-BE49-F238E27FC236}">
                <a16:creationId xmlns:a16="http://schemas.microsoft.com/office/drawing/2014/main" id="{EF0BB0DC-8FAB-EA6A-9DB0-E0B42273BB22}"/>
              </a:ext>
            </a:extLst>
          </p:cNvPr>
          <p:cNvSpPr/>
          <p:nvPr/>
        </p:nvSpPr>
        <p:spPr>
          <a:xfrm>
            <a:off x="439782" y="3125576"/>
            <a:ext cx="11091672" cy="566928"/>
          </a:xfrm>
          <a:prstGeom prst="roundRect">
            <a:avLst>
              <a:gd name="adj" fmla="val 8065"/>
            </a:avLst>
          </a:prstGeom>
          <a:solidFill>
            <a:schemeClr val="accent2">
              <a:lumMod val="20000"/>
              <a:lumOff val="80000"/>
            </a:schemeClr>
          </a:solidFill>
          <a:ln w="6350">
            <a:solidFill>
              <a:srgbClr val="D8E0EC"/>
            </a:solidFill>
            <a:prstDash val="solid"/>
          </a:ln>
        </p:spPr>
        <p:txBody>
          <a:bodyPr/>
          <a:lstStyle/>
          <a:p>
            <a:endParaRPr lang="fr-FR"/>
          </a:p>
        </p:txBody>
      </p:sp>
      <p:sp>
        <p:nvSpPr>
          <p:cNvPr id="29" name="Shape 13">
            <a:extLst>
              <a:ext uri="{FF2B5EF4-FFF2-40B4-BE49-F238E27FC236}">
                <a16:creationId xmlns:a16="http://schemas.microsoft.com/office/drawing/2014/main" id="{5553A1F2-DC99-D3CF-8D6E-551EE65CE119}"/>
              </a:ext>
            </a:extLst>
          </p:cNvPr>
          <p:cNvSpPr/>
          <p:nvPr/>
        </p:nvSpPr>
        <p:spPr>
          <a:xfrm>
            <a:off x="640950" y="3326744"/>
            <a:ext cx="164592" cy="164592"/>
          </a:xfrm>
          <a:prstGeom prst="ellipse">
            <a:avLst/>
          </a:prstGeom>
          <a:solidFill>
            <a:srgbClr val="F2A900"/>
          </a:solidFill>
          <a:ln/>
        </p:spPr>
        <p:txBody>
          <a:bodyPr/>
          <a:lstStyle/>
          <a:p>
            <a:endParaRPr lang="fr-FR"/>
          </a:p>
        </p:txBody>
      </p:sp>
      <p:sp>
        <p:nvSpPr>
          <p:cNvPr id="31" name="Text 14">
            <a:extLst>
              <a:ext uri="{FF2B5EF4-FFF2-40B4-BE49-F238E27FC236}">
                <a16:creationId xmlns:a16="http://schemas.microsoft.com/office/drawing/2014/main" id="{F7B8CD1F-8BC2-EB4C-2BC2-6AD5AA4B537E}"/>
              </a:ext>
            </a:extLst>
          </p:cNvPr>
          <p:cNvSpPr/>
          <p:nvPr/>
        </p:nvSpPr>
        <p:spPr>
          <a:xfrm>
            <a:off x="988422" y="3125576"/>
            <a:ext cx="2286000" cy="56692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1–4 Dec 2026</a:t>
            </a:r>
            <a:endParaRPr lang="en-US" sz="1300" dirty="0"/>
          </a:p>
        </p:txBody>
      </p:sp>
      <p:sp>
        <p:nvSpPr>
          <p:cNvPr id="33" name="Text 15">
            <a:extLst>
              <a:ext uri="{FF2B5EF4-FFF2-40B4-BE49-F238E27FC236}">
                <a16:creationId xmlns:a16="http://schemas.microsoft.com/office/drawing/2014/main" id="{5BDEA9A6-E9CF-3999-AFBC-FF238AEF2D44}"/>
              </a:ext>
            </a:extLst>
          </p:cNvPr>
          <p:cNvSpPr/>
          <p:nvPr/>
        </p:nvSpPr>
        <p:spPr>
          <a:xfrm>
            <a:off x="3365862" y="3125576"/>
            <a:ext cx="4572000" cy="566928"/>
          </a:xfrm>
          <a:prstGeom prst="rect">
            <a:avLst/>
          </a:prstGeom>
          <a:noFill/>
          <a:ln/>
        </p:spPr>
        <p:txBody>
          <a:bodyPr wrap="square" lIns="0" tIns="0" rIns="0" bIns="0" rtlCol="0" anchor="ctr"/>
          <a:lstStyle/>
          <a:p>
            <a:pPr marL="0" indent="0">
              <a:buNone/>
            </a:pPr>
            <a:r>
              <a:rPr lang="en-US" sz="1250" b="1" dirty="0">
                <a:solidFill>
                  <a:srgbClr val="22303C"/>
                </a:solidFill>
                <a:latin typeface="Calibri" pitchFamily="34" charset="0"/>
                <a:ea typeface="Calibri" pitchFamily="34" charset="-122"/>
                <a:cs typeface="Calibri" pitchFamily="34" charset="-120"/>
              </a:rPr>
              <a:t>FG-TIDA 1st meeting, Paris</a:t>
            </a:r>
            <a:endParaRPr lang="en-US" sz="1250" dirty="0"/>
          </a:p>
        </p:txBody>
      </p:sp>
      <p:sp>
        <p:nvSpPr>
          <p:cNvPr id="35" name="Text 16">
            <a:extLst>
              <a:ext uri="{FF2B5EF4-FFF2-40B4-BE49-F238E27FC236}">
                <a16:creationId xmlns:a16="http://schemas.microsoft.com/office/drawing/2014/main" id="{B084754A-CCA7-7A12-D85B-51A5A0C35DC1}"/>
              </a:ext>
            </a:extLst>
          </p:cNvPr>
          <p:cNvSpPr/>
          <p:nvPr/>
        </p:nvSpPr>
        <p:spPr>
          <a:xfrm>
            <a:off x="8029302" y="3125576"/>
            <a:ext cx="3319272" cy="566928"/>
          </a:xfrm>
          <a:prstGeom prst="rect">
            <a:avLst/>
          </a:prstGeom>
          <a:noFill/>
          <a:ln/>
        </p:spPr>
        <p:txBody>
          <a:bodyPr wrap="square" lIns="0" tIns="0" rIns="0" bIns="0"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With the Digital Trust Convention at the OECD on 4 December</a:t>
            </a:r>
            <a:endParaRPr lang="en-US" sz="1150" dirty="0"/>
          </a:p>
        </p:txBody>
      </p:sp>
      <p:sp>
        <p:nvSpPr>
          <p:cNvPr id="37" name="Shape 17">
            <a:extLst>
              <a:ext uri="{FF2B5EF4-FFF2-40B4-BE49-F238E27FC236}">
                <a16:creationId xmlns:a16="http://schemas.microsoft.com/office/drawing/2014/main" id="{3B4FA4F4-82C6-6DFA-BE91-17867E622BC3}"/>
              </a:ext>
            </a:extLst>
          </p:cNvPr>
          <p:cNvSpPr/>
          <p:nvPr/>
        </p:nvSpPr>
        <p:spPr>
          <a:xfrm>
            <a:off x="439782" y="3774800"/>
            <a:ext cx="11091672" cy="566928"/>
          </a:xfrm>
          <a:prstGeom prst="roundRect">
            <a:avLst>
              <a:gd name="adj" fmla="val 8065"/>
            </a:avLst>
          </a:prstGeom>
          <a:solidFill>
            <a:srgbClr val="FFFFFF"/>
          </a:solidFill>
          <a:ln w="6350">
            <a:solidFill>
              <a:srgbClr val="D8E0EC"/>
            </a:solidFill>
            <a:prstDash val="solid"/>
          </a:ln>
        </p:spPr>
        <p:txBody>
          <a:bodyPr/>
          <a:lstStyle/>
          <a:p>
            <a:endParaRPr lang="fr-FR"/>
          </a:p>
        </p:txBody>
      </p:sp>
      <p:sp>
        <p:nvSpPr>
          <p:cNvPr id="39" name="Shape 18">
            <a:extLst>
              <a:ext uri="{FF2B5EF4-FFF2-40B4-BE49-F238E27FC236}">
                <a16:creationId xmlns:a16="http://schemas.microsoft.com/office/drawing/2014/main" id="{3D77BE2A-C8BD-678B-7880-26B19A072789}"/>
              </a:ext>
            </a:extLst>
          </p:cNvPr>
          <p:cNvSpPr/>
          <p:nvPr/>
        </p:nvSpPr>
        <p:spPr>
          <a:xfrm>
            <a:off x="640950" y="3975968"/>
            <a:ext cx="164592" cy="164592"/>
          </a:xfrm>
          <a:prstGeom prst="ellipse">
            <a:avLst/>
          </a:prstGeom>
          <a:solidFill>
            <a:srgbClr val="F2A900"/>
          </a:solidFill>
          <a:ln/>
        </p:spPr>
        <p:txBody>
          <a:bodyPr/>
          <a:lstStyle/>
          <a:p>
            <a:endParaRPr lang="fr-FR"/>
          </a:p>
        </p:txBody>
      </p:sp>
      <p:sp>
        <p:nvSpPr>
          <p:cNvPr id="41" name="Text 19">
            <a:extLst>
              <a:ext uri="{FF2B5EF4-FFF2-40B4-BE49-F238E27FC236}">
                <a16:creationId xmlns:a16="http://schemas.microsoft.com/office/drawing/2014/main" id="{B422F22D-79FB-1925-E842-94786F1FE35A}"/>
              </a:ext>
            </a:extLst>
          </p:cNvPr>
          <p:cNvSpPr/>
          <p:nvPr/>
        </p:nvSpPr>
        <p:spPr>
          <a:xfrm>
            <a:off x="988422" y="3774800"/>
            <a:ext cx="2286000" cy="56692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9 Dec 2026</a:t>
            </a:r>
            <a:endParaRPr lang="en-US" sz="1300" dirty="0"/>
          </a:p>
        </p:txBody>
      </p:sp>
      <p:sp>
        <p:nvSpPr>
          <p:cNvPr id="43" name="Text 20">
            <a:extLst>
              <a:ext uri="{FF2B5EF4-FFF2-40B4-BE49-F238E27FC236}">
                <a16:creationId xmlns:a16="http://schemas.microsoft.com/office/drawing/2014/main" id="{DE693480-4575-FC9F-062C-81D8A769D270}"/>
              </a:ext>
            </a:extLst>
          </p:cNvPr>
          <p:cNvSpPr/>
          <p:nvPr/>
        </p:nvSpPr>
        <p:spPr>
          <a:xfrm>
            <a:off x="3365862" y="3774800"/>
            <a:ext cx="4572000" cy="566928"/>
          </a:xfrm>
          <a:prstGeom prst="rect">
            <a:avLst/>
          </a:prstGeom>
          <a:noFill/>
          <a:ln/>
        </p:spPr>
        <p:txBody>
          <a:bodyPr wrap="square" lIns="0" tIns="0" rIns="0" bIns="0" rtlCol="0" anchor="ctr"/>
          <a:lstStyle/>
          <a:p>
            <a:pPr marL="0" indent="0">
              <a:buNone/>
            </a:pPr>
            <a:r>
              <a:rPr lang="en-US" sz="1250" b="1" dirty="0">
                <a:solidFill>
                  <a:srgbClr val="22303C"/>
                </a:solidFill>
                <a:latin typeface="Calibri" pitchFamily="34" charset="0"/>
                <a:ea typeface="Calibri" pitchFamily="34" charset="-122"/>
                <a:cs typeface="Calibri" pitchFamily="34" charset="-120"/>
              </a:rPr>
              <a:t>Interim SG17 plenary (virtual)</a:t>
            </a:r>
            <a:endParaRPr lang="en-US" sz="1250" dirty="0"/>
          </a:p>
        </p:txBody>
      </p:sp>
      <p:sp>
        <p:nvSpPr>
          <p:cNvPr id="45" name="Text 21">
            <a:extLst>
              <a:ext uri="{FF2B5EF4-FFF2-40B4-BE49-F238E27FC236}">
                <a16:creationId xmlns:a16="http://schemas.microsoft.com/office/drawing/2014/main" id="{10E28936-C959-F9A0-BC34-ACB31889DF35}"/>
              </a:ext>
            </a:extLst>
          </p:cNvPr>
          <p:cNvSpPr/>
          <p:nvPr/>
        </p:nvSpPr>
        <p:spPr>
          <a:xfrm>
            <a:off x="8029302" y="3774800"/>
            <a:ext cx="3319272" cy="566928"/>
          </a:xfrm>
          <a:prstGeom prst="rect">
            <a:avLst/>
          </a:prstGeom>
          <a:noFill/>
          <a:ln/>
        </p:spPr>
        <p:txBody>
          <a:bodyPr wrap="square" lIns="0" tIns="0" rIns="0" bIns="0"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Progress checkpoint</a:t>
            </a:r>
            <a:endParaRPr lang="en-US" sz="1150" dirty="0"/>
          </a:p>
        </p:txBody>
      </p:sp>
      <p:sp>
        <p:nvSpPr>
          <p:cNvPr id="47" name="Shape 22">
            <a:extLst>
              <a:ext uri="{FF2B5EF4-FFF2-40B4-BE49-F238E27FC236}">
                <a16:creationId xmlns:a16="http://schemas.microsoft.com/office/drawing/2014/main" id="{C69DBA3F-3283-5AD0-A8BA-FF1EF830C5EC}"/>
              </a:ext>
            </a:extLst>
          </p:cNvPr>
          <p:cNvSpPr/>
          <p:nvPr/>
        </p:nvSpPr>
        <p:spPr>
          <a:xfrm>
            <a:off x="439782" y="4424024"/>
            <a:ext cx="11091672" cy="566928"/>
          </a:xfrm>
          <a:prstGeom prst="roundRect">
            <a:avLst>
              <a:gd name="adj" fmla="val 8065"/>
            </a:avLst>
          </a:prstGeom>
          <a:solidFill>
            <a:srgbClr val="F3F6FB"/>
          </a:solidFill>
          <a:ln w="6350">
            <a:solidFill>
              <a:srgbClr val="D8E0EC"/>
            </a:solidFill>
            <a:prstDash val="solid"/>
          </a:ln>
        </p:spPr>
        <p:txBody>
          <a:bodyPr/>
          <a:lstStyle/>
          <a:p>
            <a:endParaRPr lang="fr-FR"/>
          </a:p>
        </p:txBody>
      </p:sp>
      <p:sp>
        <p:nvSpPr>
          <p:cNvPr id="49" name="Shape 23">
            <a:extLst>
              <a:ext uri="{FF2B5EF4-FFF2-40B4-BE49-F238E27FC236}">
                <a16:creationId xmlns:a16="http://schemas.microsoft.com/office/drawing/2014/main" id="{267A394E-C68C-C229-FC89-68BF593A23F0}"/>
              </a:ext>
            </a:extLst>
          </p:cNvPr>
          <p:cNvSpPr/>
          <p:nvPr/>
        </p:nvSpPr>
        <p:spPr>
          <a:xfrm>
            <a:off x="640950" y="4625192"/>
            <a:ext cx="164592" cy="164592"/>
          </a:xfrm>
          <a:prstGeom prst="ellipse">
            <a:avLst/>
          </a:prstGeom>
          <a:solidFill>
            <a:srgbClr val="F2A900"/>
          </a:solidFill>
          <a:ln/>
        </p:spPr>
        <p:txBody>
          <a:bodyPr/>
          <a:lstStyle/>
          <a:p>
            <a:endParaRPr lang="fr-FR"/>
          </a:p>
        </p:txBody>
      </p:sp>
      <p:sp>
        <p:nvSpPr>
          <p:cNvPr id="51" name="Text 24">
            <a:extLst>
              <a:ext uri="{FF2B5EF4-FFF2-40B4-BE49-F238E27FC236}">
                <a16:creationId xmlns:a16="http://schemas.microsoft.com/office/drawing/2014/main" id="{54F6896F-3A6E-B74E-5897-DB4989398B6A}"/>
              </a:ext>
            </a:extLst>
          </p:cNvPr>
          <p:cNvSpPr/>
          <p:nvPr/>
        </p:nvSpPr>
        <p:spPr>
          <a:xfrm>
            <a:off x="988422" y="4424024"/>
            <a:ext cx="2286000" cy="56692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25* Jan 2027</a:t>
            </a:r>
            <a:endParaRPr lang="en-US" sz="1300" dirty="0"/>
          </a:p>
        </p:txBody>
      </p:sp>
      <p:sp>
        <p:nvSpPr>
          <p:cNvPr id="53" name="Text 25">
            <a:extLst>
              <a:ext uri="{FF2B5EF4-FFF2-40B4-BE49-F238E27FC236}">
                <a16:creationId xmlns:a16="http://schemas.microsoft.com/office/drawing/2014/main" id="{8F32EBAD-7E47-D111-F01B-547719CF3842}"/>
              </a:ext>
            </a:extLst>
          </p:cNvPr>
          <p:cNvSpPr/>
          <p:nvPr/>
        </p:nvSpPr>
        <p:spPr>
          <a:xfrm>
            <a:off x="3365862" y="4424024"/>
            <a:ext cx="4572000" cy="566928"/>
          </a:xfrm>
          <a:prstGeom prst="rect">
            <a:avLst/>
          </a:prstGeom>
          <a:noFill/>
          <a:ln/>
        </p:spPr>
        <p:txBody>
          <a:bodyPr wrap="square" lIns="0" tIns="0" rIns="0" bIns="0" rtlCol="0" anchor="ctr"/>
          <a:lstStyle/>
          <a:p>
            <a:pPr marL="0" indent="0">
              <a:buNone/>
            </a:pPr>
            <a:r>
              <a:rPr lang="en-US" sz="1250" b="1" dirty="0">
                <a:solidFill>
                  <a:srgbClr val="22303C"/>
                </a:solidFill>
                <a:latin typeface="Calibri" pitchFamily="34" charset="0"/>
                <a:ea typeface="Calibri" pitchFamily="34" charset="-122"/>
                <a:cs typeface="Calibri" pitchFamily="34" charset="-120"/>
              </a:rPr>
              <a:t>SG17 workshop, Geneva</a:t>
            </a:r>
            <a:endParaRPr lang="en-US" sz="1250" dirty="0"/>
          </a:p>
        </p:txBody>
      </p:sp>
      <p:sp>
        <p:nvSpPr>
          <p:cNvPr id="55" name="Text 26">
            <a:extLst>
              <a:ext uri="{FF2B5EF4-FFF2-40B4-BE49-F238E27FC236}">
                <a16:creationId xmlns:a16="http://schemas.microsoft.com/office/drawing/2014/main" id="{A67FF8F3-A2DE-3214-24E7-0E22553C057B}"/>
              </a:ext>
            </a:extLst>
          </p:cNvPr>
          <p:cNvSpPr/>
          <p:nvPr/>
        </p:nvSpPr>
        <p:spPr>
          <a:xfrm>
            <a:off x="8029302" y="4424024"/>
            <a:ext cx="3319272" cy="566928"/>
          </a:xfrm>
          <a:prstGeom prst="rect">
            <a:avLst/>
          </a:prstGeom>
          <a:noFill/>
          <a:ln/>
        </p:spPr>
        <p:txBody>
          <a:bodyPr wrap="square" lIns="0" tIns="0" rIns="0" bIns="0"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Open to all participants</a:t>
            </a:r>
            <a:endParaRPr lang="en-US" sz="1150" dirty="0"/>
          </a:p>
        </p:txBody>
      </p:sp>
      <p:sp>
        <p:nvSpPr>
          <p:cNvPr id="57" name="Shape 27">
            <a:extLst>
              <a:ext uri="{FF2B5EF4-FFF2-40B4-BE49-F238E27FC236}">
                <a16:creationId xmlns:a16="http://schemas.microsoft.com/office/drawing/2014/main" id="{E18B1274-C100-D0B7-E303-357610829A1F}"/>
              </a:ext>
            </a:extLst>
          </p:cNvPr>
          <p:cNvSpPr/>
          <p:nvPr/>
        </p:nvSpPr>
        <p:spPr>
          <a:xfrm>
            <a:off x="439782" y="5073248"/>
            <a:ext cx="11091672" cy="566928"/>
          </a:xfrm>
          <a:prstGeom prst="roundRect">
            <a:avLst>
              <a:gd name="adj" fmla="val 8065"/>
            </a:avLst>
          </a:prstGeom>
          <a:solidFill>
            <a:schemeClr val="accent2">
              <a:lumMod val="20000"/>
              <a:lumOff val="80000"/>
            </a:schemeClr>
          </a:solidFill>
          <a:ln w="6350">
            <a:solidFill>
              <a:srgbClr val="D8E0EC"/>
            </a:solidFill>
            <a:prstDash val="solid"/>
          </a:ln>
        </p:spPr>
        <p:txBody>
          <a:bodyPr/>
          <a:lstStyle/>
          <a:p>
            <a:endParaRPr lang="fr-FR"/>
          </a:p>
        </p:txBody>
      </p:sp>
      <p:sp>
        <p:nvSpPr>
          <p:cNvPr id="59" name="Shape 28">
            <a:extLst>
              <a:ext uri="{FF2B5EF4-FFF2-40B4-BE49-F238E27FC236}">
                <a16:creationId xmlns:a16="http://schemas.microsoft.com/office/drawing/2014/main" id="{A470D7EC-7EEC-E89A-912C-5C6BB5F4E14A}"/>
              </a:ext>
            </a:extLst>
          </p:cNvPr>
          <p:cNvSpPr/>
          <p:nvPr/>
        </p:nvSpPr>
        <p:spPr>
          <a:xfrm>
            <a:off x="640950" y="5274416"/>
            <a:ext cx="164592" cy="164592"/>
          </a:xfrm>
          <a:prstGeom prst="ellipse">
            <a:avLst/>
          </a:prstGeom>
          <a:solidFill>
            <a:srgbClr val="F2A900"/>
          </a:solidFill>
          <a:ln/>
        </p:spPr>
        <p:txBody>
          <a:bodyPr/>
          <a:lstStyle/>
          <a:p>
            <a:endParaRPr lang="fr-FR"/>
          </a:p>
        </p:txBody>
      </p:sp>
      <p:sp>
        <p:nvSpPr>
          <p:cNvPr id="61" name="Text 29">
            <a:extLst>
              <a:ext uri="{FF2B5EF4-FFF2-40B4-BE49-F238E27FC236}">
                <a16:creationId xmlns:a16="http://schemas.microsoft.com/office/drawing/2014/main" id="{2C1DF504-79B6-EB7C-AFDD-909E243CEB39}"/>
              </a:ext>
            </a:extLst>
          </p:cNvPr>
          <p:cNvSpPr/>
          <p:nvPr/>
        </p:nvSpPr>
        <p:spPr>
          <a:xfrm>
            <a:off x="988422" y="5073248"/>
            <a:ext cx="2286000" cy="56692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26* Jan 2027</a:t>
            </a:r>
            <a:endParaRPr lang="en-US" sz="1300" dirty="0"/>
          </a:p>
        </p:txBody>
      </p:sp>
      <p:sp>
        <p:nvSpPr>
          <p:cNvPr id="63" name="Text 30">
            <a:extLst>
              <a:ext uri="{FF2B5EF4-FFF2-40B4-BE49-F238E27FC236}">
                <a16:creationId xmlns:a16="http://schemas.microsoft.com/office/drawing/2014/main" id="{7C9AFE37-9FEF-7BF2-9A5D-DCB7EE21C6CB}"/>
              </a:ext>
            </a:extLst>
          </p:cNvPr>
          <p:cNvSpPr/>
          <p:nvPr/>
        </p:nvSpPr>
        <p:spPr>
          <a:xfrm>
            <a:off x="3365862" y="5073248"/>
            <a:ext cx="4572000" cy="566928"/>
          </a:xfrm>
          <a:prstGeom prst="rect">
            <a:avLst/>
          </a:prstGeom>
          <a:noFill/>
          <a:ln/>
        </p:spPr>
        <p:txBody>
          <a:bodyPr wrap="square" lIns="0" tIns="0" rIns="0" bIns="0" rtlCol="0" anchor="ctr"/>
          <a:lstStyle/>
          <a:p>
            <a:pPr marL="0" indent="0">
              <a:buNone/>
            </a:pPr>
            <a:r>
              <a:rPr lang="en-US" sz="1250" b="1" dirty="0">
                <a:solidFill>
                  <a:srgbClr val="22303C"/>
                </a:solidFill>
                <a:latin typeface="Calibri" pitchFamily="34" charset="0"/>
                <a:ea typeface="Calibri" pitchFamily="34" charset="-122"/>
                <a:cs typeface="Calibri" pitchFamily="34" charset="-120"/>
              </a:rPr>
              <a:t>FG-TIDA meeting, Geneva</a:t>
            </a:r>
            <a:endParaRPr lang="en-US" sz="1250" dirty="0"/>
          </a:p>
        </p:txBody>
      </p:sp>
      <p:sp>
        <p:nvSpPr>
          <p:cNvPr id="65" name="Text 31">
            <a:extLst>
              <a:ext uri="{FF2B5EF4-FFF2-40B4-BE49-F238E27FC236}">
                <a16:creationId xmlns:a16="http://schemas.microsoft.com/office/drawing/2014/main" id="{0E214368-6F4F-D807-B39A-EA9F5BC27132}"/>
              </a:ext>
            </a:extLst>
          </p:cNvPr>
          <p:cNvSpPr/>
          <p:nvPr/>
        </p:nvSpPr>
        <p:spPr>
          <a:xfrm>
            <a:off x="8029302" y="5073248"/>
            <a:ext cx="3319272" cy="566928"/>
          </a:xfrm>
          <a:prstGeom prst="rect">
            <a:avLst/>
          </a:prstGeom>
          <a:noFill/>
          <a:ln/>
        </p:spPr>
        <p:txBody>
          <a:bodyPr wrap="square" lIns="0" tIns="0" rIns="0" bIns="0"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Focus Group working session</a:t>
            </a:r>
            <a:endParaRPr lang="en-US" sz="1150" dirty="0"/>
          </a:p>
        </p:txBody>
      </p:sp>
      <p:sp>
        <p:nvSpPr>
          <p:cNvPr id="67" name="Shape 32">
            <a:extLst>
              <a:ext uri="{FF2B5EF4-FFF2-40B4-BE49-F238E27FC236}">
                <a16:creationId xmlns:a16="http://schemas.microsoft.com/office/drawing/2014/main" id="{EDBAA2DE-D854-EEF6-2836-FF9E72192D3A}"/>
              </a:ext>
            </a:extLst>
          </p:cNvPr>
          <p:cNvSpPr/>
          <p:nvPr/>
        </p:nvSpPr>
        <p:spPr>
          <a:xfrm>
            <a:off x="439782" y="5722472"/>
            <a:ext cx="11091672" cy="566928"/>
          </a:xfrm>
          <a:prstGeom prst="roundRect">
            <a:avLst>
              <a:gd name="adj" fmla="val 8065"/>
            </a:avLst>
          </a:prstGeom>
          <a:solidFill>
            <a:srgbClr val="F3F6FB"/>
          </a:solidFill>
          <a:ln w="6350">
            <a:solidFill>
              <a:srgbClr val="D8E0EC"/>
            </a:solidFill>
            <a:prstDash val="solid"/>
          </a:ln>
        </p:spPr>
        <p:txBody>
          <a:bodyPr/>
          <a:lstStyle/>
          <a:p>
            <a:endParaRPr lang="fr-FR"/>
          </a:p>
        </p:txBody>
      </p:sp>
      <p:sp>
        <p:nvSpPr>
          <p:cNvPr id="69" name="Shape 33">
            <a:extLst>
              <a:ext uri="{FF2B5EF4-FFF2-40B4-BE49-F238E27FC236}">
                <a16:creationId xmlns:a16="http://schemas.microsoft.com/office/drawing/2014/main" id="{0D065322-FE13-CF1F-B72F-DD5698B6A99E}"/>
              </a:ext>
            </a:extLst>
          </p:cNvPr>
          <p:cNvSpPr/>
          <p:nvPr/>
        </p:nvSpPr>
        <p:spPr>
          <a:xfrm>
            <a:off x="640950" y="5923640"/>
            <a:ext cx="164592" cy="164592"/>
          </a:xfrm>
          <a:prstGeom prst="ellipse">
            <a:avLst/>
          </a:prstGeom>
          <a:solidFill>
            <a:srgbClr val="F2A900"/>
          </a:solidFill>
          <a:ln/>
        </p:spPr>
        <p:txBody>
          <a:bodyPr/>
          <a:lstStyle/>
          <a:p>
            <a:endParaRPr lang="fr-FR"/>
          </a:p>
        </p:txBody>
      </p:sp>
      <p:sp>
        <p:nvSpPr>
          <p:cNvPr id="71" name="Text 34">
            <a:extLst>
              <a:ext uri="{FF2B5EF4-FFF2-40B4-BE49-F238E27FC236}">
                <a16:creationId xmlns:a16="http://schemas.microsoft.com/office/drawing/2014/main" id="{D847E576-17AC-2B2B-852C-2B9D2FC308BD}"/>
              </a:ext>
            </a:extLst>
          </p:cNvPr>
          <p:cNvSpPr/>
          <p:nvPr/>
        </p:nvSpPr>
        <p:spPr>
          <a:xfrm>
            <a:off x="988422" y="5722472"/>
            <a:ext cx="2286000" cy="56692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18–29* Jan 2027</a:t>
            </a:r>
            <a:endParaRPr lang="en-US" sz="1300" dirty="0"/>
          </a:p>
        </p:txBody>
      </p:sp>
      <p:sp>
        <p:nvSpPr>
          <p:cNvPr id="73" name="Text 35">
            <a:extLst>
              <a:ext uri="{FF2B5EF4-FFF2-40B4-BE49-F238E27FC236}">
                <a16:creationId xmlns:a16="http://schemas.microsoft.com/office/drawing/2014/main" id="{23DEBF8C-2E78-33CA-E74F-3A34A9A87158}"/>
              </a:ext>
            </a:extLst>
          </p:cNvPr>
          <p:cNvSpPr/>
          <p:nvPr/>
        </p:nvSpPr>
        <p:spPr>
          <a:xfrm>
            <a:off x="3365862" y="5722472"/>
            <a:ext cx="4572000" cy="566928"/>
          </a:xfrm>
          <a:prstGeom prst="rect">
            <a:avLst/>
          </a:prstGeom>
          <a:noFill/>
          <a:ln/>
        </p:spPr>
        <p:txBody>
          <a:bodyPr wrap="square" lIns="0" tIns="0" rIns="0" bIns="0" rtlCol="0" anchor="ctr"/>
          <a:lstStyle/>
          <a:p>
            <a:pPr marL="0" indent="0">
              <a:buNone/>
            </a:pPr>
            <a:r>
              <a:rPr lang="en-US" sz="1250" b="1" dirty="0">
                <a:solidFill>
                  <a:srgbClr val="22303C"/>
                </a:solidFill>
                <a:latin typeface="Calibri" pitchFamily="34" charset="0"/>
                <a:ea typeface="Calibri" pitchFamily="34" charset="-122"/>
                <a:cs typeface="Calibri" pitchFamily="34" charset="-120"/>
              </a:rPr>
              <a:t>6th SG17 Plenary, Geneva</a:t>
            </a:r>
            <a:endParaRPr lang="en-US" sz="1250" dirty="0"/>
          </a:p>
        </p:txBody>
      </p:sp>
      <p:sp>
        <p:nvSpPr>
          <p:cNvPr id="75" name="Text 36">
            <a:extLst>
              <a:ext uri="{FF2B5EF4-FFF2-40B4-BE49-F238E27FC236}">
                <a16:creationId xmlns:a16="http://schemas.microsoft.com/office/drawing/2014/main" id="{72F2F963-BC4F-78B9-0775-C8A503A386DB}"/>
              </a:ext>
            </a:extLst>
          </p:cNvPr>
          <p:cNvSpPr/>
          <p:nvPr/>
        </p:nvSpPr>
        <p:spPr>
          <a:xfrm>
            <a:off x="8029302" y="5722472"/>
            <a:ext cx="3319272" cy="566928"/>
          </a:xfrm>
          <a:prstGeom prst="rect">
            <a:avLst/>
          </a:prstGeom>
          <a:noFill/>
          <a:ln/>
        </p:spPr>
        <p:txBody>
          <a:bodyPr wrap="square" lIns="0" tIns="0" rIns="0" bIns="0"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Next full plenary</a:t>
            </a:r>
            <a:endParaRPr lang="en-US" sz="1150" dirty="0"/>
          </a:p>
        </p:txBody>
      </p:sp>
      <p:sp>
        <p:nvSpPr>
          <p:cNvPr id="77" name="Text 6">
            <a:extLst>
              <a:ext uri="{FF2B5EF4-FFF2-40B4-BE49-F238E27FC236}">
                <a16:creationId xmlns:a16="http://schemas.microsoft.com/office/drawing/2014/main" id="{2750FB2F-AD89-42EA-01EF-73098E3A557E}"/>
              </a:ext>
            </a:extLst>
          </p:cNvPr>
          <p:cNvSpPr/>
          <p:nvPr/>
        </p:nvSpPr>
        <p:spPr>
          <a:xfrm>
            <a:off x="471786" y="6371696"/>
            <a:ext cx="5624214" cy="566928"/>
          </a:xfrm>
          <a:prstGeom prst="rect">
            <a:avLst/>
          </a:prstGeom>
          <a:noFill/>
          <a:ln/>
        </p:spPr>
        <p:txBody>
          <a:bodyPr wrap="square" lIns="0" tIns="0" rIns="0" bIns="0"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 = TBD depending on ME situation</a:t>
            </a:r>
            <a:endParaRPr lang="en-US" sz="1150" dirty="0"/>
          </a:p>
        </p:txBody>
      </p:sp>
    </p:spTree>
    <p:extLst>
      <p:ext uri="{BB962C8B-B14F-4D97-AF65-F5344CB8AC3E}">
        <p14:creationId xmlns:p14="http://schemas.microsoft.com/office/powerpoint/2010/main" val="2563496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7EC5B-7306-1E42-7349-5E5A73FBE3B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3D298F7-A37F-A111-30EF-FC17DDF96241}"/>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6E024863-7ECA-4C70-2749-410819BCEBAE}"/>
              </a:ext>
            </a:extLst>
          </p:cNvPr>
          <p:cNvSpPr>
            <a:spLocks noGrp="1"/>
          </p:cNvSpPr>
          <p:nvPr>
            <p:ph type="title"/>
          </p:nvPr>
        </p:nvSpPr>
        <p:spPr>
          <a:xfrm>
            <a:off x="341085" y="219392"/>
            <a:ext cx="10515600" cy="1325563"/>
          </a:xfrm>
        </p:spPr>
        <p:txBody>
          <a:bodyPr/>
          <a:lstStyle/>
          <a:p>
            <a:r>
              <a:rPr lang="en-US" noProof="0" dirty="0">
                <a:solidFill>
                  <a:schemeClr val="bg1"/>
                </a:solidFill>
              </a:rPr>
              <a:t>Our Objective for </a:t>
            </a:r>
            <a:r>
              <a:rPr lang="en-US" dirty="0">
                <a:solidFill>
                  <a:schemeClr val="bg1"/>
                </a:solidFill>
              </a:rPr>
              <a:t>1-4 Dec meeting</a:t>
            </a:r>
            <a:endParaRPr lang="en-GB" noProof="0" dirty="0">
              <a:solidFill>
                <a:schemeClr val="bg1"/>
              </a:solidFill>
            </a:endParaRPr>
          </a:p>
        </p:txBody>
      </p:sp>
      <p:pic>
        <p:nvPicPr>
          <p:cNvPr id="13" name="Picture 12">
            <a:extLst>
              <a:ext uri="{FF2B5EF4-FFF2-40B4-BE49-F238E27FC236}">
                <a16:creationId xmlns:a16="http://schemas.microsoft.com/office/drawing/2014/main" id="{DE705758-91A9-6116-9E57-987744865942}"/>
              </a:ext>
            </a:extLst>
          </p:cNvPr>
          <p:cNvPicPr>
            <a:picLocks noChangeAspect="1"/>
          </p:cNvPicPr>
          <p:nvPr/>
        </p:nvPicPr>
        <p:blipFill>
          <a:blip r:embed="rId3"/>
          <a:stretch>
            <a:fillRect/>
          </a:stretch>
        </p:blipFill>
        <p:spPr>
          <a:xfrm>
            <a:off x="9958212" y="107366"/>
            <a:ext cx="2064271" cy="696502"/>
          </a:xfrm>
          <a:prstGeom prst="rect">
            <a:avLst/>
          </a:prstGeom>
        </p:spPr>
      </p:pic>
      <p:sp>
        <p:nvSpPr>
          <p:cNvPr id="3" name="TextBox 2">
            <a:extLst>
              <a:ext uri="{FF2B5EF4-FFF2-40B4-BE49-F238E27FC236}">
                <a16:creationId xmlns:a16="http://schemas.microsoft.com/office/drawing/2014/main" id="{7A18F127-71BB-8612-9A11-0ABD08A9DA80}"/>
              </a:ext>
            </a:extLst>
          </p:cNvPr>
          <p:cNvSpPr txBox="1"/>
          <p:nvPr/>
        </p:nvSpPr>
        <p:spPr>
          <a:xfrm>
            <a:off x="784335" y="2844437"/>
            <a:ext cx="10895248" cy="2246769"/>
          </a:xfrm>
          <a:prstGeom prst="rect">
            <a:avLst/>
          </a:prstGeom>
          <a:noFill/>
        </p:spPr>
        <p:txBody>
          <a:bodyPr wrap="square" rtlCol="0">
            <a:spAutoFit/>
          </a:bodyPr>
          <a:lstStyle/>
          <a:p>
            <a:pPr marL="514350" indent="-514350">
              <a:buFont typeface="+mj-lt"/>
              <a:buAutoNum type="arabicPeriod"/>
            </a:pPr>
            <a:r>
              <a:rPr lang="en-US" sz="2800" b="1" dirty="0">
                <a:solidFill>
                  <a:schemeClr val="accent1"/>
                </a:solidFill>
              </a:rPr>
              <a:t>Formally announce the Focus Group's structure and leadership</a:t>
            </a:r>
          </a:p>
          <a:p>
            <a:endParaRPr lang="en-US" sz="2800" b="1" dirty="0">
              <a:solidFill>
                <a:schemeClr val="accent1"/>
              </a:solidFill>
            </a:endParaRPr>
          </a:p>
          <a:p>
            <a:pPr marL="514350" indent="-514350">
              <a:buFont typeface="+mj-lt"/>
              <a:buAutoNum type="arabicPeriod" startAt="2"/>
            </a:pPr>
            <a:r>
              <a:rPr lang="en-US" sz="2800" b="1" dirty="0">
                <a:solidFill>
                  <a:schemeClr val="accent1"/>
                </a:solidFill>
              </a:rPr>
              <a:t>Publish an initial definition of deliverables on GitHub </a:t>
            </a:r>
          </a:p>
          <a:p>
            <a:endParaRPr lang="en-US" sz="2800" b="1" dirty="0">
              <a:solidFill>
                <a:schemeClr val="accent1"/>
              </a:solidFill>
            </a:endParaRPr>
          </a:p>
          <a:p>
            <a:pPr marL="514350" indent="-514350">
              <a:buFont typeface="+mj-lt"/>
              <a:buAutoNum type="arabicPeriod" startAt="3"/>
            </a:pPr>
            <a:r>
              <a:rPr lang="en-US" sz="2800" b="1" dirty="0">
                <a:solidFill>
                  <a:schemeClr val="accent1"/>
                </a:solidFill>
              </a:rPr>
              <a:t>Advance the technical work during the in-person meeting</a:t>
            </a:r>
          </a:p>
        </p:txBody>
      </p:sp>
    </p:spTree>
    <p:extLst>
      <p:ext uri="{BB962C8B-B14F-4D97-AF65-F5344CB8AC3E}">
        <p14:creationId xmlns:p14="http://schemas.microsoft.com/office/powerpoint/2010/main" val="657783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732B-EA23-6724-8346-6BBF31E99FA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CB74447-6DDB-32E1-CBBF-95D35F0CB61B}"/>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250A5C8F-1DD4-051C-D2EC-01532CC0E337}"/>
              </a:ext>
            </a:extLst>
          </p:cNvPr>
          <p:cNvSpPr>
            <a:spLocks noGrp="1"/>
          </p:cNvSpPr>
          <p:nvPr>
            <p:ph type="title"/>
          </p:nvPr>
        </p:nvSpPr>
        <p:spPr>
          <a:xfrm>
            <a:off x="341085" y="219392"/>
            <a:ext cx="10515600" cy="1325563"/>
          </a:xfrm>
        </p:spPr>
        <p:txBody>
          <a:bodyPr/>
          <a:lstStyle/>
          <a:p>
            <a:r>
              <a:rPr lang="en-US" noProof="0" dirty="0">
                <a:solidFill>
                  <a:schemeClr val="bg1"/>
                </a:solidFill>
              </a:rPr>
              <a:t>How to get there? </a:t>
            </a:r>
            <a:br>
              <a:rPr lang="en-US" noProof="0" dirty="0">
                <a:solidFill>
                  <a:schemeClr val="bg1"/>
                </a:solidFill>
              </a:rPr>
            </a:br>
            <a:r>
              <a:rPr lang="en-US" noProof="0" dirty="0">
                <a:solidFill>
                  <a:schemeClr val="bg1"/>
                </a:solidFill>
              </a:rPr>
              <a:t>4 virtual meetings from now to 1-4 Dec</a:t>
            </a:r>
            <a:endParaRPr lang="en-GB" noProof="0" dirty="0">
              <a:solidFill>
                <a:schemeClr val="bg1"/>
              </a:solidFill>
            </a:endParaRPr>
          </a:p>
        </p:txBody>
      </p:sp>
      <p:pic>
        <p:nvPicPr>
          <p:cNvPr id="13" name="Picture 12">
            <a:extLst>
              <a:ext uri="{FF2B5EF4-FFF2-40B4-BE49-F238E27FC236}">
                <a16:creationId xmlns:a16="http://schemas.microsoft.com/office/drawing/2014/main" id="{E579929C-ED4F-BEF0-BE9B-4D4A7D897CA7}"/>
              </a:ext>
            </a:extLst>
          </p:cNvPr>
          <p:cNvPicPr>
            <a:picLocks noChangeAspect="1"/>
          </p:cNvPicPr>
          <p:nvPr/>
        </p:nvPicPr>
        <p:blipFill>
          <a:blip r:embed="rId3"/>
          <a:stretch>
            <a:fillRect/>
          </a:stretch>
        </p:blipFill>
        <p:spPr>
          <a:xfrm>
            <a:off x="9958212" y="107366"/>
            <a:ext cx="2064271" cy="696502"/>
          </a:xfrm>
          <a:prstGeom prst="rect">
            <a:avLst/>
          </a:prstGeom>
        </p:spPr>
      </p:pic>
      <p:sp>
        <p:nvSpPr>
          <p:cNvPr id="3" name="TextBox 2">
            <a:extLst>
              <a:ext uri="{FF2B5EF4-FFF2-40B4-BE49-F238E27FC236}">
                <a16:creationId xmlns:a16="http://schemas.microsoft.com/office/drawing/2014/main" id="{01AFA568-F371-3A04-7565-802982E1677E}"/>
              </a:ext>
            </a:extLst>
          </p:cNvPr>
          <p:cNvSpPr txBox="1"/>
          <p:nvPr/>
        </p:nvSpPr>
        <p:spPr>
          <a:xfrm>
            <a:off x="784335" y="2844437"/>
            <a:ext cx="10895248" cy="1815882"/>
          </a:xfrm>
          <a:prstGeom prst="rect">
            <a:avLst/>
          </a:prstGeom>
          <a:noFill/>
        </p:spPr>
        <p:txBody>
          <a:bodyPr wrap="square" rtlCol="0">
            <a:spAutoFit/>
          </a:bodyPr>
          <a:lstStyle/>
          <a:p>
            <a:pPr marL="457200" indent="-457200" fontAlgn="base">
              <a:buFont typeface="Arial" panose="020B0604020202020204" pitchFamily="34" charset="0"/>
              <a:buChar char="•"/>
            </a:pPr>
            <a:r>
              <a:rPr lang="en-US" sz="2800" b="1" dirty="0">
                <a:solidFill>
                  <a:schemeClr val="accent1"/>
                </a:solidFill>
              </a:rPr>
              <a:t>(today) 29th of July @2pm CET </a:t>
            </a:r>
          </a:p>
          <a:p>
            <a:pPr marL="457200" indent="-457200" fontAlgn="base">
              <a:buFont typeface="Arial" panose="020B0604020202020204" pitchFamily="34" charset="0"/>
              <a:buChar char="•"/>
            </a:pPr>
            <a:r>
              <a:rPr lang="en-US" sz="2800" b="1" dirty="0">
                <a:solidFill>
                  <a:schemeClr val="accent1"/>
                </a:solidFill>
              </a:rPr>
              <a:t>2nd of September @2pm CET</a:t>
            </a:r>
          </a:p>
          <a:p>
            <a:pPr marL="457200" indent="-457200" fontAlgn="base">
              <a:buFont typeface="Arial" panose="020B0604020202020204" pitchFamily="34" charset="0"/>
              <a:buChar char="•"/>
            </a:pPr>
            <a:r>
              <a:rPr lang="en-US" sz="2800" b="1" dirty="0">
                <a:solidFill>
                  <a:schemeClr val="accent1"/>
                </a:solidFill>
              </a:rPr>
              <a:t>30th of September @2pm CET</a:t>
            </a:r>
          </a:p>
          <a:p>
            <a:pPr marL="457200" indent="-457200" fontAlgn="base">
              <a:buFont typeface="Arial" panose="020B0604020202020204" pitchFamily="34" charset="0"/>
              <a:buChar char="•"/>
            </a:pPr>
            <a:r>
              <a:rPr lang="en-US" sz="2800" b="1" dirty="0">
                <a:solidFill>
                  <a:schemeClr val="accent1"/>
                </a:solidFill>
              </a:rPr>
              <a:t>4th of November @</a:t>
            </a:r>
            <a:r>
              <a:rPr lang="en-US" sz="2800" b="1">
                <a:solidFill>
                  <a:schemeClr val="accent1"/>
                </a:solidFill>
              </a:rPr>
              <a:t>2pm CET</a:t>
            </a:r>
            <a:endParaRPr lang="en-US" sz="2800" b="1" dirty="0">
              <a:solidFill>
                <a:schemeClr val="accent1"/>
              </a:solidFill>
            </a:endParaRPr>
          </a:p>
        </p:txBody>
      </p:sp>
    </p:spTree>
    <p:extLst>
      <p:ext uri="{BB962C8B-B14F-4D97-AF65-F5344CB8AC3E}">
        <p14:creationId xmlns:p14="http://schemas.microsoft.com/office/powerpoint/2010/main" val="1157470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6D3BF-473E-C208-B715-D0CE618C2DF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13F90BD-BE84-BE44-203A-C528417691DB}"/>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800D5FDB-1E18-8860-BF76-0A34F3EA70E0}"/>
              </a:ext>
            </a:extLst>
          </p:cNvPr>
          <p:cNvSpPr>
            <a:spLocks noGrp="1"/>
          </p:cNvSpPr>
          <p:nvPr>
            <p:ph type="title"/>
          </p:nvPr>
        </p:nvSpPr>
        <p:spPr>
          <a:xfrm>
            <a:off x="341085" y="219392"/>
            <a:ext cx="10515600" cy="1325563"/>
          </a:xfrm>
        </p:spPr>
        <p:txBody>
          <a:bodyPr/>
          <a:lstStyle/>
          <a:p>
            <a:r>
              <a:rPr lang="en-US" noProof="0" dirty="0">
                <a:solidFill>
                  <a:schemeClr val="bg1"/>
                </a:solidFill>
              </a:rPr>
              <a:t>Current TIDA Structure</a:t>
            </a:r>
            <a:endParaRPr lang="en-GB" noProof="0" dirty="0">
              <a:solidFill>
                <a:schemeClr val="bg1"/>
              </a:solidFill>
            </a:endParaRPr>
          </a:p>
        </p:txBody>
      </p:sp>
      <p:pic>
        <p:nvPicPr>
          <p:cNvPr id="13" name="Picture 12">
            <a:extLst>
              <a:ext uri="{FF2B5EF4-FFF2-40B4-BE49-F238E27FC236}">
                <a16:creationId xmlns:a16="http://schemas.microsoft.com/office/drawing/2014/main" id="{E31BC90E-B8E5-AB95-C30E-A8936DAF1A7F}"/>
              </a:ext>
            </a:extLst>
          </p:cNvPr>
          <p:cNvPicPr>
            <a:picLocks noChangeAspect="1"/>
          </p:cNvPicPr>
          <p:nvPr/>
        </p:nvPicPr>
        <p:blipFill>
          <a:blip r:embed="rId2"/>
          <a:stretch>
            <a:fillRect/>
          </a:stretch>
        </p:blipFill>
        <p:spPr>
          <a:xfrm>
            <a:off x="9958212" y="107366"/>
            <a:ext cx="2064271" cy="696502"/>
          </a:xfrm>
          <a:prstGeom prst="rect">
            <a:avLst/>
          </a:prstGeom>
        </p:spPr>
      </p:pic>
      <p:pic>
        <p:nvPicPr>
          <p:cNvPr id="4" name="Graphic 3">
            <a:extLst>
              <a:ext uri="{FF2B5EF4-FFF2-40B4-BE49-F238E27FC236}">
                <a16:creationId xmlns:a16="http://schemas.microsoft.com/office/drawing/2014/main" id="{755E785F-63C4-4119-722A-FC0F9760C2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68353" y="1764347"/>
            <a:ext cx="9655293" cy="4998034"/>
          </a:xfrm>
          <a:prstGeom prst="rect">
            <a:avLst/>
          </a:prstGeom>
        </p:spPr>
      </p:pic>
    </p:spTree>
    <p:extLst>
      <p:ext uri="{BB962C8B-B14F-4D97-AF65-F5344CB8AC3E}">
        <p14:creationId xmlns:p14="http://schemas.microsoft.com/office/powerpoint/2010/main" val="1512758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3610D-8E0E-B8CF-472F-77224BC0BE9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66FC882-8BAE-417A-4746-14A19F0997D8}"/>
              </a:ext>
            </a:extLst>
          </p:cNvPr>
          <p:cNvSpPr/>
          <p:nvPr/>
        </p:nvSpPr>
        <p:spPr>
          <a:xfrm>
            <a:off x="0" y="0"/>
            <a:ext cx="12192000" cy="6960870"/>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C47F4953-BDEE-39CD-BC31-C102A0EADA5B}"/>
              </a:ext>
            </a:extLst>
          </p:cNvPr>
          <p:cNvSpPr>
            <a:spLocks noGrp="1"/>
          </p:cNvSpPr>
          <p:nvPr>
            <p:ph type="title"/>
          </p:nvPr>
        </p:nvSpPr>
        <p:spPr>
          <a:xfrm>
            <a:off x="1324065" y="2556805"/>
            <a:ext cx="10515600" cy="1325563"/>
          </a:xfrm>
        </p:spPr>
        <p:txBody>
          <a:bodyPr>
            <a:noAutofit/>
          </a:bodyPr>
          <a:lstStyle/>
          <a:p>
            <a:r>
              <a:rPr lang="en-US" sz="4800" b="1" noProof="0" dirty="0">
                <a:solidFill>
                  <a:schemeClr val="bg1"/>
                </a:solidFill>
              </a:rPr>
              <a:t>Let us </a:t>
            </a:r>
            <a:r>
              <a:rPr lang="en-US" sz="4800" b="1" noProof="0" dirty="0">
                <a:solidFill>
                  <a:srgbClr val="F7BA21"/>
                </a:solidFill>
              </a:rPr>
              <a:t>brainstorm</a:t>
            </a:r>
            <a:r>
              <a:rPr lang="en-US" sz="4800" b="1" noProof="0" dirty="0">
                <a:solidFill>
                  <a:schemeClr val="bg1"/>
                </a:solidFill>
              </a:rPr>
              <a:t> together on </a:t>
            </a:r>
            <a:br>
              <a:rPr lang="en-US" sz="4800" b="1" noProof="0" dirty="0">
                <a:solidFill>
                  <a:schemeClr val="bg1"/>
                </a:solidFill>
              </a:rPr>
            </a:br>
            <a:r>
              <a:rPr lang="en-US" sz="4800" b="1" dirty="0">
                <a:solidFill>
                  <a:schemeClr val="bg1"/>
                </a:solidFill>
              </a:rPr>
              <a:t>ideas for Working Groups</a:t>
            </a:r>
            <a:endParaRPr lang="en-GB" sz="4800" b="1" noProof="0" dirty="0">
              <a:solidFill>
                <a:schemeClr val="bg1"/>
              </a:solidFill>
            </a:endParaRPr>
          </a:p>
        </p:txBody>
      </p:sp>
      <p:pic>
        <p:nvPicPr>
          <p:cNvPr id="13" name="Picture 12">
            <a:extLst>
              <a:ext uri="{FF2B5EF4-FFF2-40B4-BE49-F238E27FC236}">
                <a16:creationId xmlns:a16="http://schemas.microsoft.com/office/drawing/2014/main" id="{1230CEE6-765D-942E-5A66-DD8EA8AF4150}"/>
              </a:ext>
            </a:extLst>
          </p:cNvPr>
          <p:cNvPicPr>
            <a:picLocks noChangeAspect="1"/>
          </p:cNvPicPr>
          <p:nvPr/>
        </p:nvPicPr>
        <p:blipFill>
          <a:blip r:embed="rId3"/>
          <a:stretch>
            <a:fillRect/>
          </a:stretch>
        </p:blipFill>
        <p:spPr>
          <a:xfrm>
            <a:off x="9958212" y="107366"/>
            <a:ext cx="2064271" cy="696502"/>
          </a:xfrm>
          <a:prstGeom prst="rect">
            <a:avLst/>
          </a:prstGeom>
        </p:spPr>
      </p:pic>
    </p:spTree>
    <p:extLst>
      <p:ext uri="{BB962C8B-B14F-4D97-AF65-F5344CB8AC3E}">
        <p14:creationId xmlns:p14="http://schemas.microsoft.com/office/powerpoint/2010/main" val="915456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7D7CD70-E7F9-8EB1-F2DF-12EFD9E07D7D}"/>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Shape 1"/>
          <p:cNvSpPr/>
          <p:nvPr/>
        </p:nvSpPr>
        <p:spPr>
          <a:xfrm>
            <a:off x="457200" y="384048"/>
            <a:ext cx="640080" cy="640080"/>
          </a:xfrm>
          <a:prstGeom prst="ellipse">
            <a:avLst/>
          </a:prstGeom>
          <a:solidFill>
            <a:srgbClr val="FFFFFF"/>
          </a:solidFill>
          <a:ln/>
        </p:spPr>
        <p:txBody>
          <a:bodyPr/>
          <a:lstStyle/>
          <a:p>
            <a:endParaRPr lang="en-US"/>
          </a:p>
        </p:txBody>
      </p:sp>
      <p:sp>
        <p:nvSpPr>
          <p:cNvPr id="4" name="Text 2"/>
          <p:cNvSpPr/>
          <p:nvPr/>
        </p:nvSpPr>
        <p:spPr>
          <a:xfrm>
            <a:off x="457200" y="384048"/>
            <a:ext cx="640080" cy="640080"/>
          </a:xfrm>
          <a:prstGeom prst="rect">
            <a:avLst/>
          </a:prstGeom>
          <a:noFill/>
          <a:ln/>
        </p:spPr>
        <p:txBody>
          <a:bodyPr wrap="square" lIns="0" tIns="0" rIns="0" bIns="0" rtlCol="0" anchor="ctr"/>
          <a:lstStyle/>
          <a:p>
            <a:pPr marL="0" indent="0" algn="ctr">
              <a:buNone/>
            </a:pPr>
            <a:r>
              <a:rPr lang="en-US" sz="2800" b="1" dirty="0">
                <a:solidFill>
                  <a:srgbClr val="13294B"/>
                </a:solidFill>
                <a:latin typeface="Arial" pitchFamily="34" charset="0"/>
                <a:ea typeface="Arial" pitchFamily="34" charset="-122"/>
                <a:cs typeface="Arial" pitchFamily="34" charset="-120"/>
              </a:rPr>
              <a:t>1</a:t>
            </a:r>
            <a:endParaRPr lang="en-US" sz="2800" dirty="0"/>
          </a:p>
        </p:txBody>
      </p:sp>
      <p:sp>
        <p:nvSpPr>
          <p:cNvPr id="7" name="Text 5"/>
          <p:cNvSpPr/>
          <p:nvPr/>
        </p:nvSpPr>
        <p:spPr>
          <a:xfrm>
            <a:off x="1280160" y="502920"/>
            <a:ext cx="10332720" cy="411480"/>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Design-based agent identity</a:t>
            </a:r>
            <a:endParaRPr lang="en-US" sz="2300" dirty="0"/>
          </a:p>
        </p:txBody>
      </p:sp>
      <p:sp>
        <p:nvSpPr>
          <p:cNvPr id="8" name="Text 6"/>
          <p:cNvSpPr/>
          <p:nvPr/>
        </p:nvSpPr>
        <p:spPr>
          <a:xfrm>
            <a:off x="1280160" y="914400"/>
            <a:ext cx="10332720" cy="274320"/>
          </a:xfrm>
          <a:prstGeom prst="rect">
            <a:avLst/>
          </a:prstGeom>
          <a:noFill/>
          <a:ln/>
        </p:spPr>
        <p:txBody>
          <a:bodyPr wrap="square" lIns="0" tIns="0" rIns="0" bIns="0" rtlCol="0" anchor="ctr"/>
          <a:lstStyle/>
          <a:p>
            <a:pPr marL="0" indent="0">
              <a:buNone/>
            </a:pPr>
            <a:r>
              <a:rPr lang="en-US" sz="2000" i="1" dirty="0">
                <a:solidFill>
                  <a:schemeClr val="bg1"/>
                </a:solidFill>
                <a:latin typeface="Calibri" pitchFamily="34" charset="0"/>
                <a:ea typeface="Calibri" pitchFamily="34" charset="-122"/>
                <a:cs typeface="Calibri" pitchFamily="34" charset="-120"/>
              </a:rPr>
              <a:t>Encoding immutable design traits into a structured naming scheme</a:t>
            </a:r>
            <a:endParaRPr lang="en-US" sz="2000" dirty="0">
              <a:solidFill>
                <a:schemeClr val="bg1"/>
              </a:solidFill>
            </a:endParaRPr>
          </a:p>
        </p:txBody>
      </p:sp>
      <p:sp>
        <p:nvSpPr>
          <p:cNvPr id="9" name="Shape 7"/>
          <p:cNvSpPr/>
          <p:nvPr/>
        </p:nvSpPr>
        <p:spPr>
          <a:xfrm>
            <a:off x="457200" y="1691640"/>
            <a:ext cx="329184" cy="329184"/>
          </a:xfrm>
          <a:prstGeom prst="ellipse">
            <a:avLst/>
          </a:prstGeom>
          <a:solidFill>
            <a:srgbClr val="F2A900"/>
          </a:solidFill>
          <a:ln/>
        </p:spPr>
        <p:txBody>
          <a:bodyPr/>
          <a:lstStyle/>
          <a:p>
            <a:endParaRPr lang="en-US"/>
          </a:p>
        </p:txBody>
      </p:sp>
      <p:sp>
        <p:nvSpPr>
          <p:cNvPr id="10" name="Text 8"/>
          <p:cNvSpPr/>
          <p:nvPr/>
        </p:nvSpPr>
        <p:spPr>
          <a:xfrm>
            <a:off x="457200" y="169164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t>
            </a:r>
            <a:endParaRPr lang="en-US" sz="1400" dirty="0"/>
          </a:p>
        </p:txBody>
      </p:sp>
      <p:sp>
        <p:nvSpPr>
          <p:cNvPr id="11" name="Text 9"/>
          <p:cNvSpPr/>
          <p:nvPr/>
        </p:nvSpPr>
        <p:spPr>
          <a:xfrm>
            <a:off x="896112" y="1673352"/>
            <a:ext cx="372160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The problem</a:t>
            </a:r>
            <a:endParaRPr lang="en-US" sz="1600" dirty="0"/>
          </a:p>
        </p:txBody>
      </p:sp>
      <p:sp>
        <p:nvSpPr>
          <p:cNvPr id="12" name="Text 10"/>
          <p:cNvSpPr/>
          <p:nvPr/>
        </p:nvSpPr>
        <p:spPr>
          <a:xfrm>
            <a:off x="457200" y="2148840"/>
            <a:ext cx="4160520" cy="1920240"/>
          </a:xfrm>
          <a:prstGeom prst="rect">
            <a:avLst/>
          </a:prstGeom>
          <a:noFill/>
          <a:ln/>
        </p:spPr>
        <p:txBody>
          <a:bodyPr wrap="square" lIns="0" tIns="0" rIns="0" bIns="0" rtlCol="0" anchor="t"/>
          <a:lstStyle/>
          <a:p>
            <a:pPr marL="0" indent="0" algn="l">
              <a:lnSpc>
                <a:spcPts val="1800"/>
              </a:lnSpc>
              <a:buNone/>
            </a:pPr>
            <a:r>
              <a:rPr lang="en-US" sz="1300" dirty="0">
                <a:solidFill>
                  <a:srgbClr val="6B7785"/>
                </a:solidFill>
                <a:latin typeface="Calibri" pitchFamily="34" charset="0"/>
                <a:ea typeface="Calibri" pitchFamily="34" charset="-122"/>
                <a:cs typeface="Calibri" pitchFamily="34" charset="-120"/>
              </a:rPr>
              <a:t>Classical security ties access rights to a verified, stable identity. But an AI agent is not a deterministic workload, it reasons, generalizes, and keeps changing (“metamorphing”). A verified identity therefore says very little about how the agent will actually behave on a given task.</a:t>
            </a:r>
            <a:endParaRPr lang="en-US" sz="1300" dirty="0"/>
          </a:p>
        </p:txBody>
      </p:sp>
      <p:sp>
        <p:nvSpPr>
          <p:cNvPr id="13" name="Shape 11"/>
          <p:cNvSpPr/>
          <p:nvPr/>
        </p:nvSpPr>
        <p:spPr>
          <a:xfrm>
            <a:off x="457200" y="4206240"/>
            <a:ext cx="4160520" cy="777240"/>
          </a:xfrm>
          <a:prstGeom prst="rect">
            <a:avLst/>
          </a:prstGeom>
          <a:solidFill>
            <a:srgbClr val="F3F6FB"/>
          </a:solidFill>
          <a:ln/>
        </p:spPr>
        <p:txBody>
          <a:bodyPr/>
          <a:lstStyle/>
          <a:p>
            <a:endParaRPr lang="en-US"/>
          </a:p>
        </p:txBody>
      </p:sp>
      <p:sp>
        <p:nvSpPr>
          <p:cNvPr id="14" name="Text 12"/>
          <p:cNvSpPr/>
          <p:nvPr/>
        </p:nvSpPr>
        <p:spPr>
          <a:xfrm>
            <a:off x="685800" y="4206240"/>
            <a:ext cx="3703320" cy="777240"/>
          </a:xfrm>
          <a:prstGeom prst="rect">
            <a:avLst/>
          </a:prstGeom>
          <a:noFill/>
          <a:ln/>
        </p:spPr>
        <p:txBody>
          <a:bodyPr wrap="square" lIns="0" tIns="0" rIns="0" bIns="0" rtlCol="0" anchor="ctr"/>
          <a:lstStyle/>
          <a:p>
            <a:pPr marL="0" indent="0">
              <a:buNone/>
            </a:pPr>
            <a:r>
              <a:rPr lang="en-US" sz="1600" b="1" i="1" dirty="0">
                <a:solidFill>
                  <a:srgbClr val="13294B"/>
                </a:solidFill>
                <a:latin typeface="Arial" pitchFamily="34" charset="0"/>
                <a:ea typeface="Arial" pitchFamily="34" charset="-122"/>
                <a:cs typeface="Arial" pitchFamily="34" charset="-120"/>
              </a:rPr>
              <a:t>Identity ≠ predictable behavior</a:t>
            </a:r>
            <a:endParaRPr lang="en-US" sz="1600" dirty="0"/>
          </a:p>
        </p:txBody>
      </p:sp>
      <p:sp>
        <p:nvSpPr>
          <p:cNvPr id="15" name="Shape 13"/>
          <p:cNvSpPr/>
          <p:nvPr/>
        </p:nvSpPr>
        <p:spPr>
          <a:xfrm>
            <a:off x="4937760" y="1691640"/>
            <a:ext cx="329184" cy="329184"/>
          </a:xfrm>
          <a:prstGeom prst="ellipse">
            <a:avLst/>
          </a:prstGeom>
          <a:solidFill>
            <a:srgbClr val="F2A900"/>
          </a:solidFill>
          <a:ln/>
        </p:spPr>
        <p:txBody>
          <a:bodyPr/>
          <a:lstStyle/>
          <a:p>
            <a:endParaRPr lang="en-US"/>
          </a:p>
        </p:txBody>
      </p:sp>
      <p:sp>
        <p:nvSpPr>
          <p:cNvPr id="16" name="Text 14"/>
          <p:cNvSpPr/>
          <p:nvPr/>
        </p:nvSpPr>
        <p:spPr>
          <a:xfrm>
            <a:off x="4937760" y="169164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7" name="Text 15"/>
          <p:cNvSpPr/>
          <p:nvPr/>
        </p:nvSpPr>
        <p:spPr>
          <a:xfrm>
            <a:off x="5376672" y="1673352"/>
            <a:ext cx="632764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Proposed approach</a:t>
            </a:r>
            <a:endParaRPr lang="en-US" sz="1600" dirty="0"/>
          </a:p>
        </p:txBody>
      </p:sp>
      <p:sp>
        <p:nvSpPr>
          <p:cNvPr id="18" name="Text 16"/>
          <p:cNvSpPr/>
          <p:nvPr/>
        </p:nvSpPr>
        <p:spPr>
          <a:xfrm>
            <a:off x="4937760" y="2148840"/>
            <a:ext cx="6766560" cy="1051560"/>
          </a:xfrm>
          <a:prstGeom prst="rect">
            <a:avLst/>
          </a:prstGeom>
          <a:noFill/>
          <a:ln/>
        </p:spPr>
        <p:txBody>
          <a:bodyPr wrap="square" lIns="0" tIns="0" rIns="0" bIns="0" rtlCol="0" anchor="t"/>
          <a:lstStyle/>
          <a:p>
            <a:pPr marL="0" indent="0" algn="l">
              <a:lnSpc>
                <a:spcPts val="1800"/>
              </a:lnSpc>
              <a:buNone/>
            </a:pPr>
            <a:r>
              <a:rPr lang="en-US" sz="1300" dirty="0">
                <a:solidFill>
                  <a:srgbClr val="6B7785"/>
                </a:solidFill>
                <a:latin typeface="Calibri" pitchFamily="34" charset="0"/>
                <a:ea typeface="Calibri" pitchFamily="34" charset="-122"/>
                <a:cs typeface="Calibri" pitchFamily="34" charset="-120"/>
              </a:rPr>
              <a:t>Instead of a flat identity string, encode an agent’s immutable design traits, stakeholders, software components, models and tools, and the relationships between them, directly into the naming scheme. Identity is anchored to design, not to operational behavior.</a:t>
            </a:r>
            <a:endParaRPr lang="en-US" sz="1300" dirty="0"/>
          </a:p>
        </p:txBody>
      </p:sp>
      <p:sp>
        <p:nvSpPr>
          <p:cNvPr id="19" name="Shape 17"/>
          <p:cNvSpPr/>
          <p:nvPr/>
        </p:nvSpPr>
        <p:spPr>
          <a:xfrm>
            <a:off x="4937760" y="3337560"/>
            <a:ext cx="329184" cy="329184"/>
          </a:xfrm>
          <a:prstGeom prst="ellipse">
            <a:avLst/>
          </a:prstGeom>
          <a:solidFill>
            <a:srgbClr val="F2A900"/>
          </a:solidFill>
          <a:ln/>
        </p:spPr>
        <p:txBody>
          <a:bodyPr/>
          <a:lstStyle/>
          <a:p>
            <a:endParaRPr lang="en-US"/>
          </a:p>
        </p:txBody>
      </p:sp>
      <p:sp>
        <p:nvSpPr>
          <p:cNvPr id="20" name="Text 18"/>
          <p:cNvSpPr/>
          <p:nvPr/>
        </p:nvSpPr>
        <p:spPr>
          <a:xfrm>
            <a:off x="4937760" y="333756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76672" y="3319272"/>
            <a:ext cx="632764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Deliverables</a:t>
            </a:r>
            <a:endParaRPr lang="en-US" sz="1600" dirty="0"/>
          </a:p>
        </p:txBody>
      </p:sp>
      <p:sp>
        <p:nvSpPr>
          <p:cNvPr id="22" name="Text 20"/>
          <p:cNvSpPr/>
          <p:nvPr/>
        </p:nvSpPr>
        <p:spPr>
          <a:xfrm>
            <a:off x="4983480" y="3794760"/>
            <a:ext cx="6675120" cy="1280160"/>
          </a:xfrm>
          <a:prstGeom prst="rect">
            <a:avLst/>
          </a:prstGeom>
          <a:noFill/>
          <a:ln/>
        </p:spPr>
        <p:txBody>
          <a:bodyPr wrap="square" lIns="0" tIns="0" rIns="0" bIns="0" rtlCol="0" anchor="t"/>
          <a:lstStyle/>
          <a:p>
            <a:pPr marL="342900" indent="-342900" algn="l">
              <a:lnSpc>
                <a:spcPts val="1600"/>
              </a:lnSpc>
              <a:spcAft>
                <a:spcPts val="1000"/>
              </a:spcAft>
              <a:buSzPct val="100000"/>
              <a:buChar char="•"/>
            </a:pPr>
            <a:r>
              <a:rPr lang="en-US" sz="1250" dirty="0">
                <a:solidFill>
                  <a:srgbClr val="6B7785"/>
                </a:solidFill>
                <a:latin typeface="Calibri" pitchFamily="34" charset="0"/>
                <a:ea typeface="Calibri" pitchFamily="34" charset="-122"/>
                <a:cs typeface="Calibri" pitchFamily="34" charset="-120"/>
              </a:rPr>
              <a:t>Task 1: Study of AI agent design and typical relationships across popular agents; feasible assurances and corresponding trust models</a:t>
            </a:r>
            <a:endParaRPr lang="en-US" sz="1250" dirty="0"/>
          </a:p>
          <a:p>
            <a:pPr marL="342900" indent="-342900" algn="l">
              <a:lnSpc>
                <a:spcPts val="1600"/>
              </a:lnSpc>
              <a:spcAft>
                <a:spcPts val="1000"/>
              </a:spcAft>
              <a:buSzPct val="100000"/>
              <a:buChar char="•"/>
            </a:pPr>
            <a:r>
              <a:rPr lang="en-US" sz="1250" dirty="0">
                <a:solidFill>
                  <a:srgbClr val="6B7785"/>
                </a:solidFill>
                <a:latin typeface="Calibri" pitchFamily="34" charset="0"/>
                <a:ea typeface="Calibri" pitchFamily="34" charset="-122"/>
                <a:cs typeface="Calibri" pitchFamily="34" charset="-120"/>
              </a:rPr>
              <a:t>Task 2: Requirements and mechanism for a naming scheme that formally and deterministically packages these assurances into an identity string usable for access rights</a:t>
            </a:r>
            <a:endParaRPr lang="en-US" sz="1250" dirty="0"/>
          </a:p>
        </p:txBody>
      </p:sp>
      <p:sp>
        <p:nvSpPr>
          <p:cNvPr id="23" name="Shape 21"/>
          <p:cNvSpPr/>
          <p:nvPr/>
        </p:nvSpPr>
        <p:spPr>
          <a:xfrm>
            <a:off x="457200" y="5257800"/>
            <a:ext cx="11274552" cy="1234440"/>
          </a:xfrm>
          <a:prstGeom prst="rect">
            <a:avLst/>
          </a:prstGeom>
          <a:solidFill>
            <a:srgbClr val="F3F6FB"/>
          </a:solidFill>
          <a:ln/>
        </p:spPr>
        <p:txBody>
          <a:bodyPr/>
          <a:lstStyle/>
          <a:p>
            <a:endParaRPr lang="en-US"/>
          </a:p>
        </p:txBody>
      </p:sp>
      <p:sp>
        <p:nvSpPr>
          <p:cNvPr id="24" name="Text 22"/>
          <p:cNvSpPr/>
          <p:nvPr/>
        </p:nvSpPr>
        <p:spPr>
          <a:xfrm>
            <a:off x="731520" y="5367528"/>
            <a:ext cx="10698480" cy="256032"/>
          </a:xfrm>
          <a:prstGeom prst="rect">
            <a:avLst/>
          </a:prstGeom>
          <a:noFill/>
          <a:ln/>
        </p:spPr>
        <p:txBody>
          <a:bodyPr wrap="square" lIns="0" tIns="0" rIns="0" bIns="0" rtlCol="0" anchor="ctr"/>
          <a:lstStyle/>
          <a:p>
            <a:pPr marL="0" indent="0">
              <a:buNone/>
            </a:pPr>
            <a:r>
              <a:rPr lang="en-US" sz="1100" b="1" kern="0" spc="100" dirty="0">
                <a:solidFill>
                  <a:srgbClr val="13294B"/>
                </a:solidFill>
                <a:latin typeface="Calibri" pitchFamily="34" charset="0"/>
                <a:ea typeface="Calibri" pitchFamily="34" charset="-122"/>
                <a:cs typeface="Calibri" pitchFamily="34" charset="-120"/>
              </a:rPr>
              <a:t>FOOD FOR THOUGHTS</a:t>
            </a:r>
            <a:endParaRPr lang="en-US" sz="1100" dirty="0"/>
          </a:p>
        </p:txBody>
      </p:sp>
      <p:sp>
        <p:nvSpPr>
          <p:cNvPr id="25" name="Text 23"/>
          <p:cNvSpPr/>
          <p:nvPr/>
        </p:nvSpPr>
        <p:spPr>
          <a:xfrm>
            <a:off x="731520" y="5641848"/>
            <a:ext cx="10698480" cy="777240"/>
          </a:xfrm>
          <a:prstGeom prst="rect">
            <a:avLst/>
          </a:prstGeom>
          <a:noFill/>
          <a:ln/>
        </p:spPr>
        <p:txBody>
          <a:bodyPr wrap="square" lIns="0" tIns="0" rIns="0" bIns="0" rtlCol="0" anchor="t"/>
          <a:lstStyle/>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What immutable traits can realistically be captured for a pure software entity with no physical anchor?</a:t>
            </a:r>
            <a:endParaRPr lang="en-US" sz="1200" dirty="0"/>
          </a:p>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How would this scheme interoperate with existing identity carriers (WIMSE, AAuth, X.509)?</a:t>
            </a:r>
            <a:endParaRPr lang="en-US" sz="1200" dirty="0"/>
          </a:p>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Who validates or certifies the claimed design traits?</a:t>
            </a:r>
            <a:endParaRPr lang="en-US" sz="1200" dirty="0"/>
          </a:p>
        </p:txBody>
      </p:sp>
      <p:pic>
        <p:nvPicPr>
          <p:cNvPr id="29" name="Picture 28">
            <a:extLst>
              <a:ext uri="{FF2B5EF4-FFF2-40B4-BE49-F238E27FC236}">
                <a16:creationId xmlns:a16="http://schemas.microsoft.com/office/drawing/2014/main" id="{A82FCC38-D53D-E593-070A-9ADEAB42E95B}"/>
              </a:ext>
            </a:extLst>
          </p:cNvPr>
          <p:cNvPicPr>
            <a:picLocks noChangeAspect="1"/>
          </p:cNvPicPr>
          <p:nvPr/>
        </p:nvPicPr>
        <p:blipFill>
          <a:blip r:embed="rId3"/>
          <a:stretch>
            <a:fillRect/>
          </a:stretch>
        </p:blipFill>
        <p:spPr>
          <a:xfrm>
            <a:off x="9958212" y="107366"/>
            <a:ext cx="2064271" cy="69650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590585A9-5B7D-B10E-0B07-698C3CA4F129}"/>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Shape 1"/>
          <p:cNvSpPr/>
          <p:nvPr/>
        </p:nvSpPr>
        <p:spPr>
          <a:xfrm>
            <a:off x="457200" y="384048"/>
            <a:ext cx="640080" cy="640080"/>
          </a:xfrm>
          <a:prstGeom prst="ellipse">
            <a:avLst/>
          </a:prstGeom>
          <a:solidFill>
            <a:srgbClr val="FFFFFF"/>
          </a:solidFill>
          <a:ln/>
        </p:spPr>
        <p:txBody>
          <a:bodyPr/>
          <a:lstStyle/>
          <a:p>
            <a:endParaRPr lang="en-US"/>
          </a:p>
        </p:txBody>
      </p:sp>
      <p:sp>
        <p:nvSpPr>
          <p:cNvPr id="4" name="Text 2"/>
          <p:cNvSpPr/>
          <p:nvPr/>
        </p:nvSpPr>
        <p:spPr>
          <a:xfrm>
            <a:off x="457200" y="384048"/>
            <a:ext cx="640080" cy="640080"/>
          </a:xfrm>
          <a:prstGeom prst="rect">
            <a:avLst/>
          </a:prstGeom>
          <a:noFill/>
          <a:ln/>
        </p:spPr>
        <p:txBody>
          <a:bodyPr wrap="square" lIns="0" tIns="0" rIns="0" bIns="0" rtlCol="0" anchor="ctr"/>
          <a:lstStyle/>
          <a:p>
            <a:pPr marL="0" indent="0" algn="ctr">
              <a:buNone/>
            </a:pPr>
            <a:r>
              <a:rPr lang="en-US" sz="2800" b="1" dirty="0">
                <a:solidFill>
                  <a:srgbClr val="13294B"/>
                </a:solidFill>
                <a:latin typeface="Arial" pitchFamily="34" charset="0"/>
                <a:ea typeface="Arial" pitchFamily="34" charset="-122"/>
                <a:cs typeface="Arial" pitchFamily="34" charset="-120"/>
              </a:rPr>
              <a:t>2</a:t>
            </a:r>
            <a:endParaRPr lang="en-US" sz="2800" dirty="0"/>
          </a:p>
        </p:txBody>
      </p:sp>
      <p:sp>
        <p:nvSpPr>
          <p:cNvPr id="7" name="Text 5"/>
          <p:cNvSpPr/>
          <p:nvPr/>
        </p:nvSpPr>
        <p:spPr>
          <a:xfrm>
            <a:off x="1280160" y="525780"/>
            <a:ext cx="10332720" cy="411480"/>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Intent-based security policies</a:t>
            </a:r>
            <a:endParaRPr lang="en-US" sz="2300" dirty="0"/>
          </a:p>
        </p:txBody>
      </p:sp>
      <p:sp>
        <p:nvSpPr>
          <p:cNvPr id="8" name="Text 6"/>
          <p:cNvSpPr/>
          <p:nvPr/>
        </p:nvSpPr>
        <p:spPr>
          <a:xfrm>
            <a:off x="1280160" y="982980"/>
            <a:ext cx="10332720" cy="274320"/>
          </a:xfrm>
          <a:prstGeom prst="rect">
            <a:avLst/>
          </a:prstGeom>
          <a:noFill/>
          <a:ln/>
        </p:spPr>
        <p:txBody>
          <a:bodyPr wrap="square" lIns="0" tIns="0" rIns="0" bIns="0" rtlCol="0" anchor="ctr"/>
          <a:lstStyle/>
          <a:p>
            <a:pPr marL="0" indent="0">
              <a:buNone/>
            </a:pPr>
            <a:r>
              <a:rPr lang="en-US" sz="2000" i="1" dirty="0">
                <a:solidFill>
                  <a:schemeClr val="bg1"/>
                </a:solidFill>
                <a:latin typeface="Calibri" pitchFamily="34" charset="0"/>
                <a:ea typeface="Calibri" pitchFamily="34" charset="-122"/>
                <a:cs typeface="Calibri" pitchFamily="34" charset="-120"/>
              </a:rPr>
              <a:t>Rethinking access control beyond the identity-bound matrix</a:t>
            </a:r>
          </a:p>
        </p:txBody>
      </p:sp>
      <p:sp>
        <p:nvSpPr>
          <p:cNvPr id="9" name="Shape 7"/>
          <p:cNvSpPr/>
          <p:nvPr/>
        </p:nvSpPr>
        <p:spPr>
          <a:xfrm>
            <a:off x="457200" y="1691640"/>
            <a:ext cx="329184" cy="329184"/>
          </a:xfrm>
          <a:prstGeom prst="ellipse">
            <a:avLst/>
          </a:prstGeom>
          <a:solidFill>
            <a:srgbClr val="F2A900"/>
          </a:solidFill>
          <a:ln/>
        </p:spPr>
        <p:txBody>
          <a:bodyPr/>
          <a:lstStyle/>
          <a:p>
            <a:endParaRPr lang="en-US"/>
          </a:p>
        </p:txBody>
      </p:sp>
      <p:sp>
        <p:nvSpPr>
          <p:cNvPr id="10" name="Text 8"/>
          <p:cNvSpPr/>
          <p:nvPr/>
        </p:nvSpPr>
        <p:spPr>
          <a:xfrm>
            <a:off x="457200" y="169164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t>
            </a:r>
            <a:endParaRPr lang="en-US" sz="1400" dirty="0"/>
          </a:p>
        </p:txBody>
      </p:sp>
      <p:sp>
        <p:nvSpPr>
          <p:cNvPr id="11" name="Text 9"/>
          <p:cNvSpPr/>
          <p:nvPr/>
        </p:nvSpPr>
        <p:spPr>
          <a:xfrm>
            <a:off x="896112" y="1673352"/>
            <a:ext cx="372160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The problem</a:t>
            </a:r>
            <a:endParaRPr lang="en-US" sz="1600" dirty="0"/>
          </a:p>
        </p:txBody>
      </p:sp>
      <p:sp>
        <p:nvSpPr>
          <p:cNvPr id="12" name="Text 10"/>
          <p:cNvSpPr/>
          <p:nvPr/>
        </p:nvSpPr>
        <p:spPr>
          <a:xfrm>
            <a:off x="457200" y="2148840"/>
            <a:ext cx="4160520" cy="1920240"/>
          </a:xfrm>
          <a:prstGeom prst="rect">
            <a:avLst/>
          </a:prstGeom>
          <a:noFill/>
          <a:ln/>
        </p:spPr>
        <p:txBody>
          <a:bodyPr wrap="square" lIns="0" tIns="0" rIns="0" bIns="0" rtlCol="0" anchor="t"/>
          <a:lstStyle/>
          <a:p>
            <a:pPr marL="0" indent="0" algn="l">
              <a:lnSpc>
                <a:spcPts val="1800"/>
              </a:lnSpc>
              <a:buNone/>
            </a:pPr>
            <a:r>
              <a:rPr lang="en-US" sz="1300" dirty="0">
                <a:solidFill>
                  <a:srgbClr val="6B7785"/>
                </a:solidFill>
                <a:latin typeface="Calibri" pitchFamily="34" charset="0"/>
                <a:ea typeface="Calibri" pitchFamily="34" charset="-122"/>
                <a:cs typeface="Calibri" pitchFamily="34" charset="-120"/>
              </a:rPr>
              <a:t>Classical access control formalizes rights around an access control matrix (DAC, RBAC, etc.), attached directly or indirectly to a verified identity. If identity says little about an agent’s behavior, policies built on that matrix inherit the same weakness and revoking an identity does not reliably stop unwanted behavior.</a:t>
            </a:r>
            <a:endParaRPr lang="en-US" sz="1300" dirty="0"/>
          </a:p>
        </p:txBody>
      </p:sp>
      <p:sp>
        <p:nvSpPr>
          <p:cNvPr id="13" name="Shape 11"/>
          <p:cNvSpPr/>
          <p:nvPr/>
        </p:nvSpPr>
        <p:spPr>
          <a:xfrm>
            <a:off x="457200" y="4206240"/>
            <a:ext cx="4160520" cy="777240"/>
          </a:xfrm>
          <a:prstGeom prst="rect">
            <a:avLst/>
          </a:prstGeom>
          <a:solidFill>
            <a:srgbClr val="F3F6FB"/>
          </a:solidFill>
          <a:ln/>
        </p:spPr>
        <p:txBody>
          <a:bodyPr/>
          <a:lstStyle/>
          <a:p>
            <a:endParaRPr lang="en-US"/>
          </a:p>
        </p:txBody>
      </p:sp>
      <p:sp>
        <p:nvSpPr>
          <p:cNvPr id="14" name="Text 12"/>
          <p:cNvSpPr/>
          <p:nvPr/>
        </p:nvSpPr>
        <p:spPr>
          <a:xfrm>
            <a:off x="685800" y="4206240"/>
            <a:ext cx="3703320" cy="777240"/>
          </a:xfrm>
          <a:prstGeom prst="rect">
            <a:avLst/>
          </a:prstGeom>
          <a:noFill/>
          <a:ln/>
        </p:spPr>
        <p:txBody>
          <a:bodyPr wrap="square" lIns="0" tIns="0" rIns="0" bIns="0" rtlCol="0" anchor="ctr"/>
          <a:lstStyle/>
          <a:p>
            <a:pPr marL="0" indent="0">
              <a:buNone/>
            </a:pPr>
            <a:r>
              <a:rPr lang="en-US" sz="1600" b="1" i="1" dirty="0">
                <a:solidFill>
                  <a:srgbClr val="13294B"/>
                </a:solidFill>
                <a:latin typeface="Arial" pitchFamily="34" charset="0"/>
                <a:ea typeface="Arial" pitchFamily="34" charset="-122"/>
                <a:cs typeface="Arial" pitchFamily="34" charset="-120"/>
              </a:rPr>
              <a:t>Policies that hold regardless of identity</a:t>
            </a:r>
            <a:endParaRPr lang="en-US" sz="1600" dirty="0"/>
          </a:p>
        </p:txBody>
      </p:sp>
      <p:sp>
        <p:nvSpPr>
          <p:cNvPr id="15" name="Shape 13"/>
          <p:cNvSpPr/>
          <p:nvPr/>
        </p:nvSpPr>
        <p:spPr>
          <a:xfrm>
            <a:off x="4937760" y="1691640"/>
            <a:ext cx="329184" cy="329184"/>
          </a:xfrm>
          <a:prstGeom prst="ellipse">
            <a:avLst/>
          </a:prstGeom>
          <a:solidFill>
            <a:srgbClr val="F2A900"/>
          </a:solidFill>
          <a:ln/>
        </p:spPr>
        <p:txBody>
          <a:bodyPr/>
          <a:lstStyle/>
          <a:p>
            <a:endParaRPr lang="en-US"/>
          </a:p>
        </p:txBody>
      </p:sp>
      <p:sp>
        <p:nvSpPr>
          <p:cNvPr id="16" name="Text 14"/>
          <p:cNvSpPr/>
          <p:nvPr/>
        </p:nvSpPr>
        <p:spPr>
          <a:xfrm>
            <a:off x="4937760" y="169164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7" name="Text 15"/>
          <p:cNvSpPr/>
          <p:nvPr/>
        </p:nvSpPr>
        <p:spPr>
          <a:xfrm>
            <a:off x="5376672" y="1673352"/>
            <a:ext cx="632764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Proposed approach</a:t>
            </a:r>
            <a:endParaRPr lang="en-US" sz="1600" dirty="0"/>
          </a:p>
        </p:txBody>
      </p:sp>
      <p:sp>
        <p:nvSpPr>
          <p:cNvPr id="18" name="Text 16"/>
          <p:cNvSpPr/>
          <p:nvPr/>
        </p:nvSpPr>
        <p:spPr>
          <a:xfrm>
            <a:off x="4937760" y="2148840"/>
            <a:ext cx="6766560" cy="1051560"/>
          </a:xfrm>
          <a:prstGeom prst="rect">
            <a:avLst/>
          </a:prstGeom>
          <a:noFill/>
          <a:ln/>
        </p:spPr>
        <p:txBody>
          <a:bodyPr wrap="square" lIns="0" tIns="0" rIns="0" bIns="0" rtlCol="0" anchor="t"/>
          <a:lstStyle/>
          <a:p>
            <a:pPr marL="0" indent="0" algn="l">
              <a:lnSpc>
                <a:spcPts val="1800"/>
              </a:lnSpc>
              <a:buNone/>
            </a:pPr>
            <a:r>
              <a:rPr lang="en-US" sz="1300" dirty="0">
                <a:solidFill>
                  <a:srgbClr val="6B7785"/>
                </a:solidFill>
                <a:latin typeface="Calibri" pitchFamily="34" charset="0"/>
                <a:ea typeface="Calibri" pitchFamily="34" charset="-122"/>
                <a:cs typeface="Calibri" pitchFamily="34" charset="-120"/>
              </a:rPr>
              <a:t>Express security policies as intents, properties that must be preserved at all times, regardless of which actor or agent is involved rather than rights bound to an identity. This embraces the agent’s own reasoning capability, accepting an intrinsic fuzziness alongside existing strict models.</a:t>
            </a:r>
            <a:endParaRPr lang="en-US" sz="1300" dirty="0"/>
          </a:p>
        </p:txBody>
      </p:sp>
      <p:sp>
        <p:nvSpPr>
          <p:cNvPr id="19" name="Shape 17"/>
          <p:cNvSpPr/>
          <p:nvPr/>
        </p:nvSpPr>
        <p:spPr>
          <a:xfrm>
            <a:off x="4937760" y="3337560"/>
            <a:ext cx="329184" cy="329184"/>
          </a:xfrm>
          <a:prstGeom prst="ellipse">
            <a:avLst/>
          </a:prstGeom>
          <a:solidFill>
            <a:srgbClr val="F2A900"/>
          </a:solidFill>
          <a:ln/>
        </p:spPr>
        <p:txBody>
          <a:bodyPr/>
          <a:lstStyle/>
          <a:p>
            <a:endParaRPr lang="en-US"/>
          </a:p>
        </p:txBody>
      </p:sp>
      <p:sp>
        <p:nvSpPr>
          <p:cNvPr id="20" name="Text 18"/>
          <p:cNvSpPr/>
          <p:nvPr/>
        </p:nvSpPr>
        <p:spPr>
          <a:xfrm>
            <a:off x="4937760" y="333756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76672" y="3319272"/>
            <a:ext cx="632764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Deliverables</a:t>
            </a:r>
            <a:endParaRPr lang="en-US" sz="1600" dirty="0"/>
          </a:p>
        </p:txBody>
      </p:sp>
      <p:sp>
        <p:nvSpPr>
          <p:cNvPr id="22" name="Text 20"/>
          <p:cNvSpPr/>
          <p:nvPr/>
        </p:nvSpPr>
        <p:spPr>
          <a:xfrm>
            <a:off x="4983480" y="3794760"/>
            <a:ext cx="6675120" cy="1280160"/>
          </a:xfrm>
          <a:prstGeom prst="rect">
            <a:avLst/>
          </a:prstGeom>
          <a:noFill/>
          <a:ln/>
        </p:spPr>
        <p:txBody>
          <a:bodyPr wrap="square" lIns="0" tIns="0" rIns="0" bIns="0" rtlCol="0" anchor="t"/>
          <a:lstStyle/>
          <a:p>
            <a:pPr marL="342900" indent="-342900" algn="l">
              <a:lnSpc>
                <a:spcPts val="1600"/>
              </a:lnSpc>
              <a:spcAft>
                <a:spcPts val="1000"/>
              </a:spcAft>
              <a:buSzPct val="100000"/>
              <a:buChar char="•"/>
            </a:pPr>
            <a:r>
              <a:rPr lang="en-US" sz="1250" dirty="0">
                <a:solidFill>
                  <a:srgbClr val="6B7785"/>
                </a:solidFill>
                <a:latin typeface="Calibri" pitchFamily="34" charset="0"/>
                <a:ea typeface="Calibri" pitchFamily="34" charset="-122"/>
                <a:cs typeface="Calibri" pitchFamily="34" charset="-120"/>
              </a:rPr>
              <a:t>Task 1: Study of how a security policy can be expressed as an “intent” independent of the involved actors and agents; understand its features and limits</a:t>
            </a:r>
            <a:endParaRPr lang="en-US" sz="1250" dirty="0"/>
          </a:p>
          <a:p>
            <a:pPr marL="342900" indent="-342900" algn="l">
              <a:lnSpc>
                <a:spcPts val="1600"/>
              </a:lnSpc>
              <a:spcAft>
                <a:spcPts val="1000"/>
              </a:spcAft>
              <a:buSzPct val="100000"/>
              <a:buChar char="•"/>
            </a:pPr>
            <a:r>
              <a:rPr lang="en-US" sz="1250" dirty="0">
                <a:solidFill>
                  <a:srgbClr val="6B7785"/>
                </a:solidFill>
                <a:latin typeface="Calibri" pitchFamily="34" charset="0"/>
                <a:ea typeface="Calibri" pitchFamily="34" charset="-122"/>
                <a:cs typeface="Calibri" pitchFamily="34" charset="-120"/>
              </a:rPr>
              <a:t>Task 2: Study of coexistence between classical, identity-bound security policies and intent-based security policies</a:t>
            </a:r>
            <a:endParaRPr lang="en-US" sz="1250" dirty="0"/>
          </a:p>
        </p:txBody>
      </p:sp>
      <p:sp>
        <p:nvSpPr>
          <p:cNvPr id="23" name="Shape 21"/>
          <p:cNvSpPr/>
          <p:nvPr/>
        </p:nvSpPr>
        <p:spPr>
          <a:xfrm>
            <a:off x="457200" y="5257800"/>
            <a:ext cx="11274552" cy="1234440"/>
          </a:xfrm>
          <a:prstGeom prst="rect">
            <a:avLst/>
          </a:prstGeom>
          <a:solidFill>
            <a:srgbClr val="F3F6FB"/>
          </a:solidFill>
          <a:ln/>
        </p:spPr>
        <p:txBody>
          <a:bodyPr/>
          <a:lstStyle/>
          <a:p>
            <a:endParaRPr lang="en-US"/>
          </a:p>
        </p:txBody>
      </p:sp>
      <p:sp>
        <p:nvSpPr>
          <p:cNvPr id="24" name="Text 22"/>
          <p:cNvSpPr/>
          <p:nvPr/>
        </p:nvSpPr>
        <p:spPr>
          <a:xfrm>
            <a:off x="731520" y="5367528"/>
            <a:ext cx="10698480" cy="256032"/>
          </a:xfrm>
          <a:prstGeom prst="rect">
            <a:avLst/>
          </a:prstGeom>
          <a:noFill/>
          <a:ln/>
        </p:spPr>
        <p:txBody>
          <a:bodyPr wrap="square" lIns="0" tIns="0" rIns="0" bIns="0" rtlCol="0" anchor="ctr"/>
          <a:lstStyle/>
          <a:p>
            <a:pPr marL="0" indent="0">
              <a:buNone/>
            </a:pPr>
            <a:r>
              <a:rPr lang="en-US" sz="1100" b="1" kern="0" spc="100" dirty="0">
                <a:solidFill>
                  <a:srgbClr val="13294B"/>
                </a:solidFill>
                <a:latin typeface="Calibri" pitchFamily="34" charset="0"/>
                <a:ea typeface="Calibri" pitchFamily="34" charset="-122"/>
                <a:cs typeface="Calibri" pitchFamily="34" charset="-120"/>
              </a:rPr>
              <a:t>DISCUSSION QUESTIONS FOR TOMORROW</a:t>
            </a:r>
            <a:endParaRPr lang="en-US" sz="1100" dirty="0"/>
          </a:p>
        </p:txBody>
      </p:sp>
      <p:sp>
        <p:nvSpPr>
          <p:cNvPr id="25" name="Text 23"/>
          <p:cNvSpPr/>
          <p:nvPr/>
        </p:nvSpPr>
        <p:spPr>
          <a:xfrm>
            <a:off x="731520" y="5641848"/>
            <a:ext cx="10698480" cy="777240"/>
          </a:xfrm>
          <a:prstGeom prst="rect">
            <a:avLst/>
          </a:prstGeom>
          <a:noFill/>
          <a:ln/>
        </p:spPr>
        <p:txBody>
          <a:bodyPr wrap="square" lIns="0" tIns="0" rIns="0" bIns="0" rtlCol="0" anchor="t"/>
          <a:lstStyle/>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How do we test or verify compliance with a fuzzy, intent-based policy?</a:t>
            </a:r>
            <a:endParaRPr lang="en-US" sz="1200" dirty="0"/>
          </a:p>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Can intent-based and classical models compose, or do they need separate enforcement points?</a:t>
            </a:r>
            <a:endParaRPr lang="en-US" sz="1200" dirty="0"/>
          </a:p>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What is a minimal viable use case to pilot this approach?</a:t>
            </a:r>
            <a:endParaRPr lang="en-US" sz="1200" dirty="0"/>
          </a:p>
        </p:txBody>
      </p:sp>
      <p:pic>
        <p:nvPicPr>
          <p:cNvPr id="29" name="Picture 28">
            <a:extLst>
              <a:ext uri="{FF2B5EF4-FFF2-40B4-BE49-F238E27FC236}">
                <a16:creationId xmlns:a16="http://schemas.microsoft.com/office/drawing/2014/main" id="{26778884-4D5C-ED2F-42A9-B6339054BD4A}"/>
              </a:ext>
            </a:extLst>
          </p:cNvPr>
          <p:cNvPicPr>
            <a:picLocks noChangeAspect="1"/>
          </p:cNvPicPr>
          <p:nvPr/>
        </p:nvPicPr>
        <p:blipFill>
          <a:blip r:embed="rId3"/>
          <a:stretch>
            <a:fillRect/>
          </a:stretch>
        </p:blipFill>
        <p:spPr>
          <a:xfrm>
            <a:off x="9958212" y="107366"/>
            <a:ext cx="2064271" cy="69650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8707373E-AC86-59D9-E8A3-5008D38D5751}"/>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Shape 1"/>
          <p:cNvSpPr/>
          <p:nvPr/>
        </p:nvSpPr>
        <p:spPr>
          <a:xfrm>
            <a:off x="457200" y="384048"/>
            <a:ext cx="640080" cy="640080"/>
          </a:xfrm>
          <a:prstGeom prst="ellipse">
            <a:avLst/>
          </a:prstGeom>
          <a:solidFill>
            <a:srgbClr val="FFFFFF"/>
          </a:solidFill>
          <a:ln/>
        </p:spPr>
        <p:txBody>
          <a:bodyPr/>
          <a:lstStyle/>
          <a:p>
            <a:endParaRPr lang="en-US"/>
          </a:p>
        </p:txBody>
      </p:sp>
      <p:sp>
        <p:nvSpPr>
          <p:cNvPr id="4" name="Text 2"/>
          <p:cNvSpPr/>
          <p:nvPr/>
        </p:nvSpPr>
        <p:spPr>
          <a:xfrm>
            <a:off x="457200" y="384048"/>
            <a:ext cx="640080" cy="640080"/>
          </a:xfrm>
          <a:prstGeom prst="rect">
            <a:avLst/>
          </a:prstGeom>
          <a:noFill/>
          <a:ln/>
        </p:spPr>
        <p:txBody>
          <a:bodyPr wrap="square" lIns="0" tIns="0" rIns="0" bIns="0" rtlCol="0" anchor="ctr"/>
          <a:lstStyle/>
          <a:p>
            <a:pPr marL="0" indent="0" algn="ctr">
              <a:buNone/>
            </a:pPr>
            <a:r>
              <a:rPr lang="en-US" sz="2800" b="1" dirty="0">
                <a:solidFill>
                  <a:srgbClr val="13294B"/>
                </a:solidFill>
                <a:latin typeface="Arial" pitchFamily="34" charset="0"/>
                <a:ea typeface="Arial" pitchFamily="34" charset="-122"/>
                <a:cs typeface="Arial" pitchFamily="34" charset="-120"/>
              </a:rPr>
              <a:t>3</a:t>
            </a:r>
            <a:endParaRPr lang="en-US" sz="2800" dirty="0"/>
          </a:p>
        </p:txBody>
      </p:sp>
      <p:sp>
        <p:nvSpPr>
          <p:cNvPr id="7" name="Text 5"/>
          <p:cNvSpPr/>
          <p:nvPr/>
        </p:nvSpPr>
        <p:spPr>
          <a:xfrm>
            <a:off x="1280160" y="502920"/>
            <a:ext cx="10332720" cy="411480"/>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Remote attestation for agentic AI</a:t>
            </a:r>
            <a:endParaRPr lang="en-US" sz="2300" dirty="0"/>
          </a:p>
        </p:txBody>
      </p:sp>
      <p:sp>
        <p:nvSpPr>
          <p:cNvPr id="9" name="Shape 7"/>
          <p:cNvSpPr/>
          <p:nvPr/>
        </p:nvSpPr>
        <p:spPr>
          <a:xfrm>
            <a:off x="457200" y="1691640"/>
            <a:ext cx="329184" cy="329184"/>
          </a:xfrm>
          <a:prstGeom prst="ellipse">
            <a:avLst/>
          </a:prstGeom>
          <a:solidFill>
            <a:srgbClr val="F2A900"/>
          </a:solidFill>
          <a:ln/>
        </p:spPr>
        <p:txBody>
          <a:bodyPr/>
          <a:lstStyle/>
          <a:p>
            <a:endParaRPr lang="en-US"/>
          </a:p>
        </p:txBody>
      </p:sp>
      <p:sp>
        <p:nvSpPr>
          <p:cNvPr id="10" name="Text 8"/>
          <p:cNvSpPr/>
          <p:nvPr/>
        </p:nvSpPr>
        <p:spPr>
          <a:xfrm>
            <a:off x="457200" y="169164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t>
            </a:r>
            <a:endParaRPr lang="en-US" sz="1400" dirty="0"/>
          </a:p>
        </p:txBody>
      </p:sp>
      <p:sp>
        <p:nvSpPr>
          <p:cNvPr id="11" name="Text 9"/>
          <p:cNvSpPr/>
          <p:nvPr/>
        </p:nvSpPr>
        <p:spPr>
          <a:xfrm>
            <a:off x="896112" y="1673352"/>
            <a:ext cx="372160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The problem</a:t>
            </a:r>
            <a:endParaRPr lang="en-US" sz="1600" dirty="0"/>
          </a:p>
        </p:txBody>
      </p:sp>
      <p:sp>
        <p:nvSpPr>
          <p:cNvPr id="12" name="Text 10"/>
          <p:cNvSpPr/>
          <p:nvPr/>
        </p:nvSpPr>
        <p:spPr>
          <a:xfrm>
            <a:off x="457200" y="2148840"/>
            <a:ext cx="4160520" cy="1920240"/>
          </a:xfrm>
          <a:prstGeom prst="rect">
            <a:avLst/>
          </a:prstGeom>
          <a:noFill/>
          <a:ln/>
        </p:spPr>
        <p:txBody>
          <a:bodyPr wrap="square" lIns="0" tIns="0" rIns="0" bIns="0" rtlCol="0" anchor="t"/>
          <a:lstStyle/>
          <a:p>
            <a:pPr marL="0" indent="0" algn="l">
              <a:lnSpc>
                <a:spcPts val="1800"/>
              </a:lnSpc>
              <a:buNone/>
            </a:pPr>
            <a:r>
              <a:rPr lang="en-US" sz="1300" dirty="0">
                <a:solidFill>
                  <a:srgbClr val="6B7785"/>
                </a:solidFill>
                <a:latin typeface="Calibri" pitchFamily="34" charset="0"/>
                <a:ea typeface="Calibri" pitchFamily="34" charset="-122"/>
                <a:cs typeface="Calibri" pitchFamily="34" charset="-120"/>
              </a:rPr>
              <a:t>AI agents widen the trust surface Remote Attestation was built for, platform, runtime, model, tools, policy, identity, and behavior all need attesting, not just boot-time hardware state. </a:t>
            </a:r>
            <a:endParaRPr lang="en-US" sz="1300" dirty="0"/>
          </a:p>
        </p:txBody>
      </p:sp>
      <p:sp>
        <p:nvSpPr>
          <p:cNvPr id="13" name="Shape 11"/>
          <p:cNvSpPr/>
          <p:nvPr/>
        </p:nvSpPr>
        <p:spPr>
          <a:xfrm>
            <a:off x="457200" y="4206240"/>
            <a:ext cx="4160520" cy="777240"/>
          </a:xfrm>
          <a:prstGeom prst="rect">
            <a:avLst/>
          </a:prstGeom>
          <a:solidFill>
            <a:srgbClr val="F3F6FB"/>
          </a:solidFill>
          <a:ln/>
        </p:spPr>
        <p:txBody>
          <a:bodyPr/>
          <a:lstStyle/>
          <a:p>
            <a:endParaRPr lang="en-US"/>
          </a:p>
        </p:txBody>
      </p:sp>
      <p:sp>
        <p:nvSpPr>
          <p:cNvPr id="14" name="Text 12"/>
          <p:cNvSpPr/>
          <p:nvPr/>
        </p:nvSpPr>
        <p:spPr>
          <a:xfrm>
            <a:off x="685800" y="4206240"/>
            <a:ext cx="3703320" cy="777240"/>
          </a:xfrm>
          <a:prstGeom prst="rect">
            <a:avLst/>
          </a:prstGeom>
          <a:noFill/>
          <a:ln/>
        </p:spPr>
        <p:txBody>
          <a:bodyPr wrap="square" lIns="0" tIns="0" rIns="0" bIns="0" rtlCol="0" anchor="ctr"/>
          <a:lstStyle/>
          <a:p>
            <a:pPr marL="0" indent="0">
              <a:buNone/>
            </a:pPr>
            <a:r>
              <a:rPr lang="en-US" sz="1600" b="1" i="1" dirty="0">
                <a:solidFill>
                  <a:srgbClr val="13294B"/>
                </a:solidFill>
                <a:latin typeface="Arial" pitchFamily="34" charset="0"/>
                <a:ea typeface="Arial" pitchFamily="34" charset="-122"/>
                <a:cs typeface="Arial" pitchFamily="34" charset="-120"/>
              </a:rPr>
              <a:t>Strong platform trust</a:t>
            </a:r>
            <a:endParaRPr lang="en-US" sz="1600" dirty="0"/>
          </a:p>
        </p:txBody>
      </p:sp>
      <p:sp>
        <p:nvSpPr>
          <p:cNvPr id="15" name="Shape 13"/>
          <p:cNvSpPr/>
          <p:nvPr/>
        </p:nvSpPr>
        <p:spPr>
          <a:xfrm>
            <a:off x="4937760" y="1691640"/>
            <a:ext cx="329184" cy="329184"/>
          </a:xfrm>
          <a:prstGeom prst="ellipse">
            <a:avLst/>
          </a:prstGeom>
          <a:solidFill>
            <a:srgbClr val="F2A900"/>
          </a:solidFill>
          <a:ln/>
        </p:spPr>
        <p:txBody>
          <a:bodyPr/>
          <a:lstStyle/>
          <a:p>
            <a:endParaRPr lang="en-US"/>
          </a:p>
        </p:txBody>
      </p:sp>
      <p:sp>
        <p:nvSpPr>
          <p:cNvPr id="16" name="Text 14"/>
          <p:cNvSpPr/>
          <p:nvPr/>
        </p:nvSpPr>
        <p:spPr>
          <a:xfrm>
            <a:off x="4937760" y="169164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7" name="Text 15"/>
          <p:cNvSpPr/>
          <p:nvPr/>
        </p:nvSpPr>
        <p:spPr>
          <a:xfrm>
            <a:off x="5376672" y="1673352"/>
            <a:ext cx="632764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Proposed approach</a:t>
            </a:r>
            <a:endParaRPr lang="en-US" sz="1600" dirty="0"/>
          </a:p>
        </p:txBody>
      </p:sp>
      <p:sp>
        <p:nvSpPr>
          <p:cNvPr id="18" name="Text 16"/>
          <p:cNvSpPr/>
          <p:nvPr/>
        </p:nvSpPr>
        <p:spPr>
          <a:xfrm>
            <a:off x="4937760" y="2148840"/>
            <a:ext cx="6766560" cy="1051560"/>
          </a:xfrm>
          <a:prstGeom prst="rect">
            <a:avLst/>
          </a:prstGeom>
          <a:noFill/>
          <a:ln/>
        </p:spPr>
        <p:txBody>
          <a:bodyPr wrap="square" lIns="0" tIns="0" rIns="0" bIns="0" rtlCol="0" anchor="t"/>
          <a:lstStyle/>
          <a:p>
            <a:pPr marL="0" indent="0" algn="l">
              <a:lnSpc>
                <a:spcPts val="1800"/>
              </a:lnSpc>
              <a:buNone/>
            </a:pPr>
            <a:r>
              <a:rPr lang="en-US" sz="1300" dirty="0">
                <a:solidFill>
                  <a:srgbClr val="6B7785"/>
                </a:solidFill>
                <a:latin typeface="Calibri" pitchFamily="34" charset="0"/>
                <a:ea typeface="Calibri" pitchFamily="34" charset="-122"/>
                <a:cs typeface="Calibri" pitchFamily="34" charset="-120"/>
              </a:rPr>
              <a:t>Reuse existing RATS building blocks (EAT, CMW, CoRIM → EAR) rather than build a parallel agent stack. Extend them with an agent profile, and resolve three integration questions specific to agentic protocols: what to attest (trust vector), how evidence is discovered and conveyed inside A2A/MCP, and when to attest (risk-keyed freshness tied to protocol events like tool calls and delegation).</a:t>
            </a:r>
            <a:endParaRPr lang="en-US" sz="1300" dirty="0"/>
          </a:p>
        </p:txBody>
      </p:sp>
      <p:sp>
        <p:nvSpPr>
          <p:cNvPr id="19" name="Shape 17"/>
          <p:cNvSpPr/>
          <p:nvPr/>
        </p:nvSpPr>
        <p:spPr>
          <a:xfrm>
            <a:off x="4937760" y="3337560"/>
            <a:ext cx="329184" cy="329184"/>
          </a:xfrm>
          <a:prstGeom prst="ellipse">
            <a:avLst/>
          </a:prstGeom>
          <a:solidFill>
            <a:srgbClr val="F2A900"/>
          </a:solidFill>
          <a:ln/>
        </p:spPr>
        <p:txBody>
          <a:bodyPr/>
          <a:lstStyle/>
          <a:p>
            <a:endParaRPr lang="en-US"/>
          </a:p>
        </p:txBody>
      </p:sp>
      <p:sp>
        <p:nvSpPr>
          <p:cNvPr id="20" name="Text 18"/>
          <p:cNvSpPr/>
          <p:nvPr/>
        </p:nvSpPr>
        <p:spPr>
          <a:xfrm>
            <a:off x="4937760" y="333756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76672" y="3319272"/>
            <a:ext cx="632764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Deliverables</a:t>
            </a:r>
            <a:endParaRPr lang="en-US" sz="1600" dirty="0"/>
          </a:p>
        </p:txBody>
      </p:sp>
      <p:sp>
        <p:nvSpPr>
          <p:cNvPr id="22" name="Text 20"/>
          <p:cNvSpPr/>
          <p:nvPr/>
        </p:nvSpPr>
        <p:spPr>
          <a:xfrm>
            <a:off x="4983480" y="3794760"/>
            <a:ext cx="6675120" cy="1280160"/>
          </a:xfrm>
          <a:prstGeom prst="rect">
            <a:avLst/>
          </a:prstGeom>
          <a:noFill/>
          <a:ln/>
        </p:spPr>
        <p:txBody>
          <a:bodyPr wrap="square" lIns="0" tIns="0" rIns="0" bIns="0" rtlCol="0" anchor="t"/>
          <a:lstStyle/>
          <a:p>
            <a:pPr marL="342900" indent="-342900" algn="l">
              <a:lnSpc>
                <a:spcPts val="1600"/>
              </a:lnSpc>
              <a:spcAft>
                <a:spcPts val="1000"/>
              </a:spcAft>
              <a:buSzPct val="100000"/>
              <a:buChar char="•"/>
            </a:pPr>
            <a:r>
              <a:rPr lang="en-US" sz="1250" dirty="0">
                <a:solidFill>
                  <a:srgbClr val="6B7785"/>
                </a:solidFill>
                <a:latin typeface="Calibri" pitchFamily="34" charset="0"/>
                <a:ea typeface="Calibri" pitchFamily="34" charset="-122"/>
                <a:cs typeface="Calibri" pitchFamily="34" charset="-120"/>
              </a:rPr>
              <a:t>Task 1: State-of-the-art survey of RA standardization (IETF RATS, TCG, </a:t>
            </a:r>
            <a:r>
              <a:rPr lang="en-US" sz="1250" dirty="0" err="1">
                <a:solidFill>
                  <a:srgbClr val="6B7785"/>
                </a:solidFill>
                <a:latin typeface="Calibri" pitchFamily="34" charset="0"/>
                <a:ea typeface="Calibri" pitchFamily="34" charset="-122"/>
                <a:cs typeface="Calibri" pitchFamily="34" charset="-120"/>
              </a:rPr>
              <a:t>GlobalPlatform</a:t>
            </a:r>
            <a:r>
              <a:rPr lang="en-US" sz="1250" dirty="0">
                <a:solidFill>
                  <a:srgbClr val="6B7785"/>
                </a:solidFill>
                <a:latin typeface="Calibri" pitchFamily="34" charset="0"/>
                <a:ea typeface="Calibri" pitchFamily="34" charset="-122"/>
                <a:cs typeface="Calibri" pitchFamily="34" charset="-120"/>
              </a:rPr>
              <a:t>) and a proposed agent EAT/CoRIM profile covering configuration, policy, and behavior</a:t>
            </a:r>
            <a:endParaRPr lang="en-US" sz="1250" dirty="0"/>
          </a:p>
          <a:p>
            <a:pPr marL="342900" indent="-342900" algn="l">
              <a:lnSpc>
                <a:spcPts val="1600"/>
              </a:lnSpc>
              <a:spcAft>
                <a:spcPts val="1000"/>
              </a:spcAft>
              <a:buSzPct val="100000"/>
              <a:buChar char="•"/>
            </a:pPr>
            <a:r>
              <a:rPr lang="en-US" sz="1250" dirty="0">
                <a:solidFill>
                  <a:srgbClr val="6B7785"/>
                </a:solidFill>
                <a:latin typeface="Calibri" pitchFamily="34" charset="0"/>
                <a:ea typeface="Calibri" pitchFamily="34" charset="-122"/>
                <a:cs typeface="Calibri" pitchFamily="34" charset="-120"/>
              </a:rPr>
              <a:t>Task 2: Study of RA integration with agentic protocol primitives, discovery, conveyance, authorization, freshness triggers, unveiling gaps and a standardization roadmap</a:t>
            </a:r>
            <a:endParaRPr lang="en-US" sz="1250" dirty="0"/>
          </a:p>
        </p:txBody>
      </p:sp>
      <p:sp>
        <p:nvSpPr>
          <p:cNvPr id="23" name="Shape 21"/>
          <p:cNvSpPr/>
          <p:nvPr/>
        </p:nvSpPr>
        <p:spPr>
          <a:xfrm>
            <a:off x="457200" y="5257800"/>
            <a:ext cx="11274552" cy="1234440"/>
          </a:xfrm>
          <a:prstGeom prst="rect">
            <a:avLst/>
          </a:prstGeom>
          <a:solidFill>
            <a:srgbClr val="F3F6FB"/>
          </a:solidFill>
          <a:ln/>
        </p:spPr>
        <p:txBody>
          <a:bodyPr/>
          <a:lstStyle/>
          <a:p>
            <a:endParaRPr lang="en-US"/>
          </a:p>
        </p:txBody>
      </p:sp>
      <p:sp>
        <p:nvSpPr>
          <p:cNvPr id="24" name="Text 22"/>
          <p:cNvSpPr/>
          <p:nvPr/>
        </p:nvSpPr>
        <p:spPr>
          <a:xfrm>
            <a:off x="731520" y="5367528"/>
            <a:ext cx="10698480" cy="256032"/>
          </a:xfrm>
          <a:prstGeom prst="rect">
            <a:avLst/>
          </a:prstGeom>
          <a:noFill/>
          <a:ln/>
        </p:spPr>
        <p:txBody>
          <a:bodyPr wrap="square" lIns="0" tIns="0" rIns="0" bIns="0" rtlCol="0" anchor="ctr"/>
          <a:lstStyle/>
          <a:p>
            <a:pPr marL="0" indent="0">
              <a:buNone/>
            </a:pPr>
            <a:r>
              <a:rPr lang="en-US" sz="1100" b="1" kern="0" spc="100" dirty="0">
                <a:solidFill>
                  <a:srgbClr val="13294B"/>
                </a:solidFill>
                <a:latin typeface="Calibri" pitchFamily="34" charset="0"/>
                <a:ea typeface="Calibri" pitchFamily="34" charset="-122"/>
                <a:cs typeface="Calibri" pitchFamily="34" charset="-120"/>
              </a:rPr>
              <a:t>DISCUSSION QUESTIONS FOR TOMORROW</a:t>
            </a:r>
            <a:endParaRPr lang="en-US" sz="1100" dirty="0"/>
          </a:p>
        </p:txBody>
      </p:sp>
      <p:sp>
        <p:nvSpPr>
          <p:cNvPr id="25" name="Text 23"/>
          <p:cNvSpPr/>
          <p:nvPr/>
        </p:nvSpPr>
        <p:spPr>
          <a:xfrm>
            <a:off x="731520" y="5641848"/>
            <a:ext cx="10698480" cy="777240"/>
          </a:xfrm>
          <a:prstGeom prst="rect">
            <a:avLst/>
          </a:prstGeom>
          <a:noFill/>
          <a:ln/>
        </p:spPr>
        <p:txBody>
          <a:bodyPr wrap="square" lIns="0" tIns="0" rIns="0" bIns="0" rtlCol="0" anchor="t"/>
          <a:lstStyle/>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Scope to IETF only, or also engage TCG / GlobalPlatform for the platform layer?</a:t>
            </a:r>
            <a:endParaRPr lang="en-US" sz="1200" dirty="0"/>
          </a:p>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Should evidence be conveyed payload-embedded (survives relay) or transport-bound (fresher, single-hop) — same tension as agent identity carriage?</a:t>
            </a:r>
            <a:endParaRPr lang="en-US" sz="1200" dirty="0"/>
          </a:p>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What's the minimal viable agent EAT profile to propose first: configuration, policy, or behavioral evidence?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40CA450C-A33B-E7D9-B685-4581BFB92599}"/>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Shape 1"/>
          <p:cNvSpPr/>
          <p:nvPr/>
        </p:nvSpPr>
        <p:spPr>
          <a:xfrm>
            <a:off x="457200" y="384048"/>
            <a:ext cx="640080" cy="640080"/>
          </a:xfrm>
          <a:prstGeom prst="ellipse">
            <a:avLst/>
          </a:prstGeom>
          <a:solidFill>
            <a:srgbClr val="FFFFFF"/>
          </a:solidFill>
          <a:ln/>
        </p:spPr>
        <p:txBody>
          <a:bodyPr/>
          <a:lstStyle/>
          <a:p>
            <a:endParaRPr lang="en-US"/>
          </a:p>
        </p:txBody>
      </p:sp>
      <p:sp>
        <p:nvSpPr>
          <p:cNvPr id="4" name="Text 2"/>
          <p:cNvSpPr/>
          <p:nvPr/>
        </p:nvSpPr>
        <p:spPr>
          <a:xfrm>
            <a:off x="457200" y="384048"/>
            <a:ext cx="640080" cy="640080"/>
          </a:xfrm>
          <a:prstGeom prst="rect">
            <a:avLst/>
          </a:prstGeom>
          <a:noFill/>
          <a:ln/>
        </p:spPr>
        <p:txBody>
          <a:bodyPr wrap="square" lIns="0" tIns="0" rIns="0" bIns="0" rtlCol="0" anchor="ctr"/>
          <a:lstStyle/>
          <a:p>
            <a:pPr marL="0" indent="0" algn="ctr">
              <a:buNone/>
            </a:pPr>
            <a:r>
              <a:rPr lang="en-US" sz="2800" b="1" dirty="0">
                <a:solidFill>
                  <a:srgbClr val="13294B"/>
                </a:solidFill>
                <a:latin typeface="Arial" pitchFamily="34" charset="0"/>
                <a:ea typeface="Arial" pitchFamily="34" charset="-122"/>
                <a:cs typeface="Arial" pitchFamily="34" charset="-120"/>
              </a:rPr>
              <a:t>4</a:t>
            </a:r>
            <a:endParaRPr lang="en-US" sz="2800" dirty="0"/>
          </a:p>
        </p:txBody>
      </p:sp>
      <p:sp>
        <p:nvSpPr>
          <p:cNvPr id="7" name="Text 5"/>
          <p:cNvSpPr/>
          <p:nvPr/>
        </p:nvSpPr>
        <p:spPr>
          <a:xfrm>
            <a:off x="1280160" y="502920"/>
            <a:ext cx="10332720" cy="411480"/>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Sovereign discovery for agentic AI</a:t>
            </a:r>
            <a:endParaRPr lang="en-US" sz="2300" dirty="0"/>
          </a:p>
        </p:txBody>
      </p:sp>
      <p:sp>
        <p:nvSpPr>
          <p:cNvPr id="8" name="Text 6"/>
          <p:cNvSpPr/>
          <p:nvPr/>
        </p:nvSpPr>
        <p:spPr>
          <a:xfrm>
            <a:off x="1280160" y="960120"/>
            <a:ext cx="10332720" cy="274320"/>
          </a:xfrm>
          <a:prstGeom prst="rect">
            <a:avLst/>
          </a:prstGeom>
          <a:noFill/>
          <a:ln/>
        </p:spPr>
        <p:txBody>
          <a:bodyPr wrap="square" lIns="0" tIns="0" rIns="0" bIns="0" rtlCol="0" anchor="ctr"/>
          <a:lstStyle/>
          <a:p>
            <a:pPr marL="0" indent="0">
              <a:buNone/>
            </a:pPr>
            <a:r>
              <a:rPr lang="en-US" sz="2000" i="1" dirty="0">
                <a:solidFill>
                  <a:schemeClr val="bg1"/>
                </a:solidFill>
                <a:latin typeface="Calibri" pitchFamily="34" charset="0"/>
                <a:ea typeface="Calibri" pitchFamily="34" charset="-122"/>
                <a:cs typeface="Calibri" pitchFamily="34" charset="-120"/>
              </a:rPr>
              <a:t>Multi-path discovery as a condition for the digital commons</a:t>
            </a:r>
          </a:p>
        </p:txBody>
      </p:sp>
      <p:sp>
        <p:nvSpPr>
          <p:cNvPr id="9" name="Shape 7"/>
          <p:cNvSpPr/>
          <p:nvPr/>
        </p:nvSpPr>
        <p:spPr>
          <a:xfrm>
            <a:off x="457200" y="1691640"/>
            <a:ext cx="329184" cy="329184"/>
          </a:xfrm>
          <a:prstGeom prst="ellipse">
            <a:avLst/>
          </a:prstGeom>
          <a:solidFill>
            <a:srgbClr val="F2A900"/>
          </a:solidFill>
          <a:ln/>
        </p:spPr>
        <p:txBody>
          <a:bodyPr/>
          <a:lstStyle/>
          <a:p>
            <a:endParaRPr lang="en-US"/>
          </a:p>
        </p:txBody>
      </p:sp>
      <p:sp>
        <p:nvSpPr>
          <p:cNvPr id="10" name="Text 8"/>
          <p:cNvSpPr/>
          <p:nvPr/>
        </p:nvSpPr>
        <p:spPr>
          <a:xfrm>
            <a:off x="457200" y="169164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t>
            </a:r>
            <a:endParaRPr lang="en-US" sz="1400" dirty="0"/>
          </a:p>
        </p:txBody>
      </p:sp>
      <p:sp>
        <p:nvSpPr>
          <p:cNvPr id="11" name="Text 9"/>
          <p:cNvSpPr/>
          <p:nvPr/>
        </p:nvSpPr>
        <p:spPr>
          <a:xfrm>
            <a:off x="896112" y="1673352"/>
            <a:ext cx="372160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The problem</a:t>
            </a:r>
            <a:endParaRPr lang="en-US" sz="1600" dirty="0"/>
          </a:p>
        </p:txBody>
      </p:sp>
      <p:sp>
        <p:nvSpPr>
          <p:cNvPr id="12" name="Text 10"/>
          <p:cNvSpPr/>
          <p:nvPr/>
        </p:nvSpPr>
        <p:spPr>
          <a:xfrm>
            <a:off x="457200" y="2148840"/>
            <a:ext cx="4160520" cy="1920240"/>
          </a:xfrm>
          <a:prstGeom prst="rect">
            <a:avLst/>
          </a:prstGeom>
          <a:noFill/>
          <a:ln/>
        </p:spPr>
        <p:txBody>
          <a:bodyPr wrap="square" lIns="0" tIns="0" rIns="0" bIns="0" rtlCol="0" anchor="t"/>
          <a:lstStyle/>
          <a:p>
            <a:pPr marL="0" indent="0" algn="l">
              <a:lnSpc>
                <a:spcPts val="1800"/>
              </a:lnSpc>
              <a:buNone/>
            </a:pPr>
            <a:r>
              <a:rPr lang="en-US" sz="1300" dirty="0">
                <a:solidFill>
                  <a:srgbClr val="6B7785"/>
                </a:solidFill>
                <a:latin typeface="Calibri" pitchFamily="34" charset="0"/>
                <a:ea typeface="Calibri" pitchFamily="34" charset="-122"/>
                <a:cs typeface="Calibri" pitchFamily="34" charset="-120"/>
              </a:rPr>
              <a:t>Discovery and access are inseparable, the ability to list or de-list an entity is itself a form of access control, and how discovery works determines who can participate in the digital commons. Access is sovereign in the digital space: no single discovery mechanism should hold exclusive control over what is findable. Competing approaches (DNS-based, registry-based) already exist with no shared framework for when each applies.</a:t>
            </a:r>
            <a:endParaRPr lang="en-US" sz="1300" dirty="0"/>
          </a:p>
        </p:txBody>
      </p:sp>
      <p:sp>
        <p:nvSpPr>
          <p:cNvPr id="13" name="Shape 11"/>
          <p:cNvSpPr/>
          <p:nvPr/>
        </p:nvSpPr>
        <p:spPr>
          <a:xfrm>
            <a:off x="457200" y="4206240"/>
            <a:ext cx="4160520" cy="777240"/>
          </a:xfrm>
          <a:prstGeom prst="rect">
            <a:avLst/>
          </a:prstGeom>
          <a:solidFill>
            <a:srgbClr val="F3F6FB"/>
          </a:solidFill>
          <a:ln/>
        </p:spPr>
        <p:txBody>
          <a:bodyPr/>
          <a:lstStyle/>
          <a:p>
            <a:endParaRPr lang="en-US"/>
          </a:p>
        </p:txBody>
      </p:sp>
      <p:sp>
        <p:nvSpPr>
          <p:cNvPr id="14" name="Text 12"/>
          <p:cNvSpPr/>
          <p:nvPr/>
        </p:nvSpPr>
        <p:spPr>
          <a:xfrm>
            <a:off x="685800" y="4206240"/>
            <a:ext cx="3703320" cy="777240"/>
          </a:xfrm>
          <a:prstGeom prst="rect">
            <a:avLst/>
          </a:prstGeom>
          <a:noFill/>
          <a:ln/>
        </p:spPr>
        <p:txBody>
          <a:bodyPr wrap="square" lIns="0" tIns="0" rIns="0" bIns="0" rtlCol="0" anchor="ctr"/>
          <a:lstStyle/>
          <a:p>
            <a:pPr marL="0" indent="0">
              <a:buNone/>
            </a:pPr>
            <a:r>
              <a:rPr lang="en-US" sz="1600" b="1" i="1" dirty="0">
                <a:solidFill>
                  <a:srgbClr val="13294B"/>
                </a:solidFill>
                <a:latin typeface="Arial" pitchFamily="34" charset="0"/>
                <a:ea typeface="Arial" pitchFamily="34" charset="-122"/>
                <a:cs typeface="Arial" pitchFamily="34" charset="-120"/>
              </a:rPr>
              <a:t>De-listing is access control</a:t>
            </a:r>
            <a:endParaRPr lang="en-US" sz="1600" dirty="0"/>
          </a:p>
        </p:txBody>
      </p:sp>
      <p:sp>
        <p:nvSpPr>
          <p:cNvPr id="15" name="Shape 13"/>
          <p:cNvSpPr/>
          <p:nvPr/>
        </p:nvSpPr>
        <p:spPr>
          <a:xfrm>
            <a:off x="4937760" y="1691640"/>
            <a:ext cx="329184" cy="329184"/>
          </a:xfrm>
          <a:prstGeom prst="ellipse">
            <a:avLst/>
          </a:prstGeom>
          <a:solidFill>
            <a:srgbClr val="F2A900"/>
          </a:solidFill>
          <a:ln/>
        </p:spPr>
        <p:txBody>
          <a:bodyPr/>
          <a:lstStyle/>
          <a:p>
            <a:endParaRPr lang="en-US"/>
          </a:p>
        </p:txBody>
      </p:sp>
      <p:sp>
        <p:nvSpPr>
          <p:cNvPr id="16" name="Text 14"/>
          <p:cNvSpPr/>
          <p:nvPr/>
        </p:nvSpPr>
        <p:spPr>
          <a:xfrm>
            <a:off x="4937760" y="169164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7" name="Text 15"/>
          <p:cNvSpPr/>
          <p:nvPr/>
        </p:nvSpPr>
        <p:spPr>
          <a:xfrm>
            <a:off x="5376672" y="1673352"/>
            <a:ext cx="632764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Proposed approach</a:t>
            </a:r>
            <a:endParaRPr lang="en-US" sz="1600" dirty="0"/>
          </a:p>
        </p:txBody>
      </p:sp>
      <p:sp>
        <p:nvSpPr>
          <p:cNvPr id="18" name="Text 16"/>
          <p:cNvSpPr/>
          <p:nvPr/>
        </p:nvSpPr>
        <p:spPr>
          <a:xfrm>
            <a:off x="4937760" y="2148840"/>
            <a:ext cx="6766560" cy="1051560"/>
          </a:xfrm>
          <a:prstGeom prst="rect">
            <a:avLst/>
          </a:prstGeom>
          <a:noFill/>
          <a:ln/>
        </p:spPr>
        <p:txBody>
          <a:bodyPr wrap="square" lIns="0" tIns="0" rIns="0" bIns="0" rtlCol="0" anchor="t"/>
          <a:lstStyle/>
          <a:p>
            <a:pPr marL="0" indent="0" algn="l">
              <a:lnSpc>
                <a:spcPts val="1800"/>
              </a:lnSpc>
              <a:buNone/>
            </a:pPr>
            <a:r>
              <a:rPr lang="en-US" sz="1300" dirty="0">
                <a:solidFill>
                  <a:srgbClr val="6B7785"/>
                </a:solidFill>
                <a:latin typeface="Calibri" pitchFamily="34" charset="0"/>
                <a:ea typeface="Calibri" pitchFamily="34" charset="-122"/>
                <a:cs typeface="Calibri" pitchFamily="34" charset="-120"/>
              </a:rPr>
              <a:t>Treat discovery as multi-path from the outset, not retrofitted onto one centralized mechanism later. Build a requirements and compliance framework comprehensive enough that different use cases can choose the right path, DNS answer, registry answer, or other, while remaining interoperable. </a:t>
            </a:r>
            <a:endParaRPr lang="en-US" sz="1300" dirty="0"/>
          </a:p>
        </p:txBody>
      </p:sp>
      <p:sp>
        <p:nvSpPr>
          <p:cNvPr id="19" name="Shape 17"/>
          <p:cNvSpPr/>
          <p:nvPr/>
        </p:nvSpPr>
        <p:spPr>
          <a:xfrm>
            <a:off x="4937760" y="3337560"/>
            <a:ext cx="329184" cy="329184"/>
          </a:xfrm>
          <a:prstGeom prst="ellipse">
            <a:avLst/>
          </a:prstGeom>
          <a:solidFill>
            <a:srgbClr val="F2A900"/>
          </a:solidFill>
          <a:ln/>
        </p:spPr>
        <p:txBody>
          <a:bodyPr/>
          <a:lstStyle/>
          <a:p>
            <a:endParaRPr lang="en-US"/>
          </a:p>
        </p:txBody>
      </p:sp>
      <p:sp>
        <p:nvSpPr>
          <p:cNvPr id="20" name="Text 18"/>
          <p:cNvSpPr/>
          <p:nvPr/>
        </p:nvSpPr>
        <p:spPr>
          <a:xfrm>
            <a:off x="4937760" y="333756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76672" y="3319272"/>
            <a:ext cx="632764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Deliverables</a:t>
            </a:r>
            <a:endParaRPr lang="en-US" sz="1600" dirty="0"/>
          </a:p>
        </p:txBody>
      </p:sp>
      <p:sp>
        <p:nvSpPr>
          <p:cNvPr id="22" name="Text 20"/>
          <p:cNvSpPr/>
          <p:nvPr/>
        </p:nvSpPr>
        <p:spPr>
          <a:xfrm>
            <a:off x="4983480" y="3794760"/>
            <a:ext cx="6675120" cy="1280160"/>
          </a:xfrm>
          <a:prstGeom prst="rect">
            <a:avLst/>
          </a:prstGeom>
          <a:noFill/>
          <a:ln/>
        </p:spPr>
        <p:txBody>
          <a:bodyPr wrap="square" lIns="0" tIns="0" rIns="0" bIns="0" rtlCol="0" anchor="t"/>
          <a:lstStyle/>
          <a:p>
            <a:pPr marL="342900" indent="-342900" algn="l">
              <a:lnSpc>
                <a:spcPts val="1600"/>
              </a:lnSpc>
              <a:spcAft>
                <a:spcPts val="1000"/>
              </a:spcAft>
              <a:buSzPct val="100000"/>
              <a:buChar char="•"/>
            </a:pPr>
            <a:r>
              <a:rPr lang="en-US" sz="1250" dirty="0">
                <a:solidFill>
                  <a:srgbClr val="6B7785"/>
                </a:solidFill>
                <a:latin typeface="Calibri" pitchFamily="34" charset="0"/>
                <a:ea typeface="Calibri" pitchFamily="34" charset="-122"/>
                <a:cs typeface="Calibri" pitchFamily="34" charset="-120"/>
              </a:rPr>
              <a:t>Task 1: Requirements and compliance framework for discovery mechanisms, broad enough to let use cases choose among competing approaches (e.g. DNS-based DNS-AID, registry-based, or other), building on IETF DAWN’s problem statement and requirements drafts</a:t>
            </a:r>
            <a:endParaRPr lang="en-US" sz="1250" dirty="0"/>
          </a:p>
          <a:p>
            <a:pPr marL="342900" indent="-342900" algn="l">
              <a:lnSpc>
                <a:spcPts val="1600"/>
              </a:lnSpc>
              <a:spcAft>
                <a:spcPts val="1000"/>
              </a:spcAft>
              <a:buSzPct val="100000"/>
              <a:buChar char="•"/>
            </a:pPr>
            <a:r>
              <a:rPr lang="en-US" sz="1250" dirty="0">
                <a:solidFill>
                  <a:srgbClr val="6B7785"/>
                </a:solidFill>
                <a:latin typeface="Calibri" pitchFamily="34" charset="0"/>
                <a:ea typeface="Calibri" pitchFamily="34" charset="-122"/>
                <a:cs typeface="Calibri" pitchFamily="34" charset="-120"/>
              </a:rPr>
              <a:t>Task 2: Study of the discovery–access relationship and a sovereignty model for digital-commons participation, with multi-path resilience designed in from the start rather than added later</a:t>
            </a:r>
            <a:endParaRPr lang="en-US" sz="1250" dirty="0"/>
          </a:p>
        </p:txBody>
      </p:sp>
      <p:sp>
        <p:nvSpPr>
          <p:cNvPr id="23" name="Shape 21"/>
          <p:cNvSpPr/>
          <p:nvPr/>
        </p:nvSpPr>
        <p:spPr>
          <a:xfrm>
            <a:off x="457200" y="5257800"/>
            <a:ext cx="11274552" cy="1234440"/>
          </a:xfrm>
          <a:prstGeom prst="rect">
            <a:avLst/>
          </a:prstGeom>
          <a:solidFill>
            <a:srgbClr val="F3F6FB"/>
          </a:solidFill>
          <a:ln/>
        </p:spPr>
        <p:txBody>
          <a:bodyPr/>
          <a:lstStyle/>
          <a:p>
            <a:endParaRPr lang="en-US"/>
          </a:p>
        </p:txBody>
      </p:sp>
      <p:sp>
        <p:nvSpPr>
          <p:cNvPr id="24" name="Text 22"/>
          <p:cNvSpPr/>
          <p:nvPr/>
        </p:nvSpPr>
        <p:spPr>
          <a:xfrm>
            <a:off x="731520" y="5367528"/>
            <a:ext cx="10698480" cy="256032"/>
          </a:xfrm>
          <a:prstGeom prst="rect">
            <a:avLst/>
          </a:prstGeom>
          <a:noFill/>
          <a:ln/>
        </p:spPr>
        <p:txBody>
          <a:bodyPr wrap="square" lIns="0" tIns="0" rIns="0" bIns="0" rtlCol="0" anchor="ctr"/>
          <a:lstStyle/>
          <a:p>
            <a:pPr marL="0" indent="0">
              <a:buNone/>
            </a:pPr>
            <a:r>
              <a:rPr lang="en-US" sz="1100" b="1" kern="0" spc="100" dirty="0">
                <a:solidFill>
                  <a:srgbClr val="13294B"/>
                </a:solidFill>
                <a:latin typeface="Calibri" pitchFamily="34" charset="0"/>
                <a:ea typeface="Calibri" pitchFamily="34" charset="-122"/>
                <a:cs typeface="Calibri" pitchFamily="34" charset="-120"/>
              </a:rPr>
              <a:t>DISCUSSION QUESTIONS FOR TOMORROW</a:t>
            </a:r>
            <a:endParaRPr lang="en-US" sz="1100" dirty="0"/>
          </a:p>
        </p:txBody>
      </p:sp>
      <p:sp>
        <p:nvSpPr>
          <p:cNvPr id="25" name="Text 23"/>
          <p:cNvSpPr/>
          <p:nvPr/>
        </p:nvSpPr>
        <p:spPr>
          <a:xfrm>
            <a:off x="731520" y="5641848"/>
            <a:ext cx="10698480" cy="777240"/>
          </a:xfrm>
          <a:prstGeom prst="rect">
            <a:avLst/>
          </a:prstGeom>
          <a:noFill/>
          <a:ln/>
        </p:spPr>
        <p:txBody>
          <a:bodyPr wrap="square" lIns="0" tIns="0" rIns="0" bIns="0" rtlCol="0" anchor="t"/>
          <a:lstStyle/>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Align directly with IETF DAWN's requirements work, or develop complementary requirements specific to trust and identity?</a:t>
            </a:r>
            <a:endParaRPr lang="en-US" sz="1200" dirty="0"/>
          </a:p>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What does sovereignty over discoverability mean in practice — who can de-list an agent, and under what governance?</a:t>
            </a:r>
            <a:endParaRPr lang="en-US" sz="1200" dirty="0"/>
          </a:p>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DNS-based (e.g. DNS-AID), registry-based, or hybrid — should the framework favor a path or stay mechanism-agnostic?</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CD33332F-4BC9-E37B-A89E-78F105861F36}"/>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Shape 1"/>
          <p:cNvSpPr/>
          <p:nvPr/>
        </p:nvSpPr>
        <p:spPr>
          <a:xfrm>
            <a:off x="457200" y="384048"/>
            <a:ext cx="640080" cy="640080"/>
          </a:xfrm>
          <a:prstGeom prst="ellipse">
            <a:avLst/>
          </a:prstGeom>
          <a:solidFill>
            <a:srgbClr val="FFFFFF"/>
          </a:solidFill>
          <a:ln/>
        </p:spPr>
        <p:txBody>
          <a:bodyPr/>
          <a:lstStyle/>
          <a:p>
            <a:endParaRPr lang="en-US"/>
          </a:p>
        </p:txBody>
      </p:sp>
      <p:sp>
        <p:nvSpPr>
          <p:cNvPr id="4" name="Text 2"/>
          <p:cNvSpPr/>
          <p:nvPr/>
        </p:nvSpPr>
        <p:spPr>
          <a:xfrm>
            <a:off x="457200" y="384048"/>
            <a:ext cx="640080" cy="640080"/>
          </a:xfrm>
          <a:prstGeom prst="rect">
            <a:avLst/>
          </a:prstGeom>
          <a:noFill/>
          <a:ln/>
        </p:spPr>
        <p:txBody>
          <a:bodyPr wrap="square" lIns="0" tIns="0" rIns="0" bIns="0" rtlCol="0" anchor="ctr"/>
          <a:lstStyle/>
          <a:p>
            <a:pPr marL="0" indent="0" algn="ctr">
              <a:buNone/>
            </a:pPr>
            <a:r>
              <a:rPr lang="en-US" sz="2800" b="1" dirty="0">
                <a:solidFill>
                  <a:srgbClr val="13294B"/>
                </a:solidFill>
                <a:latin typeface="Arial" pitchFamily="34" charset="0"/>
                <a:ea typeface="Arial" pitchFamily="34" charset="-122"/>
                <a:cs typeface="Arial" pitchFamily="34" charset="-120"/>
              </a:rPr>
              <a:t>5</a:t>
            </a:r>
            <a:endParaRPr lang="en-US" sz="2800" dirty="0"/>
          </a:p>
        </p:txBody>
      </p:sp>
      <p:sp>
        <p:nvSpPr>
          <p:cNvPr id="7" name="Text 5"/>
          <p:cNvSpPr/>
          <p:nvPr/>
        </p:nvSpPr>
        <p:spPr>
          <a:xfrm>
            <a:off x="1280160" y="566928"/>
            <a:ext cx="10332720" cy="411480"/>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Bridging trust management for Digital ID across borders</a:t>
            </a:r>
            <a:endParaRPr lang="en-US" sz="2300" dirty="0"/>
          </a:p>
        </p:txBody>
      </p:sp>
      <p:sp>
        <p:nvSpPr>
          <p:cNvPr id="8" name="Text 6"/>
          <p:cNvSpPr/>
          <p:nvPr/>
        </p:nvSpPr>
        <p:spPr>
          <a:xfrm>
            <a:off x="1280160" y="1040130"/>
            <a:ext cx="10332720" cy="274320"/>
          </a:xfrm>
          <a:prstGeom prst="rect">
            <a:avLst/>
          </a:prstGeom>
          <a:noFill/>
          <a:ln/>
        </p:spPr>
        <p:txBody>
          <a:bodyPr wrap="square" lIns="0" tIns="0" rIns="0" bIns="0" rtlCol="0" anchor="ctr"/>
          <a:lstStyle/>
          <a:p>
            <a:pPr marL="0" indent="0">
              <a:buNone/>
            </a:pPr>
            <a:r>
              <a:rPr lang="en-US" sz="2000" i="1" dirty="0">
                <a:solidFill>
                  <a:schemeClr val="bg1"/>
                </a:solidFill>
                <a:latin typeface="Calibri" pitchFamily="34" charset="0"/>
                <a:ea typeface="Calibri" pitchFamily="34" charset="-122"/>
                <a:cs typeface="Calibri" pitchFamily="34" charset="-120"/>
              </a:rPr>
              <a:t>Making digital ID trust portable without forcing one global system</a:t>
            </a:r>
          </a:p>
        </p:txBody>
      </p:sp>
      <p:sp>
        <p:nvSpPr>
          <p:cNvPr id="9" name="Shape 7"/>
          <p:cNvSpPr/>
          <p:nvPr/>
        </p:nvSpPr>
        <p:spPr>
          <a:xfrm>
            <a:off x="457200" y="1691640"/>
            <a:ext cx="329184" cy="329184"/>
          </a:xfrm>
          <a:prstGeom prst="ellipse">
            <a:avLst/>
          </a:prstGeom>
          <a:solidFill>
            <a:srgbClr val="F2A900"/>
          </a:solidFill>
          <a:ln/>
        </p:spPr>
        <p:txBody>
          <a:bodyPr/>
          <a:lstStyle/>
          <a:p>
            <a:endParaRPr lang="en-US"/>
          </a:p>
        </p:txBody>
      </p:sp>
      <p:sp>
        <p:nvSpPr>
          <p:cNvPr id="10" name="Text 8"/>
          <p:cNvSpPr/>
          <p:nvPr/>
        </p:nvSpPr>
        <p:spPr>
          <a:xfrm>
            <a:off x="457200" y="169164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t>
            </a:r>
            <a:endParaRPr lang="en-US" sz="1400" dirty="0"/>
          </a:p>
        </p:txBody>
      </p:sp>
      <p:sp>
        <p:nvSpPr>
          <p:cNvPr id="11" name="Text 9"/>
          <p:cNvSpPr/>
          <p:nvPr/>
        </p:nvSpPr>
        <p:spPr>
          <a:xfrm>
            <a:off x="896112" y="1673352"/>
            <a:ext cx="372160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The problem</a:t>
            </a:r>
            <a:endParaRPr lang="en-US" sz="1600" dirty="0"/>
          </a:p>
        </p:txBody>
      </p:sp>
      <p:sp>
        <p:nvSpPr>
          <p:cNvPr id="12" name="Text 10"/>
          <p:cNvSpPr/>
          <p:nvPr/>
        </p:nvSpPr>
        <p:spPr>
          <a:xfrm>
            <a:off x="457200" y="2148840"/>
            <a:ext cx="4160520" cy="1920240"/>
          </a:xfrm>
          <a:prstGeom prst="rect">
            <a:avLst/>
          </a:prstGeom>
          <a:noFill/>
          <a:ln/>
        </p:spPr>
        <p:txBody>
          <a:bodyPr wrap="square" lIns="0" tIns="0" rIns="0" bIns="0" rtlCol="0" anchor="t"/>
          <a:lstStyle/>
          <a:p>
            <a:pPr marL="0" indent="0" algn="l">
              <a:lnSpc>
                <a:spcPts val="1800"/>
              </a:lnSpc>
              <a:buNone/>
            </a:pPr>
            <a:r>
              <a:rPr lang="en-US" sz="1300" dirty="0">
                <a:solidFill>
                  <a:srgbClr val="6B7785"/>
                </a:solidFill>
                <a:latin typeface="Calibri" pitchFamily="34" charset="0"/>
                <a:ea typeface="Calibri" pitchFamily="34" charset="-122"/>
                <a:cs typeface="Calibri" pitchFamily="34" charset="-120"/>
              </a:rPr>
              <a:t>Every country and organization builds its digital ID ecosystem independently, its own trust anchors, issuance rules, and assurance levels. That works within a jurisdiction. It breaks the moment identity needs to cross a border or organizational boundary: there is no shared way to compare or recognize another ecosystem's guarantees, so users re-prove their identity from scratch and protection varies by whichever rules happen to apply.</a:t>
            </a:r>
            <a:endParaRPr lang="en-US" sz="1300" dirty="0"/>
          </a:p>
        </p:txBody>
      </p:sp>
      <p:sp>
        <p:nvSpPr>
          <p:cNvPr id="13" name="Shape 11"/>
          <p:cNvSpPr/>
          <p:nvPr/>
        </p:nvSpPr>
        <p:spPr>
          <a:xfrm>
            <a:off x="457200" y="4206240"/>
            <a:ext cx="4160520" cy="777240"/>
          </a:xfrm>
          <a:prstGeom prst="rect">
            <a:avLst/>
          </a:prstGeom>
          <a:solidFill>
            <a:srgbClr val="F3F6FB"/>
          </a:solidFill>
          <a:ln/>
        </p:spPr>
        <p:txBody>
          <a:bodyPr/>
          <a:lstStyle/>
          <a:p>
            <a:endParaRPr lang="en-US"/>
          </a:p>
        </p:txBody>
      </p:sp>
      <p:sp>
        <p:nvSpPr>
          <p:cNvPr id="14" name="Text 12"/>
          <p:cNvSpPr/>
          <p:nvPr/>
        </p:nvSpPr>
        <p:spPr>
          <a:xfrm>
            <a:off x="685800" y="4206240"/>
            <a:ext cx="3703320" cy="777240"/>
          </a:xfrm>
          <a:prstGeom prst="rect">
            <a:avLst/>
          </a:prstGeom>
          <a:noFill/>
          <a:ln/>
        </p:spPr>
        <p:txBody>
          <a:bodyPr wrap="square" lIns="0" tIns="0" rIns="0" bIns="0" rtlCol="0" anchor="ctr"/>
          <a:lstStyle/>
          <a:p>
            <a:pPr marL="0" indent="0">
              <a:buNone/>
            </a:pPr>
            <a:r>
              <a:rPr lang="en-US" sz="1600" b="1" i="1" dirty="0">
                <a:solidFill>
                  <a:srgbClr val="13294B"/>
                </a:solidFill>
                <a:latin typeface="Arial" pitchFamily="34" charset="0"/>
                <a:ea typeface="Arial" pitchFamily="34" charset="-122"/>
                <a:cs typeface="Arial" pitchFamily="34" charset="-120"/>
              </a:rPr>
              <a:t>Trust doesn't cross borders by default</a:t>
            </a:r>
            <a:endParaRPr lang="en-US" sz="1600" dirty="0"/>
          </a:p>
        </p:txBody>
      </p:sp>
      <p:sp>
        <p:nvSpPr>
          <p:cNvPr id="15" name="Shape 13"/>
          <p:cNvSpPr/>
          <p:nvPr/>
        </p:nvSpPr>
        <p:spPr>
          <a:xfrm>
            <a:off x="4937760" y="1691640"/>
            <a:ext cx="329184" cy="329184"/>
          </a:xfrm>
          <a:prstGeom prst="ellipse">
            <a:avLst/>
          </a:prstGeom>
          <a:solidFill>
            <a:srgbClr val="F2A900"/>
          </a:solidFill>
          <a:ln/>
        </p:spPr>
        <p:txBody>
          <a:bodyPr/>
          <a:lstStyle/>
          <a:p>
            <a:endParaRPr lang="en-US"/>
          </a:p>
        </p:txBody>
      </p:sp>
      <p:sp>
        <p:nvSpPr>
          <p:cNvPr id="16" name="Text 14"/>
          <p:cNvSpPr/>
          <p:nvPr/>
        </p:nvSpPr>
        <p:spPr>
          <a:xfrm>
            <a:off x="4937760" y="169164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7" name="Text 15"/>
          <p:cNvSpPr/>
          <p:nvPr/>
        </p:nvSpPr>
        <p:spPr>
          <a:xfrm>
            <a:off x="5376672" y="1673352"/>
            <a:ext cx="632764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Proposed approach</a:t>
            </a:r>
            <a:endParaRPr lang="en-US" sz="1600" dirty="0"/>
          </a:p>
        </p:txBody>
      </p:sp>
      <p:sp>
        <p:nvSpPr>
          <p:cNvPr id="18" name="Text 16"/>
          <p:cNvSpPr/>
          <p:nvPr/>
        </p:nvSpPr>
        <p:spPr>
          <a:xfrm>
            <a:off x="4937760" y="2148840"/>
            <a:ext cx="6766560" cy="1051560"/>
          </a:xfrm>
          <a:prstGeom prst="rect">
            <a:avLst/>
          </a:prstGeom>
          <a:noFill/>
          <a:ln/>
        </p:spPr>
        <p:txBody>
          <a:bodyPr wrap="square" lIns="0" tIns="0" rIns="0" bIns="0" rtlCol="0" anchor="t"/>
          <a:lstStyle/>
          <a:p>
            <a:pPr marL="0" indent="0" algn="l">
              <a:lnSpc>
                <a:spcPts val="1800"/>
              </a:lnSpc>
              <a:buNone/>
            </a:pPr>
            <a:r>
              <a:rPr lang="en-US" sz="1300" dirty="0">
                <a:solidFill>
                  <a:srgbClr val="6B7785"/>
                </a:solidFill>
                <a:latin typeface="Calibri" pitchFamily="34" charset="0"/>
                <a:ea typeface="Calibri" pitchFamily="34" charset="-122"/>
                <a:cs typeface="Calibri" pitchFamily="34" charset="-120"/>
              </a:rPr>
              <a:t>Define a common reference model for expressing what a digital ID ecosystem actually guarantees, so two ecosystems can be compared on the same terms  then a mutual-recognition framework for how one ecosystem decides how much to trust a credential from another. Not a single global authority: sovereign ecosystems interoperate on their own terms, the way treaties recognize foreign degrees or licenses without merging the underlying systems.</a:t>
            </a:r>
            <a:endParaRPr lang="en-US" sz="1300" dirty="0"/>
          </a:p>
        </p:txBody>
      </p:sp>
      <p:sp>
        <p:nvSpPr>
          <p:cNvPr id="19" name="Shape 17"/>
          <p:cNvSpPr/>
          <p:nvPr/>
        </p:nvSpPr>
        <p:spPr>
          <a:xfrm>
            <a:off x="4937760" y="3337560"/>
            <a:ext cx="329184" cy="329184"/>
          </a:xfrm>
          <a:prstGeom prst="ellipse">
            <a:avLst/>
          </a:prstGeom>
          <a:solidFill>
            <a:srgbClr val="F2A900"/>
          </a:solidFill>
          <a:ln/>
        </p:spPr>
        <p:txBody>
          <a:bodyPr/>
          <a:lstStyle/>
          <a:p>
            <a:endParaRPr lang="en-US"/>
          </a:p>
        </p:txBody>
      </p:sp>
      <p:sp>
        <p:nvSpPr>
          <p:cNvPr id="20" name="Text 18"/>
          <p:cNvSpPr/>
          <p:nvPr/>
        </p:nvSpPr>
        <p:spPr>
          <a:xfrm>
            <a:off x="4937760" y="333756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76672" y="3319272"/>
            <a:ext cx="632764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Deliverables</a:t>
            </a:r>
            <a:endParaRPr lang="en-US" sz="1600" dirty="0"/>
          </a:p>
        </p:txBody>
      </p:sp>
      <p:sp>
        <p:nvSpPr>
          <p:cNvPr id="22" name="Text 20"/>
          <p:cNvSpPr/>
          <p:nvPr/>
        </p:nvSpPr>
        <p:spPr>
          <a:xfrm>
            <a:off x="4983480" y="3794760"/>
            <a:ext cx="6675120" cy="1280160"/>
          </a:xfrm>
          <a:prstGeom prst="rect">
            <a:avLst/>
          </a:prstGeom>
          <a:noFill/>
          <a:ln/>
        </p:spPr>
        <p:txBody>
          <a:bodyPr wrap="square" lIns="0" tIns="0" rIns="0" bIns="0" rtlCol="0" anchor="t"/>
          <a:lstStyle/>
          <a:p>
            <a:pPr marL="342900" indent="-342900" algn="l">
              <a:lnSpc>
                <a:spcPts val="1600"/>
              </a:lnSpc>
              <a:spcAft>
                <a:spcPts val="1000"/>
              </a:spcAft>
              <a:buSzPct val="100000"/>
              <a:buChar char="•"/>
            </a:pPr>
            <a:r>
              <a:rPr lang="en-US" sz="1250" dirty="0">
                <a:solidFill>
                  <a:srgbClr val="6B7785"/>
                </a:solidFill>
                <a:latin typeface="Calibri" pitchFamily="34" charset="0"/>
                <a:ea typeface="Calibri" pitchFamily="34" charset="-122"/>
                <a:cs typeface="Calibri" pitchFamily="34" charset="-120"/>
              </a:rPr>
              <a:t>Task 1: A common vocabulary for what an ecosystem guarantees — issuer accountability, assurance level, revocation freshness, data protection regime — enabling apples-to-apples comparison across ecosystems</a:t>
            </a:r>
            <a:endParaRPr lang="en-US" sz="1250" dirty="0"/>
          </a:p>
          <a:p>
            <a:pPr marL="342900" indent="-342900" algn="l">
              <a:lnSpc>
                <a:spcPts val="1600"/>
              </a:lnSpc>
              <a:spcAft>
                <a:spcPts val="1000"/>
              </a:spcAft>
              <a:buSzPct val="100000"/>
              <a:buChar char="•"/>
            </a:pPr>
            <a:r>
              <a:rPr lang="en-US" sz="1250" dirty="0">
                <a:solidFill>
                  <a:srgbClr val="6B7785"/>
                </a:solidFill>
                <a:latin typeface="Calibri" pitchFamily="34" charset="0"/>
                <a:ea typeface="Calibri" pitchFamily="34" charset="-122"/>
                <a:cs typeface="Calibri" pitchFamily="34" charset="-120"/>
              </a:rPr>
              <a:t>Task 2: A mutual-recognition and equivalence framework, including compensating controls for when two ecosystems' guarantees don't fully match</a:t>
            </a:r>
            <a:endParaRPr lang="en-US" sz="1250" dirty="0"/>
          </a:p>
        </p:txBody>
      </p:sp>
      <p:sp>
        <p:nvSpPr>
          <p:cNvPr id="23" name="Shape 21"/>
          <p:cNvSpPr/>
          <p:nvPr/>
        </p:nvSpPr>
        <p:spPr>
          <a:xfrm>
            <a:off x="457200" y="5257800"/>
            <a:ext cx="11274552" cy="1234440"/>
          </a:xfrm>
          <a:prstGeom prst="rect">
            <a:avLst/>
          </a:prstGeom>
          <a:solidFill>
            <a:srgbClr val="F3F6FB"/>
          </a:solidFill>
          <a:ln/>
        </p:spPr>
        <p:txBody>
          <a:bodyPr/>
          <a:lstStyle/>
          <a:p>
            <a:endParaRPr lang="en-US"/>
          </a:p>
        </p:txBody>
      </p:sp>
      <p:sp>
        <p:nvSpPr>
          <p:cNvPr id="24" name="Text 22"/>
          <p:cNvSpPr/>
          <p:nvPr/>
        </p:nvSpPr>
        <p:spPr>
          <a:xfrm>
            <a:off x="731520" y="5367528"/>
            <a:ext cx="10698480" cy="256032"/>
          </a:xfrm>
          <a:prstGeom prst="rect">
            <a:avLst/>
          </a:prstGeom>
          <a:noFill/>
          <a:ln/>
        </p:spPr>
        <p:txBody>
          <a:bodyPr wrap="square" lIns="0" tIns="0" rIns="0" bIns="0" rtlCol="0" anchor="ctr"/>
          <a:lstStyle/>
          <a:p>
            <a:pPr marL="0" indent="0">
              <a:buNone/>
            </a:pPr>
            <a:r>
              <a:rPr lang="en-US" sz="1100" b="1" kern="0" spc="100" dirty="0">
                <a:solidFill>
                  <a:srgbClr val="13294B"/>
                </a:solidFill>
                <a:latin typeface="Calibri" pitchFamily="34" charset="0"/>
                <a:ea typeface="Calibri" pitchFamily="34" charset="-122"/>
                <a:cs typeface="Calibri" pitchFamily="34" charset="-120"/>
              </a:rPr>
              <a:t>DISCUSSION QUESTIONS FOR TOMORROW</a:t>
            </a:r>
            <a:endParaRPr lang="en-US" sz="1100" dirty="0"/>
          </a:p>
        </p:txBody>
      </p:sp>
      <p:sp>
        <p:nvSpPr>
          <p:cNvPr id="25" name="Text 23"/>
          <p:cNvSpPr/>
          <p:nvPr/>
        </p:nvSpPr>
        <p:spPr>
          <a:xfrm>
            <a:off x="731520" y="5641848"/>
            <a:ext cx="10698480" cy="777240"/>
          </a:xfrm>
          <a:prstGeom prst="rect">
            <a:avLst/>
          </a:prstGeom>
          <a:noFill/>
          <a:ln/>
        </p:spPr>
        <p:txBody>
          <a:bodyPr wrap="square" lIns="0" tIns="0" rIns="0" bIns="0" rtlCol="0" anchor="t"/>
          <a:lstStyle/>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Should recognition be bilateral (country-to-country agreements) or mapped onto one shared reference framework?</a:t>
            </a:r>
            <a:endParaRPr lang="en-US" sz="1200" dirty="0"/>
          </a:p>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How do we preserve sovereignty — data residency, legal control — while still enabling cross-border trust?</a:t>
            </a:r>
            <a:endParaRPr lang="en-US" sz="1200" dirty="0"/>
          </a:p>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What's the minimal viable pilot: one credential type (e.g. professional license, education credential, age verification) across two jurisdictions?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1B101CA-DE64-E05F-0E01-D2F1A777E01D}"/>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Shape 1"/>
          <p:cNvSpPr/>
          <p:nvPr/>
        </p:nvSpPr>
        <p:spPr>
          <a:xfrm>
            <a:off x="457200" y="384048"/>
            <a:ext cx="640080" cy="640080"/>
          </a:xfrm>
          <a:prstGeom prst="ellipse">
            <a:avLst/>
          </a:prstGeom>
          <a:solidFill>
            <a:srgbClr val="FFFFFF"/>
          </a:solidFill>
          <a:ln/>
        </p:spPr>
        <p:txBody>
          <a:bodyPr/>
          <a:lstStyle/>
          <a:p>
            <a:endParaRPr lang="en-US"/>
          </a:p>
        </p:txBody>
      </p:sp>
      <p:sp>
        <p:nvSpPr>
          <p:cNvPr id="4" name="Text 2"/>
          <p:cNvSpPr/>
          <p:nvPr/>
        </p:nvSpPr>
        <p:spPr>
          <a:xfrm>
            <a:off x="457200" y="384048"/>
            <a:ext cx="640080" cy="640080"/>
          </a:xfrm>
          <a:prstGeom prst="rect">
            <a:avLst/>
          </a:prstGeom>
          <a:noFill/>
          <a:ln/>
        </p:spPr>
        <p:txBody>
          <a:bodyPr wrap="square" lIns="0" tIns="0" rIns="0" bIns="0" rtlCol="0" anchor="ctr"/>
          <a:lstStyle/>
          <a:p>
            <a:pPr marL="0" indent="0" algn="ctr">
              <a:buNone/>
            </a:pPr>
            <a:r>
              <a:rPr lang="en-US" sz="2800" b="1" dirty="0">
                <a:solidFill>
                  <a:srgbClr val="13294B"/>
                </a:solidFill>
                <a:latin typeface="Arial" pitchFamily="34" charset="0"/>
                <a:ea typeface="Arial" pitchFamily="34" charset="-122"/>
                <a:cs typeface="Arial" pitchFamily="34" charset="-120"/>
              </a:rPr>
              <a:t>6</a:t>
            </a:r>
            <a:endParaRPr lang="en-US" sz="2800" dirty="0"/>
          </a:p>
        </p:txBody>
      </p:sp>
      <p:sp>
        <p:nvSpPr>
          <p:cNvPr id="7" name="Text 5"/>
          <p:cNvSpPr/>
          <p:nvPr/>
        </p:nvSpPr>
        <p:spPr>
          <a:xfrm>
            <a:off x="1280160" y="502920"/>
            <a:ext cx="10332720" cy="411480"/>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The agent identity and trust stack</a:t>
            </a:r>
            <a:endParaRPr lang="en-US" sz="2300" dirty="0"/>
          </a:p>
        </p:txBody>
      </p:sp>
      <p:sp>
        <p:nvSpPr>
          <p:cNvPr id="9" name="Shape 7"/>
          <p:cNvSpPr/>
          <p:nvPr/>
        </p:nvSpPr>
        <p:spPr>
          <a:xfrm>
            <a:off x="457200" y="1691640"/>
            <a:ext cx="329184" cy="329184"/>
          </a:xfrm>
          <a:prstGeom prst="ellipse">
            <a:avLst/>
          </a:prstGeom>
          <a:solidFill>
            <a:srgbClr val="F2A900"/>
          </a:solidFill>
          <a:ln/>
        </p:spPr>
        <p:txBody>
          <a:bodyPr/>
          <a:lstStyle/>
          <a:p>
            <a:endParaRPr lang="en-US"/>
          </a:p>
        </p:txBody>
      </p:sp>
      <p:sp>
        <p:nvSpPr>
          <p:cNvPr id="10" name="Text 8"/>
          <p:cNvSpPr/>
          <p:nvPr/>
        </p:nvSpPr>
        <p:spPr>
          <a:xfrm>
            <a:off x="457200" y="169164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t>
            </a:r>
            <a:endParaRPr lang="en-US" sz="1400" dirty="0"/>
          </a:p>
        </p:txBody>
      </p:sp>
      <p:sp>
        <p:nvSpPr>
          <p:cNvPr id="11" name="Text 9"/>
          <p:cNvSpPr/>
          <p:nvPr/>
        </p:nvSpPr>
        <p:spPr>
          <a:xfrm>
            <a:off x="896112" y="1673352"/>
            <a:ext cx="372160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The problem</a:t>
            </a:r>
            <a:endParaRPr lang="en-US" sz="1600" dirty="0"/>
          </a:p>
        </p:txBody>
      </p:sp>
      <p:sp>
        <p:nvSpPr>
          <p:cNvPr id="12" name="Text 10"/>
          <p:cNvSpPr/>
          <p:nvPr/>
        </p:nvSpPr>
        <p:spPr>
          <a:xfrm>
            <a:off x="457200" y="2148840"/>
            <a:ext cx="4160520" cy="1920240"/>
          </a:xfrm>
          <a:prstGeom prst="rect">
            <a:avLst/>
          </a:prstGeom>
          <a:noFill/>
          <a:ln/>
        </p:spPr>
        <p:txBody>
          <a:bodyPr wrap="square" lIns="0" tIns="0" rIns="0" bIns="0" rtlCol="0" anchor="t"/>
          <a:lstStyle/>
          <a:p>
            <a:pPr marL="0" indent="0" algn="l">
              <a:lnSpc>
                <a:spcPts val="1800"/>
              </a:lnSpc>
              <a:buNone/>
            </a:pPr>
            <a:r>
              <a:rPr lang="en-US" sz="1300" dirty="0">
                <a:solidFill>
                  <a:srgbClr val="6B7785"/>
                </a:solidFill>
                <a:latin typeface="Calibri" pitchFamily="34" charset="0"/>
                <a:ea typeface="Calibri" pitchFamily="34" charset="-122"/>
                <a:cs typeface="Calibri" pitchFamily="34" charset="-120"/>
              </a:rPr>
              <a:t>The AI Agent Ecosystem is genuinely complex: Builders, Deployers/Owners, Agent Instances, Users, Infra Providers, and Attestors all interact, often across administrative and trust boundaries. Standards efforts risk jumping straight to protocol-level work (A2A, MCP, or others) before the industry agrees on the underlying identity and trust functions every agentic system actually needs.</a:t>
            </a:r>
            <a:endParaRPr lang="en-US" sz="1300" dirty="0"/>
          </a:p>
        </p:txBody>
      </p:sp>
      <p:sp>
        <p:nvSpPr>
          <p:cNvPr id="13" name="Shape 11"/>
          <p:cNvSpPr/>
          <p:nvPr/>
        </p:nvSpPr>
        <p:spPr>
          <a:xfrm>
            <a:off x="457200" y="4206240"/>
            <a:ext cx="4160520" cy="777240"/>
          </a:xfrm>
          <a:prstGeom prst="rect">
            <a:avLst/>
          </a:prstGeom>
          <a:solidFill>
            <a:srgbClr val="F3F6FB"/>
          </a:solidFill>
          <a:ln/>
        </p:spPr>
        <p:txBody>
          <a:bodyPr/>
          <a:lstStyle/>
          <a:p>
            <a:endParaRPr lang="en-US"/>
          </a:p>
        </p:txBody>
      </p:sp>
      <p:sp>
        <p:nvSpPr>
          <p:cNvPr id="14" name="Text 12"/>
          <p:cNvSpPr/>
          <p:nvPr/>
        </p:nvSpPr>
        <p:spPr>
          <a:xfrm>
            <a:off x="685800" y="4206240"/>
            <a:ext cx="3703320" cy="777240"/>
          </a:xfrm>
          <a:prstGeom prst="rect">
            <a:avLst/>
          </a:prstGeom>
          <a:noFill/>
          <a:ln/>
        </p:spPr>
        <p:txBody>
          <a:bodyPr wrap="square" lIns="0" tIns="0" rIns="0" bIns="0" rtlCol="0" anchor="ctr"/>
          <a:lstStyle/>
          <a:p>
            <a:pPr marL="0" indent="0">
              <a:buNone/>
            </a:pPr>
            <a:r>
              <a:rPr lang="en-US" sz="1600" b="1" i="1" dirty="0">
                <a:solidFill>
                  <a:srgbClr val="13294B"/>
                </a:solidFill>
                <a:latin typeface="Arial" pitchFamily="34" charset="0"/>
                <a:ea typeface="Arial" pitchFamily="34" charset="-122"/>
                <a:cs typeface="Arial" pitchFamily="34" charset="-120"/>
              </a:rPr>
              <a:t>Agree on the stack before the protocol</a:t>
            </a:r>
            <a:endParaRPr lang="en-US" sz="1600" dirty="0"/>
          </a:p>
        </p:txBody>
      </p:sp>
      <p:sp>
        <p:nvSpPr>
          <p:cNvPr id="15" name="Shape 13"/>
          <p:cNvSpPr/>
          <p:nvPr/>
        </p:nvSpPr>
        <p:spPr>
          <a:xfrm>
            <a:off x="4937760" y="1691640"/>
            <a:ext cx="329184" cy="329184"/>
          </a:xfrm>
          <a:prstGeom prst="ellipse">
            <a:avLst/>
          </a:prstGeom>
          <a:solidFill>
            <a:srgbClr val="F2A900"/>
          </a:solidFill>
          <a:ln/>
        </p:spPr>
        <p:txBody>
          <a:bodyPr/>
          <a:lstStyle/>
          <a:p>
            <a:endParaRPr lang="en-US"/>
          </a:p>
        </p:txBody>
      </p:sp>
      <p:sp>
        <p:nvSpPr>
          <p:cNvPr id="16" name="Text 14"/>
          <p:cNvSpPr/>
          <p:nvPr/>
        </p:nvSpPr>
        <p:spPr>
          <a:xfrm>
            <a:off x="4937760" y="169164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7" name="Text 15"/>
          <p:cNvSpPr/>
          <p:nvPr/>
        </p:nvSpPr>
        <p:spPr>
          <a:xfrm>
            <a:off x="5376672" y="1673352"/>
            <a:ext cx="632764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Proposed approach</a:t>
            </a:r>
            <a:endParaRPr lang="en-US" sz="1600" dirty="0"/>
          </a:p>
        </p:txBody>
      </p:sp>
      <p:sp>
        <p:nvSpPr>
          <p:cNvPr id="18" name="Text 16"/>
          <p:cNvSpPr/>
          <p:nvPr/>
        </p:nvSpPr>
        <p:spPr>
          <a:xfrm>
            <a:off x="4937760" y="2148840"/>
            <a:ext cx="6766560" cy="1051560"/>
          </a:xfrm>
          <a:prstGeom prst="rect">
            <a:avLst/>
          </a:prstGeom>
          <a:noFill/>
          <a:ln/>
        </p:spPr>
        <p:txBody>
          <a:bodyPr wrap="square" lIns="0" tIns="0" rIns="0" bIns="0" rtlCol="0" anchor="t"/>
          <a:lstStyle/>
          <a:p>
            <a:pPr marL="0" indent="0" algn="l">
              <a:lnSpc>
                <a:spcPts val="1800"/>
              </a:lnSpc>
              <a:buNone/>
            </a:pPr>
            <a:r>
              <a:rPr lang="en-US" sz="1300" dirty="0">
                <a:solidFill>
                  <a:srgbClr val="6B7785"/>
                </a:solidFill>
                <a:latin typeface="Calibri" pitchFamily="34" charset="0"/>
                <a:ea typeface="Calibri" pitchFamily="34" charset="-122"/>
                <a:cs typeface="Calibri" pitchFamily="34" charset="-120"/>
              </a:rPr>
              <a:t>Define a common, protocol-agnostic identity and trust stack, the functions every agentic system needs to establish who's who and whether to trust them: Agent Authentication, Agent Discovery, User Identification, Agent Identification, Agent Attestation, Agent Authorization, and Agent Delegation. Agent Interaction, the communication mechanics themselves, sits adjacent to this stack, not inside it, and is out of scope here.</a:t>
            </a:r>
            <a:endParaRPr lang="en-US" sz="1300" dirty="0"/>
          </a:p>
        </p:txBody>
      </p:sp>
      <p:sp>
        <p:nvSpPr>
          <p:cNvPr id="19" name="Shape 17"/>
          <p:cNvSpPr/>
          <p:nvPr/>
        </p:nvSpPr>
        <p:spPr>
          <a:xfrm>
            <a:off x="4937760" y="3337560"/>
            <a:ext cx="329184" cy="329184"/>
          </a:xfrm>
          <a:prstGeom prst="ellipse">
            <a:avLst/>
          </a:prstGeom>
          <a:solidFill>
            <a:srgbClr val="F2A900"/>
          </a:solidFill>
          <a:ln/>
        </p:spPr>
        <p:txBody>
          <a:bodyPr/>
          <a:lstStyle/>
          <a:p>
            <a:endParaRPr lang="en-US"/>
          </a:p>
        </p:txBody>
      </p:sp>
      <p:sp>
        <p:nvSpPr>
          <p:cNvPr id="20" name="Text 18"/>
          <p:cNvSpPr/>
          <p:nvPr/>
        </p:nvSpPr>
        <p:spPr>
          <a:xfrm>
            <a:off x="4937760" y="333756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76672" y="3319272"/>
            <a:ext cx="6327648" cy="365760"/>
          </a:xfrm>
          <a:prstGeom prst="rect">
            <a:avLst/>
          </a:prstGeom>
          <a:noFill/>
          <a:ln/>
        </p:spPr>
        <p:txBody>
          <a:bodyPr wrap="square" lIns="0" tIns="0" rIns="0" bIns="0" rtlCol="0" anchor="ctr"/>
          <a:lstStyle/>
          <a:p>
            <a:pPr marL="0" indent="0">
              <a:buNone/>
            </a:pPr>
            <a:r>
              <a:rPr lang="en-US" sz="1600" b="1" dirty="0">
                <a:solidFill>
                  <a:srgbClr val="22303C"/>
                </a:solidFill>
                <a:latin typeface="Arial" pitchFamily="34" charset="0"/>
                <a:ea typeface="Arial" pitchFamily="34" charset="-122"/>
                <a:cs typeface="Arial" pitchFamily="34" charset="-120"/>
              </a:rPr>
              <a:t>Deliverables</a:t>
            </a:r>
            <a:endParaRPr lang="en-US" sz="1600" dirty="0"/>
          </a:p>
        </p:txBody>
      </p:sp>
      <p:sp>
        <p:nvSpPr>
          <p:cNvPr id="22" name="Text 20"/>
          <p:cNvSpPr/>
          <p:nvPr/>
        </p:nvSpPr>
        <p:spPr>
          <a:xfrm>
            <a:off x="4983480" y="3794760"/>
            <a:ext cx="6675120" cy="1280160"/>
          </a:xfrm>
          <a:prstGeom prst="rect">
            <a:avLst/>
          </a:prstGeom>
          <a:noFill/>
          <a:ln/>
        </p:spPr>
        <p:txBody>
          <a:bodyPr wrap="square" lIns="0" tIns="0" rIns="0" bIns="0" rtlCol="0" anchor="t"/>
          <a:lstStyle/>
          <a:p>
            <a:pPr marL="342900" indent="-342900" algn="l">
              <a:lnSpc>
                <a:spcPts val="1600"/>
              </a:lnSpc>
              <a:spcAft>
                <a:spcPts val="1000"/>
              </a:spcAft>
              <a:buSzPct val="100000"/>
              <a:buChar char="•"/>
            </a:pPr>
            <a:r>
              <a:rPr lang="en-US" sz="1250" dirty="0">
                <a:solidFill>
                  <a:srgbClr val="6B7785"/>
                </a:solidFill>
                <a:latin typeface="Calibri" pitchFamily="34" charset="0"/>
                <a:ea typeface="Calibri" pitchFamily="34" charset="-122"/>
                <a:cs typeface="Calibri" pitchFamily="34" charset="-120"/>
              </a:rPr>
              <a:t>Task 1: A reference model of the AI Agent Ecosystem's roles — Builder, Deployer/Owner, Agent Instance, User, Infra Provider, Attestor — and how they interact, as shared vocabulary ahead of any standardization effort</a:t>
            </a:r>
            <a:endParaRPr lang="en-US" sz="1250" dirty="0"/>
          </a:p>
          <a:p>
            <a:pPr marL="342900" indent="-342900" algn="l">
              <a:lnSpc>
                <a:spcPts val="1600"/>
              </a:lnSpc>
              <a:spcAft>
                <a:spcPts val="1000"/>
              </a:spcAft>
              <a:buSzPct val="100000"/>
              <a:buChar char="•"/>
            </a:pPr>
            <a:r>
              <a:rPr lang="en-US" sz="1250" dirty="0">
                <a:solidFill>
                  <a:srgbClr val="6B7785"/>
                </a:solidFill>
                <a:latin typeface="Calibri" pitchFamily="34" charset="0"/>
                <a:ea typeface="Calibri" pitchFamily="34" charset="-122"/>
                <a:cs typeface="Calibri" pitchFamily="34" charset="-120"/>
              </a:rPr>
              <a:t>Task 2: A protocol-agnostic identity and trust stack covering authentication, discovery, identification, attestation, authorization, and delegation, against which specific protocols can be assessed for completeness</a:t>
            </a:r>
            <a:endParaRPr lang="en-US" sz="1250" dirty="0"/>
          </a:p>
        </p:txBody>
      </p:sp>
      <p:sp>
        <p:nvSpPr>
          <p:cNvPr id="23" name="Shape 21"/>
          <p:cNvSpPr/>
          <p:nvPr/>
        </p:nvSpPr>
        <p:spPr>
          <a:xfrm>
            <a:off x="457200" y="5257800"/>
            <a:ext cx="11274552" cy="1234440"/>
          </a:xfrm>
          <a:prstGeom prst="rect">
            <a:avLst/>
          </a:prstGeom>
          <a:solidFill>
            <a:srgbClr val="F3F6FB"/>
          </a:solidFill>
          <a:ln/>
        </p:spPr>
        <p:txBody>
          <a:bodyPr/>
          <a:lstStyle/>
          <a:p>
            <a:endParaRPr lang="en-US"/>
          </a:p>
        </p:txBody>
      </p:sp>
      <p:sp>
        <p:nvSpPr>
          <p:cNvPr id="24" name="Text 22"/>
          <p:cNvSpPr/>
          <p:nvPr/>
        </p:nvSpPr>
        <p:spPr>
          <a:xfrm>
            <a:off x="731520" y="5367528"/>
            <a:ext cx="10698480" cy="256032"/>
          </a:xfrm>
          <a:prstGeom prst="rect">
            <a:avLst/>
          </a:prstGeom>
          <a:noFill/>
          <a:ln/>
        </p:spPr>
        <p:txBody>
          <a:bodyPr wrap="square" lIns="0" tIns="0" rIns="0" bIns="0" rtlCol="0" anchor="ctr"/>
          <a:lstStyle/>
          <a:p>
            <a:pPr marL="0" indent="0">
              <a:buNone/>
            </a:pPr>
            <a:r>
              <a:rPr lang="en-US" sz="1100" b="1" kern="0" spc="100" dirty="0">
                <a:solidFill>
                  <a:srgbClr val="13294B"/>
                </a:solidFill>
                <a:latin typeface="Calibri" pitchFamily="34" charset="0"/>
                <a:ea typeface="Calibri" pitchFamily="34" charset="-122"/>
                <a:cs typeface="Calibri" pitchFamily="34" charset="-120"/>
              </a:rPr>
              <a:t>DISCUSSION QUESTIONS FOR TOMORROW</a:t>
            </a:r>
            <a:endParaRPr lang="en-US" sz="1100" dirty="0"/>
          </a:p>
        </p:txBody>
      </p:sp>
      <p:sp>
        <p:nvSpPr>
          <p:cNvPr id="25" name="Text 23"/>
          <p:cNvSpPr/>
          <p:nvPr/>
        </p:nvSpPr>
        <p:spPr>
          <a:xfrm>
            <a:off x="731520" y="5641848"/>
            <a:ext cx="10698480" cy="777240"/>
          </a:xfrm>
          <a:prstGeom prst="rect">
            <a:avLst/>
          </a:prstGeom>
          <a:noFill/>
          <a:ln/>
        </p:spPr>
        <p:txBody>
          <a:bodyPr wrap="square" lIns="0" tIns="0" rIns="0" bIns="0" rtlCol="0" anchor="t"/>
          <a:lstStyle/>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Should the stack's function list be fixed now, or start minimal and expand as gaps surface?</a:t>
            </a:r>
            <a:endParaRPr lang="en-US" sz="1200" dirty="0"/>
          </a:p>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How does this reference stack relate to our other proposed WGs — identity naming, intent-based policy, attestation, discovery?</a:t>
            </a:r>
            <a:endParaRPr lang="en-US" sz="1200" dirty="0"/>
          </a:p>
          <a:p>
            <a:pPr marL="342900" indent="-342900" algn="l">
              <a:lnSpc>
                <a:spcPts val="1500"/>
              </a:lnSpc>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Which body should host this reference model — IETF, FG-TIDA itself, or a neutral industry consortium?</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34F3A-C10B-FE0D-DD83-2216BFAF33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9731357-8E8A-7211-0DA7-610C0526CB34}"/>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89958F02-AF31-EEB8-C6BB-ECDF2BDBBBA6}"/>
              </a:ext>
            </a:extLst>
          </p:cNvPr>
          <p:cNvSpPr>
            <a:spLocks noGrp="1"/>
          </p:cNvSpPr>
          <p:nvPr>
            <p:ph type="title"/>
          </p:nvPr>
        </p:nvSpPr>
        <p:spPr>
          <a:xfrm>
            <a:off x="341085" y="219392"/>
            <a:ext cx="10515600" cy="1325563"/>
          </a:xfrm>
        </p:spPr>
        <p:txBody>
          <a:bodyPr/>
          <a:lstStyle/>
          <a:p>
            <a:r>
              <a:rPr lang="en-US" noProof="0" dirty="0">
                <a:solidFill>
                  <a:schemeClr val="bg1"/>
                </a:solidFill>
              </a:rPr>
              <a:t>Tools and Working Methods</a:t>
            </a:r>
            <a:endParaRPr lang="en-GB" noProof="0" dirty="0">
              <a:solidFill>
                <a:schemeClr val="bg1"/>
              </a:solidFill>
            </a:endParaRPr>
          </a:p>
        </p:txBody>
      </p:sp>
      <p:pic>
        <p:nvPicPr>
          <p:cNvPr id="13" name="Picture 12">
            <a:extLst>
              <a:ext uri="{FF2B5EF4-FFF2-40B4-BE49-F238E27FC236}">
                <a16:creationId xmlns:a16="http://schemas.microsoft.com/office/drawing/2014/main" id="{4FA826C3-CF6D-B71C-CC95-A50D20FD2FAF}"/>
              </a:ext>
            </a:extLst>
          </p:cNvPr>
          <p:cNvPicPr>
            <a:picLocks noChangeAspect="1"/>
          </p:cNvPicPr>
          <p:nvPr/>
        </p:nvPicPr>
        <p:blipFill>
          <a:blip r:embed="rId2"/>
          <a:stretch>
            <a:fillRect/>
          </a:stretch>
        </p:blipFill>
        <p:spPr>
          <a:xfrm>
            <a:off x="9958212" y="107366"/>
            <a:ext cx="2064271" cy="696502"/>
          </a:xfrm>
          <a:prstGeom prst="rect">
            <a:avLst/>
          </a:prstGeom>
        </p:spPr>
      </p:pic>
      <p:sp>
        <p:nvSpPr>
          <p:cNvPr id="3" name="TextBox 2">
            <a:extLst>
              <a:ext uri="{FF2B5EF4-FFF2-40B4-BE49-F238E27FC236}">
                <a16:creationId xmlns:a16="http://schemas.microsoft.com/office/drawing/2014/main" id="{43BA316B-4D8F-D414-B65C-8A5094EF3E20}"/>
              </a:ext>
            </a:extLst>
          </p:cNvPr>
          <p:cNvSpPr txBox="1"/>
          <p:nvPr/>
        </p:nvSpPr>
        <p:spPr>
          <a:xfrm>
            <a:off x="1127235" y="2547257"/>
            <a:ext cx="4062459" cy="1384995"/>
          </a:xfrm>
          <a:prstGeom prst="rect">
            <a:avLst/>
          </a:prstGeom>
          <a:noFill/>
        </p:spPr>
        <p:txBody>
          <a:bodyPr wrap="none" rtlCol="0">
            <a:spAutoFit/>
          </a:bodyPr>
          <a:lstStyle/>
          <a:p>
            <a:pPr marL="457200" indent="-457200">
              <a:buFont typeface="Arial" panose="020B0604020202020204" pitchFamily="34" charset="0"/>
              <a:buChar char="•"/>
            </a:pPr>
            <a:r>
              <a:rPr lang="en-US" sz="2800" b="1" dirty="0">
                <a:solidFill>
                  <a:schemeClr val="accent1"/>
                </a:solidFill>
              </a:rPr>
              <a:t>GitHub Space</a:t>
            </a:r>
          </a:p>
          <a:p>
            <a:pPr marL="457200" indent="-457200">
              <a:buFont typeface="Arial" panose="020B0604020202020204" pitchFamily="34" charset="0"/>
              <a:buChar char="•"/>
            </a:pPr>
            <a:r>
              <a:rPr lang="en-US" sz="2800" b="1" dirty="0">
                <a:solidFill>
                  <a:schemeClr val="accent1"/>
                </a:solidFill>
              </a:rPr>
              <a:t>WG Charter model</a:t>
            </a:r>
          </a:p>
          <a:p>
            <a:pPr marL="457200" indent="-457200">
              <a:buFont typeface="Arial" panose="020B0604020202020204" pitchFamily="34" charset="0"/>
              <a:buChar char="•"/>
            </a:pPr>
            <a:r>
              <a:rPr lang="en-US" sz="2800" b="1" dirty="0">
                <a:solidFill>
                  <a:schemeClr val="accent1"/>
                </a:solidFill>
              </a:rPr>
              <a:t>Specs beautifier Tool</a:t>
            </a:r>
          </a:p>
        </p:txBody>
      </p:sp>
    </p:spTree>
    <p:extLst>
      <p:ext uri="{BB962C8B-B14F-4D97-AF65-F5344CB8AC3E}">
        <p14:creationId xmlns:p14="http://schemas.microsoft.com/office/powerpoint/2010/main" val="3205395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1BBE0-ED93-8DD5-824B-0E05EB150FE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01D205C-9110-7104-CD4D-D99DEED50736}"/>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3E7BA03D-B1EB-8A56-5734-8AF372CAC93E}"/>
              </a:ext>
            </a:extLst>
          </p:cNvPr>
          <p:cNvSpPr>
            <a:spLocks noGrp="1"/>
          </p:cNvSpPr>
          <p:nvPr>
            <p:ph type="title"/>
          </p:nvPr>
        </p:nvSpPr>
        <p:spPr>
          <a:xfrm>
            <a:off x="341085" y="219392"/>
            <a:ext cx="10515600" cy="1325563"/>
          </a:xfrm>
        </p:spPr>
        <p:txBody>
          <a:bodyPr/>
          <a:lstStyle/>
          <a:p>
            <a:r>
              <a:rPr lang="en-US" noProof="0" dirty="0">
                <a:solidFill>
                  <a:schemeClr val="bg1"/>
                </a:solidFill>
              </a:rPr>
              <a:t>How to move forward</a:t>
            </a:r>
            <a:endParaRPr lang="en-GB" noProof="0" dirty="0">
              <a:solidFill>
                <a:schemeClr val="bg1"/>
              </a:solidFill>
            </a:endParaRPr>
          </a:p>
        </p:txBody>
      </p:sp>
      <p:pic>
        <p:nvPicPr>
          <p:cNvPr id="13" name="Picture 12">
            <a:extLst>
              <a:ext uri="{FF2B5EF4-FFF2-40B4-BE49-F238E27FC236}">
                <a16:creationId xmlns:a16="http://schemas.microsoft.com/office/drawing/2014/main" id="{5381E694-76CA-5628-6376-2B8C92161D46}"/>
              </a:ext>
            </a:extLst>
          </p:cNvPr>
          <p:cNvPicPr>
            <a:picLocks noChangeAspect="1"/>
          </p:cNvPicPr>
          <p:nvPr/>
        </p:nvPicPr>
        <p:blipFill>
          <a:blip r:embed="rId3"/>
          <a:stretch>
            <a:fillRect/>
          </a:stretch>
        </p:blipFill>
        <p:spPr>
          <a:xfrm>
            <a:off x="9958212" y="107366"/>
            <a:ext cx="2064271" cy="696502"/>
          </a:xfrm>
          <a:prstGeom prst="rect">
            <a:avLst/>
          </a:prstGeom>
        </p:spPr>
      </p:pic>
      <p:sp>
        <p:nvSpPr>
          <p:cNvPr id="3" name="TextBox 2">
            <a:extLst>
              <a:ext uri="{FF2B5EF4-FFF2-40B4-BE49-F238E27FC236}">
                <a16:creationId xmlns:a16="http://schemas.microsoft.com/office/drawing/2014/main" id="{98A96CD3-10A4-5901-FE59-D32FCBD391AE}"/>
              </a:ext>
            </a:extLst>
          </p:cNvPr>
          <p:cNvSpPr txBox="1"/>
          <p:nvPr/>
        </p:nvSpPr>
        <p:spPr>
          <a:xfrm>
            <a:off x="1127235" y="2547257"/>
            <a:ext cx="8339655" cy="1384995"/>
          </a:xfrm>
          <a:prstGeom prst="rect">
            <a:avLst/>
          </a:prstGeom>
          <a:noFill/>
        </p:spPr>
        <p:txBody>
          <a:bodyPr wrap="none" rtlCol="0">
            <a:spAutoFit/>
          </a:bodyPr>
          <a:lstStyle/>
          <a:p>
            <a:pPr marL="457200" indent="-457200">
              <a:buFont typeface="Arial" panose="020B0604020202020204" pitchFamily="34" charset="0"/>
              <a:buChar char="•"/>
            </a:pPr>
            <a:r>
              <a:rPr lang="en-US" sz="2800" b="1" dirty="0">
                <a:solidFill>
                  <a:schemeClr val="accent1"/>
                </a:solidFill>
              </a:rPr>
              <a:t>3 virtual meetings</a:t>
            </a:r>
          </a:p>
          <a:p>
            <a:pPr marL="457200" indent="-457200">
              <a:buFont typeface="Arial" panose="020B0604020202020204" pitchFamily="34" charset="0"/>
              <a:buChar char="•"/>
            </a:pPr>
            <a:r>
              <a:rPr lang="en-US" sz="2800" b="1" dirty="0">
                <a:solidFill>
                  <a:schemeClr val="accent1"/>
                </a:solidFill>
              </a:rPr>
              <a:t>We can start the work in GitHub!</a:t>
            </a:r>
          </a:p>
          <a:p>
            <a:pPr marL="457200" indent="-457200">
              <a:buFont typeface="Arial" panose="020B0604020202020204" pitchFamily="34" charset="0"/>
              <a:buChar char="•"/>
            </a:pPr>
            <a:r>
              <a:rPr lang="en-US" sz="2800" b="1" dirty="0">
                <a:solidFill>
                  <a:schemeClr val="accent1"/>
                </a:solidFill>
              </a:rPr>
              <a:t>Meeting/Panel in Dubai GISEC? </a:t>
            </a:r>
            <a:r>
              <a:rPr lang="en-US" sz="2800" dirty="0">
                <a:hlinkClick r:id="rId4" tooltip="https://gisec.ae/"/>
              </a:rPr>
              <a:t>https://gisec.ae/</a:t>
            </a:r>
            <a:endParaRPr lang="en-US" sz="2800" b="1" dirty="0">
              <a:solidFill>
                <a:schemeClr val="accent1"/>
              </a:solidFill>
            </a:endParaRPr>
          </a:p>
        </p:txBody>
      </p:sp>
    </p:spTree>
    <p:extLst>
      <p:ext uri="{BB962C8B-B14F-4D97-AF65-F5344CB8AC3E}">
        <p14:creationId xmlns:p14="http://schemas.microsoft.com/office/powerpoint/2010/main" val="788784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FD85B-090D-74B5-588D-C007F16E7F4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D6250E4-8E50-6F28-07C1-D7EDA7453F07}"/>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F0DFE812-EB1E-C93A-2394-3A83E3DECCA9}"/>
              </a:ext>
            </a:extLst>
          </p:cNvPr>
          <p:cNvSpPr>
            <a:spLocks noGrp="1"/>
          </p:cNvSpPr>
          <p:nvPr>
            <p:ph type="title"/>
          </p:nvPr>
        </p:nvSpPr>
        <p:spPr>
          <a:xfrm>
            <a:off x="341085" y="219392"/>
            <a:ext cx="10515600" cy="1325563"/>
          </a:xfrm>
        </p:spPr>
        <p:txBody>
          <a:bodyPr/>
          <a:lstStyle/>
          <a:p>
            <a:r>
              <a:rPr lang="en-US" dirty="0">
                <a:solidFill>
                  <a:schemeClr val="bg1"/>
                </a:solidFill>
              </a:rPr>
              <a:t>A strong base, a clear boundary</a:t>
            </a:r>
            <a:endParaRPr lang="en-GB" noProof="0" dirty="0">
              <a:solidFill>
                <a:schemeClr val="bg1"/>
              </a:solidFill>
            </a:endParaRPr>
          </a:p>
        </p:txBody>
      </p:sp>
      <p:sp>
        <p:nvSpPr>
          <p:cNvPr id="3" name="TextBox 2">
            <a:extLst>
              <a:ext uri="{FF2B5EF4-FFF2-40B4-BE49-F238E27FC236}">
                <a16:creationId xmlns:a16="http://schemas.microsoft.com/office/drawing/2014/main" id="{D9483761-C754-E9D0-A676-AB2E8E474264}"/>
              </a:ext>
            </a:extLst>
          </p:cNvPr>
          <p:cNvSpPr txBox="1"/>
          <p:nvPr/>
        </p:nvSpPr>
        <p:spPr>
          <a:xfrm>
            <a:off x="121920" y="7006221"/>
            <a:ext cx="7315200" cy="164592"/>
          </a:xfrm>
          <a:prstGeom prst="rect">
            <a:avLst/>
          </a:prstGeom>
          <a:noFill/>
        </p:spPr>
        <p:txBody>
          <a:bodyPr wrap="square" lIns="36576" tIns="18288" rIns="36576" bIns="18288" anchor="t">
            <a:spAutoFit/>
          </a:bodyPr>
          <a:lstStyle/>
          <a:p>
            <a:pPr algn="l"/>
            <a:r>
              <a:rPr sz="800" b="0" i="0">
                <a:solidFill>
                  <a:srgbClr val="6B7785"/>
                </a:solidFill>
                <a:latin typeface="Calibri"/>
              </a:rPr>
              <a:t>ITU-T SG17 · Security &amp; Trust</a:t>
            </a:r>
          </a:p>
        </p:txBody>
      </p:sp>
      <p:sp>
        <p:nvSpPr>
          <p:cNvPr id="67" name="PageNum">
            <a:extLst>
              <a:ext uri="{FF2B5EF4-FFF2-40B4-BE49-F238E27FC236}">
                <a16:creationId xmlns:a16="http://schemas.microsoft.com/office/drawing/2014/main" id="{07890EF8-F265-AB1D-730E-4F625CA92324}"/>
              </a:ext>
            </a:extLst>
          </p:cNvPr>
          <p:cNvSpPr/>
          <p:nvPr/>
        </p:nvSpPr>
        <p:spPr>
          <a:xfrm>
            <a:off x="11397600" y="6816821"/>
            <a:ext cx="500000" cy="300000"/>
          </a:xfrm>
          <a:prstGeom prst="rect">
            <a:avLst/>
          </a:prstGeom>
          <a:noFill/>
          <a:ln>
            <a:noFill/>
          </a:ln>
        </p:spPr>
        <p:txBody>
          <a:bodyPr/>
          <a:lstStyle/>
          <a:p>
            <a:pPr algn="r"/>
            <a:r>
              <a:rPr lang="en-US" sz="900" dirty="0">
                <a:solidFill>
                  <a:srgbClr val="6B7785"/>
                </a:solidFill>
              </a:rPr>
              <a:t>13</a:t>
            </a:r>
          </a:p>
        </p:txBody>
      </p:sp>
      <p:pic>
        <p:nvPicPr>
          <p:cNvPr id="13" name="Picture 12">
            <a:extLst>
              <a:ext uri="{FF2B5EF4-FFF2-40B4-BE49-F238E27FC236}">
                <a16:creationId xmlns:a16="http://schemas.microsoft.com/office/drawing/2014/main" id="{A4463003-FE4D-7C51-757D-839FFDD4BCC5}"/>
              </a:ext>
            </a:extLst>
          </p:cNvPr>
          <p:cNvPicPr>
            <a:picLocks noChangeAspect="1"/>
          </p:cNvPicPr>
          <p:nvPr/>
        </p:nvPicPr>
        <p:blipFill>
          <a:blip r:embed="rId2"/>
          <a:stretch>
            <a:fillRect/>
          </a:stretch>
        </p:blipFill>
        <p:spPr>
          <a:xfrm>
            <a:off x="9958212" y="107366"/>
            <a:ext cx="2064271" cy="696502"/>
          </a:xfrm>
          <a:prstGeom prst="rect">
            <a:avLst/>
          </a:prstGeom>
        </p:spPr>
      </p:pic>
      <p:sp>
        <p:nvSpPr>
          <p:cNvPr id="504" name="Card4"/>
          <p:cNvSpPr/>
          <p:nvPr/>
        </p:nvSpPr>
        <p:spPr>
          <a:xfrm>
            <a:off x="259080" y="1850000"/>
            <a:ext cx="3800000" cy="3600000"/>
          </a:xfrm>
          <a:prstGeom prst="roundRect">
            <a:avLst>
              <a:gd name="adj" fmla="val 4000"/>
            </a:avLst>
          </a:prstGeom>
          <a:solidFill>
            <a:srgbClr val="EEF3F8"/>
          </a:solidFill>
          <a:ln w="9525">
            <a:solidFill>
              <a:srgbClr val="13294B"/>
            </a:solidFill>
          </a:ln>
        </p:spPr>
        <p:txBody>
          <a:bodyPr/>
          <a:lstStyle/>
          <a:p>
            <a:endParaRPr/>
          </a:p>
        </p:txBody>
      </p:sp>
      <p:sp>
        <p:nvSpPr>
          <p:cNvPr id="404" name="TBX4"/>
          <p:cNvSpPr txBox="1"/>
          <p:nvPr/>
        </p:nvSpPr>
        <p:spPr>
          <a:xfrm>
            <a:off x="259080" y="2100000"/>
            <a:ext cx="3800000" cy="1200000"/>
          </a:xfrm>
          <a:prstGeom prst="rect">
            <a:avLst/>
          </a:prstGeom>
          <a:noFill/>
        </p:spPr>
        <p:txBody>
          <a:bodyPr wrap="square" anchor="t">
            <a:normAutofit/>
          </a:bodyPr>
          <a:lstStyle/>
          <a:p>
            <a:pPr algn="ctr"/>
            <a:r>
              <a:rPr lang="en-US" sz="6600" b="1" i="0" dirty="0">
                <a:solidFill>
                  <a:srgbClr val="049BD6"/>
                </a:solidFill>
              </a:rPr>
              <a:t>25</a:t>
            </a:r>
          </a:p>
        </p:txBody>
      </p:sp>
      <p:sp>
        <p:nvSpPr>
          <p:cNvPr id="405" name="TBX5"/>
          <p:cNvSpPr txBox="1"/>
          <p:nvPr/>
        </p:nvSpPr>
        <p:spPr>
          <a:xfrm>
            <a:off x="500000" y="3400000"/>
            <a:ext cx="3320000" cy="1900000"/>
          </a:xfrm>
          <a:prstGeom prst="rect">
            <a:avLst/>
          </a:prstGeom>
          <a:noFill/>
        </p:spPr>
        <p:txBody>
          <a:bodyPr wrap="square" anchor="t">
            <a:normAutofit/>
          </a:bodyPr>
          <a:lstStyle/>
          <a:p>
            <a:pPr algn="ctr"/>
            <a:r>
              <a:rPr lang="en-US" sz="1400" b="0" i="0" dirty="0">
                <a:solidFill>
                  <a:srgbClr val="22303C"/>
                </a:solidFill>
              </a:rPr>
              <a:t>Agentic AI work items already underway at SG17, across 5 Questions (Q1, Q2, Q7, Q10, Q16)</a:t>
            </a:r>
          </a:p>
          <a:p>
            <a:pPr algn="ctr"/>
            <a:r>
              <a:rPr lang="en-US" sz="1300" b="0" i="1" dirty="0">
                <a:solidFill>
                  <a:srgbClr val="1B5E7E"/>
                </a:solidFill>
              </a:rPr>
              <a:t>a lead no other SDO has today</a:t>
            </a:r>
          </a:p>
        </p:txBody>
      </p:sp>
      <p:sp>
        <p:nvSpPr>
          <p:cNvPr id="505" name="Card5"/>
          <p:cNvSpPr/>
          <p:nvPr/>
        </p:nvSpPr>
        <p:spPr>
          <a:xfrm>
            <a:off x="4300000" y="1850000"/>
            <a:ext cx="7632920" cy="1850000"/>
          </a:xfrm>
          <a:prstGeom prst="roundRect">
            <a:avLst>
              <a:gd name="adj" fmla="val 4000"/>
            </a:avLst>
          </a:prstGeom>
          <a:solidFill>
            <a:srgbClr val="EEF3F8"/>
          </a:solidFill>
          <a:ln w="9525">
            <a:solidFill>
              <a:srgbClr val="13294B"/>
            </a:solidFill>
          </a:ln>
        </p:spPr>
        <p:txBody>
          <a:bodyPr/>
          <a:lstStyle/>
          <a:p>
            <a:endParaRPr/>
          </a:p>
        </p:txBody>
      </p:sp>
      <p:sp>
        <p:nvSpPr>
          <p:cNvPr id="406" name="TBX6"/>
          <p:cNvSpPr txBox="1"/>
          <p:nvPr/>
        </p:nvSpPr>
        <p:spPr>
          <a:xfrm>
            <a:off x="4480000" y="1940000"/>
            <a:ext cx="7272920" cy="350000"/>
          </a:xfrm>
          <a:prstGeom prst="rect">
            <a:avLst/>
          </a:prstGeom>
          <a:noFill/>
        </p:spPr>
        <p:txBody>
          <a:bodyPr wrap="square" anchor="t">
            <a:normAutofit/>
          </a:bodyPr>
          <a:lstStyle/>
          <a:p>
            <a:pPr algn="l"/>
            <a:r>
              <a:rPr lang="en-US" sz="1500" b="1" i="0" dirty="0">
                <a:solidFill>
                  <a:srgbClr val="13294B"/>
                </a:solidFill>
              </a:rPr>
              <a:t>The boundary is written in the Terms of Reference</a:t>
            </a:r>
          </a:p>
        </p:txBody>
      </p:sp>
      <p:sp>
        <p:nvSpPr>
          <p:cNvPr id="407" name="TBX7"/>
          <p:cNvSpPr txBox="1"/>
          <p:nvPr/>
        </p:nvSpPr>
        <p:spPr>
          <a:xfrm>
            <a:off x="4480000" y="2330000"/>
            <a:ext cx="7272920" cy="1300000"/>
          </a:xfrm>
          <a:prstGeom prst="rect">
            <a:avLst/>
          </a:prstGeom>
          <a:noFill/>
        </p:spPr>
        <p:txBody>
          <a:bodyPr wrap="square" anchor="t">
            <a:normAutofit/>
          </a:bodyPr>
          <a:lstStyle/>
          <a:p>
            <a:pPr algn="l"/>
            <a:r>
              <a:rPr lang="en-US" sz="1300" b="0" i="1" dirty="0">
                <a:solidFill>
                  <a:srgbClr val="22303C"/>
                </a:solidFill>
              </a:rPr>
              <a:t>"The subject is not already addressed by work underway in ITU-T study groups…" (Rec. ITU-T A.7)</a:t>
            </a:r>
          </a:p>
          <a:p>
            <a:pPr algn="l"/>
            <a:r>
              <a:rPr lang="en-US" sz="1300" b="0" i="1" dirty="0">
                <a:solidFill>
                  <a:srgbClr val="22303C"/>
                </a:solidFill>
              </a:rPr>
              <a:t>"FG Chair and SG17 Chair will resolve on a case by case basis."</a:t>
            </a:r>
          </a:p>
          <a:p>
            <a:pPr algn="l"/>
            <a:r>
              <a:rPr lang="en-US" sz="1300" b="0" i="0" dirty="0">
                <a:solidFill>
                  <a:srgbClr val="1B5E7E"/>
                </a:solidFill>
              </a:rPr>
              <a:t>No duplication: the FG supports, complements and informs SG17.</a:t>
            </a:r>
          </a:p>
        </p:txBody>
      </p:sp>
      <p:sp>
        <p:nvSpPr>
          <p:cNvPr id="506" name="Card6"/>
          <p:cNvSpPr/>
          <p:nvPr/>
        </p:nvSpPr>
        <p:spPr>
          <a:xfrm>
            <a:off x="4300000" y="3850000"/>
            <a:ext cx="7632920" cy="1600000"/>
          </a:xfrm>
          <a:prstGeom prst="roundRect">
            <a:avLst>
              <a:gd name="adj" fmla="val 4000"/>
            </a:avLst>
          </a:prstGeom>
          <a:solidFill>
            <a:srgbClr val="EEF3F8"/>
          </a:solidFill>
          <a:ln w="9525">
            <a:solidFill>
              <a:srgbClr val="13294B"/>
            </a:solidFill>
          </a:ln>
        </p:spPr>
        <p:txBody>
          <a:bodyPr/>
          <a:lstStyle/>
          <a:p>
            <a:endParaRPr/>
          </a:p>
        </p:txBody>
      </p:sp>
      <p:sp>
        <p:nvSpPr>
          <p:cNvPr id="408" name="TBX8"/>
          <p:cNvSpPr txBox="1"/>
          <p:nvPr/>
        </p:nvSpPr>
        <p:spPr>
          <a:xfrm>
            <a:off x="4480000" y="3940000"/>
            <a:ext cx="7272920" cy="350000"/>
          </a:xfrm>
          <a:prstGeom prst="rect">
            <a:avLst/>
          </a:prstGeom>
          <a:noFill/>
        </p:spPr>
        <p:txBody>
          <a:bodyPr wrap="square" anchor="t">
            <a:normAutofit/>
          </a:bodyPr>
          <a:lstStyle/>
          <a:p>
            <a:pPr algn="l"/>
            <a:r>
              <a:rPr lang="en-US" sz="1500" b="1" i="0" dirty="0">
                <a:solidFill>
                  <a:srgbClr val="13294B"/>
                </a:solidFill>
              </a:rPr>
              <a:t>Worked example: XSTR.magAI-behavior</a:t>
            </a:r>
          </a:p>
        </p:txBody>
      </p:sp>
      <p:sp>
        <p:nvSpPr>
          <p:cNvPr id="409" name="TBX9"/>
          <p:cNvSpPr txBox="1"/>
          <p:nvPr/>
        </p:nvSpPr>
        <p:spPr>
          <a:xfrm>
            <a:off x="4480000" y="4330000"/>
            <a:ext cx="7272920" cy="1050000"/>
          </a:xfrm>
          <a:prstGeom prst="rect">
            <a:avLst/>
          </a:prstGeom>
          <a:noFill/>
        </p:spPr>
        <p:txBody>
          <a:bodyPr wrap="square" anchor="t">
            <a:normAutofit/>
          </a:bodyPr>
          <a:lstStyle/>
          <a:p>
            <a:pPr algn="l"/>
            <a:r>
              <a:rPr lang="en-US" sz="1300" b="0" i="0" dirty="0">
                <a:solidFill>
                  <a:srgbClr val="22303C"/>
                </a:solidFill>
              </a:rPr>
              <a:t>As SG17 Chair, I would consider proposing it to FG-TIDA: it needs broad community feedback, and it must be enriched against the FG frameworks and architectures to avoid blind spots.</a:t>
            </a:r>
          </a:p>
        </p:txBody>
      </p:sp>
      <p:sp>
        <p:nvSpPr>
          <p:cNvPr id="507" name="Card7"/>
          <p:cNvSpPr/>
          <p:nvPr/>
        </p:nvSpPr>
        <p:spPr>
          <a:xfrm>
            <a:off x="259080" y="5700000"/>
            <a:ext cx="11673840" cy="800000"/>
          </a:xfrm>
          <a:prstGeom prst="roundRect">
            <a:avLst>
              <a:gd name="adj" fmla="val 4000"/>
            </a:avLst>
          </a:prstGeom>
          <a:solidFill>
            <a:srgbClr val="13294B"/>
          </a:solidFill>
          <a:ln w="9525">
            <a:solidFill>
              <a:srgbClr val="13294B"/>
            </a:solidFill>
          </a:ln>
        </p:spPr>
        <p:txBody>
          <a:bodyPr/>
          <a:lstStyle/>
          <a:p>
            <a:endParaRPr/>
          </a:p>
        </p:txBody>
      </p:sp>
      <p:sp>
        <p:nvSpPr>
          <p:cNvPr id="410" name="TBX10"/>
          <p:cNvSpPr txBox="1"/>
          <p:nvPr/>
        </p:nvSpPr>
        <p:spPr>
          <a:xfrm>
            <a:off x="441960" y="5700000"/>
            <a:ext cx="11308080" cy="800000"/>
          </a:xfrm>
          <a:prstGeom prst="rect">
            <a:avLst/>
          </a:prstGeom>
          <a:noFill/>
        </p:spPr>
        <p:txBody>
          <a:bodyPr wrap="square" anchor="ctr">
            <a:normAutofit/>
          </a:bodyPr>
          <a:lstStyle/>
          <a:p>
            <a:pPr algn="ctr"/>
            <a:r>
              <a:rPr lang="en-US" sz="1400" b="1" i="0" dirty="0">
                <a:solidFill>
                  <a:srgbClr val="FFFFFF"/>
                </a:solidFill>
              </a:rPr>
              <a:t>The real pressure is speed: we are far ahead of other SDOs, not of Agentic AI itself.</a:t>
            </a:r>
          </a:p>
          <a:p>
            <a:pPr algn="ctr"/>
            <a:r>
              <a:rPr lang="en-US" sz="1300" b="0" i="0" dirty="0">
                <a:solidFill>
                  <a:srgbClr val="CADCFC"/>
                </a:solidFill>
              </a:rPr>
              <a:t>We will resolve it with precision and collegiality. SG17 is a mature group, built for exactly this.</a:t>
            </a:r>
          </a:p>
        </p:txBody>
      </p:sp>
    </p:spTree>
    <p:extLst>
      <p:ext uri="{BB962C8B-B14F-4D97-AF65-F5344CB8AC3E}">
        <p14:creationId xmlns:p14="http://schemas.microsoft.com/office/powerpoint/2010/main" val="396204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7EEF-F3B3-A691-39B3-634309057C1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26EB1D6-3C65-EFEF-3F89-BB23E64AB81A}"/>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EF1C4886-EFB6-EE2A-C540-14927FA877AF}"/>
              </a:ext>
            </a:extLst>
          </p:cNvPr>
          <p:cNvSpPr>
            <a:spLocks noGrp="1"/>
          </p:cNvSpPr>
          <p:nvPr>
            <p:ph type="title"/>
          </p:nvPr>
        </p:nvSpPr>
        <p:spPr>
          <a:xfrm>
            <a:off x="341085" y="219392"/>
            <a:ext cx="10515600" cy="1325563"/>
          </a:xfrm>
        </p:spPr>
        <p:txBody>
          <a:bodyPr/>
          <a:lstStyle/>
          <a:p>
            <a:endParaRPr lang="en-GB" noProof="0" dirty="0">
              <a:solidFill>
                <a:schemeClr val="bg1"/>
              </a:solidFill>
            </a:endParaRPr>
          </a:p>
        </p:txBody>
      </p:sp>
      <p:pic>
        <p:nvPicPr>
          <p:cNvPr id="13" name="Picture 12">
            <a:extLst>
              <a:ext uri="{FF2B5EF4-FFF2-40B4-BE49-F238E27FC236}">
                <a16:creationId xmlns:a16="http://schemas.microsoft.com/office/drawing/2014/main" id="{D1D4C387-83B3-51DA-53F3-17D302D1AA56}"/>
              </a:ext>
            </a:extLst>
          </p:cNvPr>
          <p:cNvPicPr>
            <a:picLocks noChangeAspect="1"/>
          </p:cNvPicPr>
          <p:nvPr/>
        </p:nvPicPr>
        <p:blipFill>
          <a:blip r:embed="rId2"/>
          <a:stretch>
            <a:fillRect/>
          </a:stretch>
        </p:blipFill>
        <p:spPr>
          <a:xfrm>
            <a:off x="9958212" y="107366"/>
            <a:ext cx="2064271" cy="696502"/>
          </a:xfrm>
          <a:prstGeom prst="rect">
            <a:avLst/>
          </a:prstGeom>
        </p:spPr>
      </p:pic>
      <p:sp>
        <p:nvSpPr>
          <p:cNvPr id="2" name="TextBox 1">
            <a:extLst>
              <a:ext uri="{FF2B5EF4-FFF2-40B4-BE49-F238E27FC236}">
                <a16:creationId xmlns:a16="http://schemas.microsoft.com/office/drawing/2014/main" id="{38FF3BED-1C4D-6B4D-FE09-3F4B7D0FDB85}"/>
              </a:ext>
            </a:extLst>
          </p:cNvPr>
          <p:cNvSpPr txBox="1"/>
          <p:nvPr/>
        </p:nvSpPr>
        <p:spPr>
          <a:xfrm>
            <a:off x="1510770" y="3429000"/>
            <a:ext cx="9170459" cy="707886"/>
          </a:xfrm>
          <a:prstGeom prst="rect">
            <a:avLst/>
          </a:prstGeom>
          <a:noFill/>
        </p:spPr>
        <p:txBody>
          <a:bodyPr wrap="none" rtlCol="0">
            <a:spAutoFit/>
          </a:bodyPr>
          <a:lstStyle/>
          <a:p>
            <a:r>
              <a:rPr lang="en-US" sz="4000" b="1" dirty="0"/>
              <a:t>THANK YOU FOR YOUR PARTICIPATION</a:t>
            </a:r>
          </a:p>
        </p:txBody>
      </p:sp>
    </p:spTree>
    <p:extLst>
      <p:ext uri="{BB962C8B-B14F-4D97-AF65-F5344CB8AC3E}">
        <p14:creationId xmlns:p14="http://schemas.microsoft.com/office/powerpoint/2010/main" val="8457005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2548</Words>
  <Application>Microsoft Office PowerPoint</Application>
  <PresentationFormat>Widescreen</PresentationFormat>
  <Paragraphs>243</Paragraphs>
  <Slides>22</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SimSun</vt:lpstr>
      <vt:lpstr>Aptos</vt:lpstr>
      <vt:lpstr>Aptos Display</vt:lpstr>
      <vt:lpstr>Arial</vt:lpstr>
      <vt:lpstr>Calibri</vt:lpstr>
      <vt:lpstr>Symbol</vt:lpstr>
      <vt:lpstr>Wingdings</vt:lpstr>
      <vt:lpstr>Office Theme</vt:lpstr>
      <vt:lpstr>Auto-reporting tools </vt:lpstr>
      <vt:lpstr>Agenda</vt:lpstr>
      <vt:lpstr>THANK YOU!!</vt:lpstr>
      <vt:lpstr>4 Workshops led us to today</vt:lpstr>
      <vt:lpstr>What is a Focus Group in ITU?</vt:lpstr>
      <vt:lpstr>Why creating TIDA?</vt:lpstr>
      <vt:lpstr>9 July 2026: the launch of FG-TIDA</vt:lpstr>
      <vt:lpstr>What is happening next?</vt:lpstr>
      <vt:lpstr>Our Objective for 1-4 Dec meeting</vt:lpstr>
      <vt:lpstr>How to get there?  4 virtual meetings from now to 1-4 Dec</vt:lpstr>
      <vt:lpstr>Current TIDA Structure</vt:lpstr>
      <vt:lpstr>Let us brainstorm together on  ideas for Working Groups</vt:lpstr>
      <vt:lpstr>PowerPoint Presentation</vt:lpstr>
      <vt:lpstr>PowerPoint Presentation</vt:lpstr>
      <vt:lpstr>PowerPoint Presentation</vt:lpstr>
      <vt:lpstr>PowerPoint Presentation</vt:lpstr>
      <vt:lpstr>PowerPoint Presentation</vt:lpstr>
      <vt:lpstr>PowerPoint Presentation</vt:lpstr>
      <vt:lpstr>Tools and Working Methods</vt:lpstr>
      <vt:lpstr>How to move forward</vt:lpstr>
      <vt:lpstr>A strong base, a clear boundary</vt:lpstr>
      <vt:lpstr>PowerPoint Presentation</vt:lpstr>
    </vt:vector>
  </TitlesOfParts>
  <Company>Thales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MATIAS Nicolas</dc:creator>
  <cp:lastModifiedBy>COMPARIN Debora</cp:lastModifiedBy>
  <cp:revision>23</cp:revision>
  <dcterms:created xsi:type="dcterms:W3CDTF">2026-05-31T18:20:48Z</dcterms:created>
  <dcterms:modified xsi:type="dcterms:W3CDTF">2026-07-29T21:58:19Z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f20372f-9ab3-4551-9149-9f9b12e2c27e_Enabled">
    <vt:lpwstr>true</vt:lpwstr>
  </property>
  <property fmtid="{D5CDD505-2E9C-101B-9397-08002B2CF9AE}" pid="3" name="MSIP_Label_cf20372f-9ab3-4551-9149-9f9b12e2c27e_SetDate">
    <vt:lpwstr>2026-06-01T08:20:46Z</vt:lpwstr>
  </property>
  <property fmtid="{D5CDD505-2E9C-101B-9397-08002B2CF9AE}" pid="4" name="MSIP_Label_cf20372f-9ab3-4551-9149-9f9b12e2c27e_Method">
    <vt:lpwstr>Privileged</vt:lpwstr>
  </property>
  <property fmtid="{D5CDD505-2E9C-101B-9397-08002B2CF9AE}" pid="5" name="MSIP_Label_cf20372f-9ab3-4551-9149-9f9b12e2c27e_Name">
    <vt:lpwstr>DIS OPEN</vt:lpwstr>
  </property>
  <property fmtid="{D5CDD505-2E9C-101B-9397-08002B2CF9AE}" pid="6" name="MSIP_Label_cf20372f-9ab3-4551-9149-9f9b12e2c27e_SiteId">
    <vt:lpwstr>6e603289-5e46-4e26-ac7c-03a85420a9a5</vt:lpwstr>
  </property>
  <property fmtid="{D5CDD505-2E9C-101B-9397-08002B2CF9AE}" pid="7" name="MSIP_Label_cf20372f-9ab3-4551-9149-9f9b12e2c27e_ActionId">
    <vt:lpwstr>b678ddd5-4db5-4f0c-bf84-7ea5bdd9db4e</vt:lpwstr>
  </property>
  <property fmtid="{D5CDD505-2E9C-101B-9397-08002B2CF9AE}" pid="8" name="MSIP_Label_cf20372f-9ab3-4551-9149-9f9b12e2c27e_ContentBits">
    <vt:lpwstr>0</vt:lpwstr>
  </property>
  <property fmtid="{D5CDD505-2E9C-101B-9397-08002B2CF9AE}" pid="9" name="MSIP_Label_cf20372f-9ab3-4551-9149-9f9b12e2c27e_Tag">
    <vt:lpwstr>10, 0, 1, 1</vt:lpwstr>
  </property>
</Properties>
</file>