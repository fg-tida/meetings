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1448944615" r:id="rId2"/>
    <p:sldId id="1448944598" r:id="rId3"/>
    <p:sldId id="1448944621" r:id="rId4"/>
    <p:sldId id="1448944620" r:id="rId5"/>
    <p:sldId id="1448944635" r:id="rId6"/>
    <p:sldId id="1448944618" r:id="rId7"/>
    <p:sldId id="1448944622" r:id="rId8"/>
    <p:sldId id="1448944633" r:id="rId9"/>
    <p:sldId id="1448944623" r:id="rId10"/>
    <p:sldId id="1448944629" r:id="rId11"/>
    <p:sldId id="1448944628" r:id="rId12"/>
    <p:sldId id="1448944634" r:id="rId13"/>
    <p:sldId id="1448944631" r:id="rId14"/>
    <p:sldId id="1448944636" r:id="rId15"/>
    <p:sldId id="1448944630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BA21"/>
    <a:srgbClr val="009EDB"/>
    <a:srgbClr val="049B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449" autoAdjust="0"/>
    <p:restoredTop sz="84188" autoAdjust="0"/>
  </p:normalViewPr>
  <p:slideViewPr>
    <p:cSldViewPr snapToGrid="0">
      <p:cViewPr varScale="1">
        <p:scale>
          <a:sx n="53" d="100"/>
          <a:sy n="53" d="100"/>
        </p:scale>
        <p:origin x="135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7146AC-91B1-478C-8856-09A11651431C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E4243C-45DD-4622-9728-5080CDD53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631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Terms of Reference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E4243C-45DD-4622-9728-5080CDD53D1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1645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83BEB-C96C-C3E9-2E46-00F8FC134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B4CF22-301B-2E54-C0C6-A430D55329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60E533-DC99-C562-4AF6-56BDEED829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Terms of Reference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9CE6E-74A3-D98E-01B1-4E2B74F6A0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E4243C-45DD-4622-9728-5080CDD53D1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5509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Approach bottom up </a:t>
            </a:r>
            <a:r>
              <a:rPr lang="en-US" dirty="0">
                <a:sym typeface="Wingdings" panose="05000000000000000000" pitchFamily="2" charset="2"/>
              </a:rPr>
              <a:t> what we need from you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E4243C-45DD-4622-9728-5080CDD53D1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0633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43314-B2B9-0370-FEAA-674CC5701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F7DE07-6D99-7721-C781-B533494964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CBF75-3910-292C-4296-64A7539F3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Approach bottom up </a:t>
            </a:r>
            <a:r>
              <a:rPr lang="en-US" dirty="0">
                <a:sym typeface="Wingdings" panose="05000000000000000000" pitchFamily="2" charset="2"/>
              </a:rPr>
              <a:t> what we need from you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EB91B-8A4E-235D-932F-20001031BE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E4243C-45DD-4622-9728-5080CDD53D1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8211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9F09C-BF66-767D-DC40-6BA7F900B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720D32-1FC5-AC23-BCFF-CA3951BF77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006484-B6BB-0A90-9289-42D9B9CF01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Which </a:t>
            </a:r>
            <a:r>
              <a:rPr lang="en-US" dirty="0" err="1"/>
              <a:t>prez</a:t>
            </a:r>
            <a:r>
              <a:rPr lang="en-US" dirty="0"/>
              <a:t> from workshops to add as reference?</a:t>
            </a:r>
          </a:p>
          <a:p>
            <a:r>
              <a:rPr lang="en-US" dirty="0"/>
              <a:t>Contributions are driven by the community </a:t>
            </a:r>
          </a:p>
          <a:p>
            <a:r>
              <a:rPr lang="en-US" dirty="0"/>
              <a:t>Technical Development rather than policy work. We are in a position of solution architect even if not everything is done by SG17.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941E2-2BEE-B6D4-0469-CFD2FBE868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E4243C-45DD-4622-9728-5080CDD53D1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5370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E068B-9362-7D1E-1A06-531ACE97F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A3AA6C-7E5B-C10F-EA5E-A0ED6284E7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054BF5-CE04-E87E-3779-3B199C42E5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Which </a:t>
            </a:r>
            <a:r>
              <a:rPr lang="en-US" dirty="0" err="1"/>
              <a:t>prez</a:t>
            </a:r>
            <a:r>
              <a:rPr lang="en-US" dirty="0"/>
              <a:t> from workshops to add as reference?</a:t>
            </a:r>
          </a:p>
          <a:p>
            <a:r>
              <a:rPr lang="en-US" dirty="0"/>
              <a:t>Contributions are driven by the community </a:t>
            </a:r>
          </a:p>
          <a:p>
            <a:r>
              <a:rPr lang="en-US" dirty="0"/>
              <a:t>Technical Development rather than policy work. We are in a position of solution architect even if not everything is done by SG17.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E7EF8-C1D1-BA07-E811-33459A1BC4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E4243C-45DD-4622-9728-5080CDD53D1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6438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44862-566F-E9DB-487B-F3AFC1292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F05FE9-288A-12CB-60BA-A966549660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87424D-89D6-2CE9-02A6-E4A36D7E15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Approach bottom up </a:t>
            </a:r>
            <a:r>
              <a:rPr lang="en-US" dirty="0">
                <a:sym typeface="Wingdings" panose="05000000000000000000" pitchFamily="2" charset="2"/>
              </a:rPr>
              <a:t> what we need from you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FF5B6E-B0A4-B926-9070-1714017A9D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E4243C-45DD-4622-9728-5080CDD53D1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108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EF99A-C621-A186-5A2A-439FA6A14C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807282-993E-F770-C64D-000F5A0E00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A57C8-5756-AE75-CF1C-537505256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2062-6E7A-4594-8AA0-CC862D6C2B72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BD65A-81E3-F0C7-DFA3-D06D6BEF6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19E62-A837-D6A2-9052-E142B47C0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3A18-C0F4-4606-8A93-560A6BFAD2D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360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B5105-6DE9-82A8-A652-E2DC8195C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F9A48-AA36-36F2-E934-4AA153F34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E4DF7-6EDB-1667-8336-25835B4BA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2062-6E7A-4594-8AA0-CC862D6C2B72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11BE4-69F7-AD77-8BCF-D4A07E31D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CC25E-0590-FD43-18FF-0E44381D4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3A18-C0F4-4606-8A93-560A6BFAD2D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3989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9D044-8043-0B05-8306-74637BE46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E70645-0B5F-D8E8-63EA-D6820A1AB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D432E-6DB2-BE1B-1C06-6FCFCFBCE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2062-6E7A-4594-8AA0-CC862D6C2B72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E11E0-BA51-323C-CA78-DB0D4B6C5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BE12F-E686-C38E-62BB-46D179799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3A18-C0F4-4606-8A93-560A6BFAD2D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873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39226-FAF3-B00D-B436-C12747DDB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FC885-3D02-32E4-4A70-745BA1E431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95EFCB-8F0C-833F-601F-D59910C6C0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957883-2132-6ACF-B26D-218B10A41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2062-6E7A-4594-8AA0-CC862D6C2B72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89F917-552F-B126-D9F6-E694CB91E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A221D2-7695-5D9F-FFD5-E498E313A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3A18-C0F4-4606-8A93-560A6BFAD2D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873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15F0C-9195-EF66-4170-B274087F4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1847E9-B8C0-B6F9-A918-4B0E6CD969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9F8AAD-EC3E-0E24-0190-481FFE1A2C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A32C3-0F85-8732-21E3-C51B166F7C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92E302-C262-20CA-683A-7F57726954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A36FD1-A8AE-1528-F29B-5104196F0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2062-6E7A-4594-8AA0-CC862D6C2B72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F031F6-CEEC-5683-CBCD-811976C4C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464CD9-1886-CF40-500F-FA81BA271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3A18-C0F4-4606-8A93-560A6BFAD2D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7187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BF7B7-54C1-2BCC-C55D-0D279464A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D9A7C9-0128-4EF6-2228-07F8CF08F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2062-6E7A-4594-8AA0-CC862D6C2B72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2F1362-DE8D-89FC-5F75-6D76C33B7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3841CF-A51F-F88D-BFCE-E15EC47F3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3A18-C0F4-4606-8A93-560A6BFAD2D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8973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F3B53C-D80E-78FB-308A-BBCFABFCA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2062-6E7A-4594-8AA0-CC862D6C2B72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2D69DB-FAB6-49BA-3D9D-95D4D5D91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D87715-9066-BFA8-8AC8-7EAC4094E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3A18-C0F4-4606-8A93-560A6BFAD2D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1960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DA97B-5608-05A6-5B59-01FB16A0B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C406F-71B4-4613-7139-A789AAE2C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9F7945-FDA2-2CB3-300D-06CAC6D311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5A5D6F-5E5B-A94B-490B-A9616A9B6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2062-6E7A-4594-8AA0-CC862D6C2B72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3D0695-3EB2-C179-DFAD-1E9966E89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659489-36B6-EE3A-3B4A-3C1690714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3A18-C0F4-4606-8A93-560A6BFAD2D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2043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764D4-2E92-6BD8-2143-528ABA7C1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0983D2-4E49-12A5-E397-8E77AF75F3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8A7BDF-7CB5-14CC-006A-53118C6586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5BDC58-6717-7269-E95E-0987E8A97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2062-6E7A-4594-8AA0-CC862D6C2B72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BB5421-C6D6-EC59-FFC2-6CE8E48F7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4FEA39-E95D-A614-37E3-26AA45038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3A18-C0F4-4606-8A93-560A6BFAD2D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0484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B809E-5167-A68C-4651-57E05ACD8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F2C5B1-8F48-FF14-1E62-FC891D10D3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34BD2-6AE5-D61A-7FA8-E4095E0DC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2062-6E7A-4594-8AA0-CC862D6C2B72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1757E-3BFB-F975-1187-6A2213E33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44003-B9CD-4403-6552-DBB0A1CE7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3A18-C0F4-4606-8A93-560A6BFAD2D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7058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6DECCA-5038-748F-E4D3-30CC4EBBF3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693D91-CF78-488F-819D-E08B3BBD79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1F554-EA90-F39D-2CC5-9EF662E13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2062-6E7A-4594-8AA0-CC862D6C2B72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E9CEC-5F10-C13B-029E-E2BEE3FB6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2FF3E-6C87-3937-24F7-391A99A9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3A18-C0F4-4606-8A93-560A6BFAD2D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4843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056F67-8D88-98FE-3969-1399AD165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B8B2EA-AFF6-6AA2-0336-C263ECF8E2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DAB46-C55A-8DC7-818A-77CFE3DDF2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DC2062-6E7A-4594-8AA0-CC862D6C2B72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4ECA4-AD84-8C4D-2277-65E5FD3D18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B3551-697D-F9D6-4FB4-6D2F3C04DC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B53A18-C0F4-4606-8A93-560A6BFAD2D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0336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tu.int/en/ITU-T/focusgroups/tida/Pages/default.aspx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s://github.com/FG-TIDA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67314-3688-B3A5-6652-B011C8A5A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87B9139-E6DB-AAB8-6936-82D803A57264}"/>
              </a:ext>
            </a:extLst>
          </p:cNvPr>
          <p:cNvSpPr/>
          <p:nvPr/>
        </p:nvSpPr>
        <p:spPr>
          <a:xfrm>
            <a:off x="0" y="-35169"/>
            <a:ext cx="12192000" cy="3621032"/>
          </a:xfrm>
          <a:prstGeom prst="rect">
            <a:avLst/>
          </a:prstGeom>
          <a:solidFill>
            <a:srgbClr val="049BD6"/>
          </a:solidFill>
          <a:ln>
            <a:solidFill>
              <a:srgbClr val="009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CCEB54-71A6-27BE-D631-346C836DF9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81547"/>
            <a:ext cx="9144000" cy="2387600"/>
          </a:xfrm>
        </p:spPr>
        <p:txBody>
          <a:bodyPr/>
          <a:lstStyle/>
          <a:p>
            <a:r>
              <a:rPr lang="en-GB" noProof="0" dirty="0">
                <a:solidFill>
                  <a:schemeClr val="bg1"/>
                </a:solidFill>
              </a:rPr>
              <a:t>Auto-reporting tools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9F5CFE6-F155-2E75-5308-3553512A50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01467" y="3585863"/>
            <a:ext cx="2789066" cy="32812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E3ECE8D-7960-85D1-18C1-C36F143DFB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466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AD41E-25A3-12DB-3259-70B661AE2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2A7C3BC-CD5D-7DB2-4ABC-D91FEF400F58}"/>
              </a:ext>
            </a:extLst>
          </p:cNvPr>
          <p:cNvSpPr/>
          <p:nvPr/>
        </p:nvSpPr>
        <p:spPr>
          <a:xfrm>
            <a:off x="0" y="0"/>
            <a:ext cx="12192000" cy="1607736"/>
          </a:xfrm>
          <a:prstGeom prst="rect">
            <a:avLst/>
          </a:prstGeom>
          <a:solidFill>
            <a:srgbClr val="049BD6"/>
          </a:solidFill>
          <a:ln>
            <a:solidFill>
              <a:srgbClr val="009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8E3F4F8-1963-7D7C-97ED-AFCB14B50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85" y="219392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Agenda</a:t>
            </a:r>
            <a:endParaRPr lang="en-GB" noProof="0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744122D-5091-3C14-4BF7-04AC423C7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8212" y="107366"/>
            <a:ext cx="2064271" cy="69650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216A7EC-A3C1-9A40-7642-DACAFDD937DE}"/>
              </a:ext>
            </a:extLst>
          </p:cNvPr>
          <p:cNvSpPr txBox="1"/>
          <p:nvPr/>
        </p:nvSpPr>
        <p:spPr>
          <a:xfrm>
            <a:off x="805543" y="2348943"/>
            <a:ext cx="1096191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/>
              <a:t>Opening remarks and agenda adoption;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Quick recap </a:t>
            </a:r>
            <a:r>
              <a:rPr lang="en-US" sz="2400" dirty="0"/>
              <a:t>on the work done so far and next steps;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Draft plan for the first meeting (Paris, 1–4 December);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Use cases </a:t>
            </a:r>
            <a:r>
              <a:rPr lang="en-US" sz="2400" dirty="0"/>
              <a:t>work in parallel to themes/WGs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3 selected presentations on themes proposals </a:t>
            </a:r>
            <a:r>
              <a:rPr lang="en-US" sz="2400" dirty="0"/>
              <a:t>(more in the next meetings)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/>
              <a:t>Next milestones, next meetings and proposed cadence;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/>
              <a:t>AOB and agreement on next steps.</a:t>
            </a:r>
          </a:p>
        </p:txBody>
      </p:sp>
    </p:spTree>
    <p:extLst>
      <p:ext uri="{BB962C8B-B14F-4D97-AF65-F5344CB8AC3E}">
        <p14:creationId xmlns:p14="http://schemas.microsoft.com/office/powerpoint/2010/main" val="4265614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F5D4C-6B8B-3F0D-1F5C-55C8EB862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1D0B4E9-113F-1B59-9C78-028D9DA8AC81}"/>
              </a:ext>
            </a:extLst>
          </p:cNvPr>
          <p:cNvSpPr/>
          <p:nvPr/>
        </p:nvSpPr>
        <p:spPr>
          <a:xfrm>
            <a:off x="0" y="0"/>
            <a:ext cx="12192000" cy="1607736"/>
          </a:xfrm>
          <a:prstGeom prst="rect">
            <a:avLst/>
          </a:prstGeom>
          <a:solidFill>
            <a:srgbClr val="049BD6"/>
          </a:solidFill>
          <a:ln>
            <a:solidFill>
              <a:srgbClr val="009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EA606E3-0F92-7615-B925-127DA6E2D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85" y="219392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Why creating TIDA?</a:t>
            </a:r>
            <a:endParaRPr lang="en-GB" noProof="0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750198F-17D5-680D-FED5-6526C305D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8212" y="107366"/>
            <a:ext cx="2064271" cy="6965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527B60-3A7C-AF9C-F08D-38B041DF3CEC}"/>
              </a:ext>
            </a:extLst>
          </p:cNvPr>
          <p:cNvSpPr txBox="1"/>
          <p:nvPr/>
        </p:nvSpPr>
        <p:spPr>
          <a:xfrm>
            <a:off x="651511" y="1908224"/>
            <a:ext cx="1114425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As AI agents begin to negotiate, transact, and act autonomously on our behalf, the world lacks </a:t>
            </a:r>
            <a:r>
              <a:rPr lang="en-US" sz="2400" b="1" i="1" dirty="0"/>
              <a:t>common international foundations </a:t>
            </a:r>
            <a:r>
              <a:rPr lang="en-US" sz="2400" i="1" dirty="0"/>
              <a:t>to establish who these agents are, when they can be trusted, and how humans remain in control: FG-TIDA was created to build that foundation before agentic AI becomes ubiquitous</a:t>
            </a:r>
          </a:p>
          <a:p>
            <a:endParaRPr lang="en-US" sz="2400" b="1" i="1" dirty="0">
              <a:solidFill>
                <a:schemeClr val="accent1"/>
              </a:solidFill>
            </a:endParaRPr>
          </a:p>
          <a:p>
            <a:r>
              <a:rPr lang="en-US" sz="2400" b="1" i="1" dirty="0">
                <a:solidFill>
                  <a:schemeClr val="accent1"/>
                </a:solidFill>
              </a:rPr>
              <a:t>Our objective is to define architectural models and interoperability frameworks that establish trust in agentic AI.</a:t>
            </a:r>
          </a:p>
          <a:p>
            <a:endParaRPr lang="en-US" sz="2400" b="1" i="1" dirty="0">
              <a:solidFill>
                <a:schemeClr val="accent1"/>
              </a:solidFill>
            </a:endParaRPr>
          </a:p>
          <a:p>
            <a:r>
              <a:rPr lang="en-US" sz="2400" b="1" i="1" dirty="0">
                <a:solidFill>
                  <a:schemeClr val="accent1"/>
                </a:solidFill>
              </a:rPr>
              <a:t>As part of the UN, we bring together an inclusive, global community of Member States, academia, and industry to build this foundation together.</a:t>
            </a:r>
          </a:p>
        </p:txBody>
      </p:sp>
    </p:spTree>
    <p:extLst>
      <p:ext uri="{BB962C8B-B14F-4D97-AF65-F5344CB8AC3E}">
        <p14:creationId xmlns:p14="http://schemas.microsoft.com/office/powerpoint/2010/main" val="1371515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ADCCB-24EE-D457-B630-97AC81370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77D7C7B-013F-4B58-8A6B-F69AAF9E2F35}"/>
              </a:ext>
            </a:extLst>
          </p:cNvPr>
          <p:cNvSpPr/>
          <p:nvPr/>
        </p:nvSpPr>
        <p:spPr>
          <a:xfrm>
            <a:off x="0" y="0"/>
            <a:ext cx="12192000" cy="1607736"/>
          </a:xfrm>
          <a:prstGeom prst="rect">
            <a:avLst/>
          </a:prstGeom>
          <a:solidFill>
            <a:srgbClr val="049BD6"/>
          </a:solidFill>
          <a:ln>
            <a:solidFill>
              <a:srgbClr val="009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1DEF8EB-5532-4B82-8611-70A44EA76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85" y="219392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What is a Focus Group in ITU?</a:t>
            </a:r>
            <a:endParaRPr lang="en-GB" noProof="0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A6E706E-C5EB-D60A-28F6-E20815A6D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8212" y="107366"/>
            <a:ext cx="2064271" cy="6965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F61192-C12F-7970-22BB-68998A465BE1}"/>
              </a:ext>
            </a:extLst>
          </p:cNvPr>
          <p:cNvSpPr txBox="1"/>
          <p:nvPr/>
        </p:nvSpPr>
        <p:spPr>
          <a:xfrm>
            <a:off x="1127235" y="2547257"/>
            <a:ext cx="993752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TIDA Focus Group is</a:t>
            </a:r>
          </a:p>
          <a:p>
            <a:endParaRPr lang="en-US" sz="2800" dirty="0"/>
          </a:p>
          <a:p>
            <a:r>
              <a:rPr lang="en-US" sz="2800" dirty="0"/>
              <a:t>An </a:t>
            </a:r>
            <a:r>
              <a:rPr lang="en-US" sz="2800" b="1" dirty="0">
                <a:solidFill>
                  <a:schemeClr val="accent1"/>
                </a:solidFill>
              </a:rPr>
              <a:t>Open Community </a:t>
            </a:r>
            <a:r>
              <a:rPr lang="en-US" sz="2800" dirty="0"/>
              <a:t>(</a:t>
            </a:r>
            <a:r>
              <a:rPr lang="en-US" sz="2800" dirty="0">
                <a:sym typeface="Wingdings" panose="05000000000000000000" pitchFamily="2" charset="2"/>
              </a:rPr>
              <a:t>no need to be member of ITU to participate) </a:t>
            </a:r>
          </a:p>
          <a:p>
            <a:endParaRPr lang="en-US" sz="2800" dirty="0">
              <a:sym typeface="Wingdings" panose="05000000000000000000" pitchFamily="2" charset="2"/>
            </a:endParaRPr>
          </a:p>
          <a:p>
            <a:r>
              <a:rPr lang="en-US" sz="2800" dirty="0">
                <a:sym typeface="Wingdings" panose="05000000000000000000" pitchFamily="2" charset="2"/>
              </a:rPr>
              <a:t>conducting </a:t>
            </a:r>
            <a:r>
              <a:rPr lang="en-US" sz="2800" b="1" dirty="0">
                <a:solidFill>
                  <a:schemeClr val="accent1"/>
                </a:solidFill>
                <a:sym typeface="Wingdings" panose="05000000000000000000" pitchFamily="2" charset="2"/>
              </a:rPr>
              <a:t>pre-standardization work</a:t>
            </a:r>
            <a:endParaRPr lang="en-US" sz="28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4872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B446C-C660-5429-AFE6-43DAB163E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56EB247-C60F-3AB7-3B23-3A4DD5DD4597}"/>
              </a:ext>
            </a:extLst>
          </p:cNvPr>
          <p:cNvSpPr/>
          <p:nvPr/>
        </p:nvSpPr>
        <p:spPr>
          <a:xfrm>
            <a:off x="0" y="0"/>
            <a:ext cx="12192000" cy="1607736"/>
          </a:xfrm>
          <a:prstGeom prst="rect">
            <a:avLst/>
          </a:prstGeom>
          <a:solidFill>
            <a:srgbClr val="049BD6"/>
          </a:solidFill>
          <a:ln>
            <a:solidFill>
              <a:srgbClr val="009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3FA2570-5F09-3072-071A-5FC492D12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85" y="219392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Pls subscribe to our Mailing List</a:t>
            </a:r>
            <a:endParaRPr lang="en-GB" noProof="0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B7AC02F-5383-4089-7D1B-2C3F37AFD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8212" y="107366"/>
            <a:ext cx="2064271" cy="6965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C8EE90-327E-C186-A066-4504866B3360}"/>
              </a:ext>
            </a:extLst>
          </p:cNvPr>
          <p:cNvSpPr txBox="1"/>
          <p:nvPr/>
        </p:nvSpPr>
        <p:spPr>
          <a:xfrm>
            <a:off x="718162" y="2951946"/>
            <a:ext cx="1121716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Please subscribe to the mailing list here: </a:t>
            </a:r>
          </a:p>
          <a:p>
            <a:r>
              <a:rPr lang="en-US" sz="2800" b="1" dirty="0">
                <a:solidFill>
                  <a:schemeClr val="accent1"/>
                </a:solidFill>
                <a:hlinkClick r:id="rId3"/>
              </a:rPr>
              <a:t>https://www.itu.int/en/ITU-T/focusgroups/tida/Pages/default.aspx</a:t>
            </a:r>
            <a:endParaRPr lang="en-US" sz="2800" b="1" dirty="0">
              <a:solidFill>
                <a:schemeClr val="accent1"/>
              </a:solidFill>
            </a:endParaRPr>
          </a:p>
          <a:p>
            <a:endParaRPr lang="en-US" sz="2800" b="1" dirty="0">
              <a:solidFill>
                <a:schemeClr val="accent1"/>
              </a:solidFill>
            </a:endParaRPr>
          </a:p>
          <a:p>
            <a:r>
              <a:rPr lang="en-US" sz="2800" b="1" dirty="0">
                <a:solidFill>
                  <a:schemeClr val="accent1"/>
                </a:solidFill>
                <a:sym typeface="Wingdings" panose="05000000000000000000" pitchFamily="2" charset="2"/>
              </a:rPr>
              <a:t> From Dec 1</a:t>
            </a:r>
            <a:r>
              <a:rPr lang="en-US" sz="2800" b="1" baseline="30000" dirty="0">
                <a:solidFill>
                  <a:schemeClr val="accent1"/>
                </a:solidFill>
                <a:sym typeface="Wingdings" panose="05000000000000000000" pitchFamily="2" charset="2"/>
              </a:rPr>
              <a:t>st</a:t>
            </a:r>
            <a:r>
              <a:rPr lang="en-US" sz="2800" b="1" dirty="0">
                <a:solidFill>
                  <a:schemeClr val="accent1"/>
                </a:solidFill>
                <a:sym typeface="Wingdings" panose="05000000000000000000" pitchFamily="2" charset="2"/>
              </a:rPr>
              <a:t> I will ONLY use the mailing list to send meeting invitations</a:t>
            </a:r>
            <a:endParaRPr lang="en-US" sz="28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3515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6C036-742D-E6FF-6A39-95B87B450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7EF1ABB-0FDF-41EC-E63C-4FB0587C44D3}"/>
              </a:ext>
            </a:extLst>
          </p:cNvPr>
          <p:cNvSpPr/>
          <p:nvPr/>
        </p:nvSpPr>
        <p:spPr>
          <a:xfrm>
            <a:off x="0" y="0"/>
            <a:ext cx="12192000" cy="1607736"/>
          </a:xfrm>
          <a:prstGeom prst="rect">
            <a:avLst/>
          </a:prstGeom>
          <a:solidFill>
            <a:srgbClr val="049BD6"/>
          </a:solidFill>
          <a:ln>
            <a:solidFill>
              <a:srgbClr val="009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B2CA1DF-0418-BC15-3989-C679FAEDF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85" y="219392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Engage in our GitHub space!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44793A6-877D-7840-A3F0-DCB3ACBD11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8212" y="107366"/>
            <a:ext cx="2064271" cy="6965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4FA7D6-240E-5D23-392C-F1211F29FA56}"/>
              </a:ext>
            </a:extLst>
          </p:cNvPr>
          <p:cNvSpPr txBox="1"/>
          <p:nvPr/>
        </p:nvSpPr>
        <p:spPr>
          <a:xfrm>
            <a:off x="5916457" y="3575203"/>
            <a:ext cx="610602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hlinkClick r:id="rId4"/>
              </a:rPr>
              <a:t>TIDA · GitHub</a:t>
            </a:r>
            <a:endParaRPr lang="en-US" sz="4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C252C88-D4D3-9B94-0187-F44448B8CF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9592" y="2657307"/>
            <a:ext cx="2638926" cy="2638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079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271F3-66C6-81AB-3E6C-A165D5237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5CDB98A-64C3-BC70-BE02-4BD8390CD59B}"/>
              </a:ext>
            </a:extLst>
          </p:cNvPr>
          <p:cNvSpPr/>
          <p:nvPr/>
        </p:nvSpPr>
        <p:spPr>
          <a:xfrm>
            <a:off x="0" y="0"/>
            <a:ext cx="12192000" cy="1607736"/>
          </a:xfrm>
          <a:prstGeom prst="rect">
            <a:avLst/>
          </a:prstGeom>
          <a:solidFill>
            <a:srgbClr val="049BD6"/>
          </a:solidFill>
          <a:ln>
            <a:solidFill>
              <a:srgbClr val="009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401A143-544D-3018-4757-57592FB40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85" y="219392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What is happening next?</a:t>
            </a:r>
            <a:endParaRPr lang="en-GB" noProof="0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E54ECDD-3B2C-A3CD-7CB7-C6EE71066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8212" y="107366"/>
            <a:ext cx="2064271" cy="696502"/>
          </a:xfrm>
          <a:prstGeom prst="rect">
            <a:avLst/>
          </a:prstGeom>
        </p:spPr>
      </p:pic>
      <p:sp>
        <p:nvSpPr>
          <p:cNvPr id="4" name="Shape 2">
            <a:extLst>
              <a:ext uri="{FF2B5EF4-FFF2-40B4-BE49-F238E27FC236}">
                <a16:creationId xmlns:a16="http://schemas.microsoft.com/office/drawing/2014/main" id="{D58F7392-D9C0-9848-5C5B-B146EAC5BB25}"/>
              </a:ext>
            </a:extLst>
          </p:cNvPr>
          <p:cNvSpPr/>
          <p:nvPr/>
        </p:nvSpPr>
        <p:spPr>
          <a:xfrm>
            <a:off x="439782" y="1827128"/>
            <a:ext cx="11091672" cy="566928"/>
          </a:xfrm>
          <a:prstGeom prst="roundRect">
            <a:avLst>
              <a:gd name="adj" fmla="val 8065"/>
            </a:avLst>
          </a:prstGeom>
          <a:solidFill>
            <a:srgbClr val="F3F6FB"/>
          </a:solidFill>
          <a:ln w="635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F6622112-DA0D-4886-98AC-865B66593B5C}"/>
              </a:ext>
            </a:extLst>
          </p:cNvPr>
          <p:cNvSpPr/>
          <p:nvPr/>
        </p:nvSpPr>
        <p:spPr>
          <a:xfrm>
            <a:off x="640950" y="2028296"/>
            <a:ext cx="164592" cy="164592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B601F10D-4C5E-C261-7162-58261879DC3D}"/>
              </a:ext>
            </a:extLst>
          </p:cNvPr>
          <p:cNvSpPr/>
          <p:nvPr/>
        </p:nvSpPr>
        <p:spPr>
          <a:xfrm>
            <a:off x="988422" y="182712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Sep 2026</a:t>
            </a:r>
            <a:endParaRPr lang="en-US" sz="130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AF2B81CC-4347-6B3F-8BA8-4B7F0D139A47}"/>
              </a:ext>
            </a:extLst>
          </p:cNvPr>
          <p:cNvSpPr/>
          <p:nvPr/>
        </p:nvSpPr>
        <p:spPr>
          <a:xfrm>
            <a:off x="3365862" y="182712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SG17 Content Week, Chongqing (China)</a:t>
            </a:r>
            <a:endParaRPr lang="en-US" sz="125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257B9995-1919-02C8-359C-AB3EB0092781}"/>
              </a:ext>
            </a:extLst>
          </p:cNvPr>
          <p:cNvSpPr/>
          <p:nvPr/>
        </p:nvSpPr>
        <p:spPr>
          <a:xfrm>
            <a:off x="8029302" y="1827128"/>
            <a:ext cx="3319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SG17 workshops: ITS/CAV security · Secure Agentic AI</a:t>
            </a:r>
            <a:endParaRPr lang="en-US" sz="1150" dirty="0"/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C03A5987-FF6C-19C9-CEF9-CE8003855208}"/>
              </a:ext>
            </a:extLst>
          </p:cNvPr>
          <p:cNvSpPr/>
          <p:nvPr/>
        </p:nvSpPr>
        <p:spPr>
          <a:xfrm>
            <a:off x="439782" y="2476352"/>
            <a:ext cx="11091672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8AD3EE46-3F48-E0A6-974F-91FE87469589}"/>
              </a:ext>
            </a:extLst>
          </p:cNvPr>
          <p:cNvSpPr/>
          <p:nvPr/>
        </p:nvSpPr>
        <p:spPr>
          <a:xfrm>
            <a:off x="640950" y="2677520"/>
            <a:ext cx="164592" cy="164592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FF788A3-F3F4-3B59-53CD-83D85B76940C}"/>
              </a:ext>
            </a:extLst>
          </p:cNvPr>
          <p:cNvSpPr/>
          <p:nvPr/>
        </p:nvSpPr>
        <p:spPr>
          <a:xfrm>
            <a:off x="988422" y="247635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Oct 2026</a:t>
            </a:r>
            <a:endParaRPr lang="en-US" sz="1300" dirty="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C38DEFA1-61FC-8BF3-50DA-5F927E357A60}"/>
              </a:ext>
            </a:extLst>
          </p:cNvPr>
          <p:cNvSpPr/>
          <p:nvPr/>
        </p:nvSpPr>
        <p:spPr>
          <a:xfrm>
            <a:off x="3365862" y="247635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SG17 plenary (virtual)</a:t>
            </a:r>
            <a:endParaRPr lang="en-US" sz="125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FF711D9E-BA67-D468-4F0D-054CCABBD701}"/>
              </a:ext>
            </a:extLst>
          </p:cNvPr>
          <p:cNvSpPr/>
          <p:nvPr/>
        </p:nvSpPr>
        <p:spPr>
          <a:xfrm>
            <a:off x="8029302" y="2476352"/>
            <a:ext cx="3319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checkpoint</a:t>
            </a:r>
            <a:endParaRPr lang="en-US" sz="1150" dirty="0"/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EF0BB0DC-8FAB-EA6A-9DB0-E0B42273BB22}"/>
              </a:ext>
            </a:extLst>
          </p:cNvPr>
          <p:cNvSpPr/>
          <p:nvPr/>
        </p:nvSpPr>
        <p:spPr>
          <a:xfrm>
            <a:off x="439782" y="3125576"/>
            <a:ext cx="11091672" cy="566928"/>
          </a:xfrm>
          <a:prstGeom prst="roundRect">
            <a:avLst>
              <a:gd name="adj" fmla="val 8065"/>
            </a:avLst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5553A1F2-DC99-D3CF-8D6E-551EE65CE119}"/>
              </a:ext>
            </a:extLst>
          </p:cNvPr>
          <p:cNvSpPr/>
          <p:nvPr/>
        </p:nvSpPr>
        <p:spPr>
          <a:xfrm>
            <a:off x="640950" y="3326744"/>
            <a:ext cx="164592" cy="164592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F7B8CD1F-8BC2-EB4C-2BC2-6AD5AA4B537E}"/>
              </a:ext>
            </a:extLst>
          </p:cNvPr>
          <p:cNvSpPr/>
          <p:nvPr/>
        </p:nvSpPr>
        <p:spPr>
          <a:xfrm>
            <a:off x="988422" y="312557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1–4 Dec 2026</a:t>
            </a:r>
            <a:endParaRPr lang="en-US" sz="1300" dirty="0"/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5BDEA9A6-E9CF-3999-AFBC-FF238AEF2D44}"/>
              </a:ext>
            </a:extLst>
          </p:cNvPr>
          <p:cNvSpPr/>
          <p:nvPr/>
        </p:nvSpPr>
        <p:spPr>
          <a:xfrm>
            <a:off x="3365862" y="312557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FG-TIDA 1st meeting, Paris</a:t>
            </a:r>
            <a:endParaRPr lang="en-US" sz="1250" dirty="0"/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B084754A-CCA7-7A12-D85B-51A5A0C35DC1}"/>
              </a:ext>
            </a:extLst>
          </p:cNvPr>
          <p:cNvSpPr/>
          <p:nvPr/>
        </p:nvSpPr>
        <p:spPr>
          <a:xfrm>
            <a:off x="8029302" y="3125576"/>
            <a:ext cx="3319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Digital Trust Convention at the OECD on 4 December</a:t>
            </a:r>
            <a:endParaRPr lang="en-US" sz="1150" dirty="0"/>
          </a:p>
        </p:txBody>
      </p:sp>
      <p:sp>
        <p:nvSpPr>
          <p:cNvPr id="37" name="Shape 17">
            <a:extLst>
              <a:ext uri="{FF2B5EF4-FFF2-40B4-BE49-F238E27FC236}">
                <a16:creationId xmlns:a16="http://schemas.microsoft.com/office/drawing/2014/main" id="{3B4FA4F4-82C6-6DFA-BE91-17867E622BC3}"/>
              </a:ext>
            </a:extLst>
          </p:cNvPr>
          <p:cNvSpPr/>
          <p:nvPr/>
        </p:nvSpPr>
        <p:spPr>
          <a:xfrm>
            <a:off x="439782" y="3774800"/>
            <a:ext cx="11091672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Shape 18">
            <a:extLst>
              <a:ext uri="{FF2B5EF4-FFF2-40B4-BE49-F238E27FC236}">
                <a16:creationId xmlns:a16="http://schemas.microsoft.com/office/drawing/2014/main" id="{3D77BE2A-C8BD-678B-7880-26B19A072789}"/>
              </a:ext>
            </a:extLst>
          </p:cNvPr>
          <p:cNvSpPr/>
          <p:nvPr/>
        </p:nvSpPr>
        <p:spPr>
          <a:xfrm>
            <a:off x="640950" y="3975968"/>
            <a:ext cx="164592" cy="164592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B422F22D-79FB-1925-E842-94786F1FE35A}"/>
              </a:ext>
            </a:extLst>
          </p:cNvPr>
          <p:cNvSpPr/>
          <p:nvPr/>
        </p:nvSpPr>
        <p:spPr>
          <a:xfrm>
            <a:off x="988422" y="37748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Dec 2026</a:t>
            </a:r>
            <a:endParaRPr lang="en-US" sz="1300" dirty="0"/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DE693480-4575-FC9F-062C-81D8A769D270}"/>
              </a:ext>
            </a:extLst>
          </p:cNvPr>
          <p:cNvSpPr/>
          <p:nvPr/>
        </p:nvSpPr>
        <p:spPr>
          <a:xfrm>
            <a:off x="3365862" y="377480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SG17 plenary (virtual)</a:t>
            </a:r>
            <a:endParaRPr lang="en-US" sz="1250" dirty="0"/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10E28936-C959-F9A0-BC34-ACB31889DF35}"/>
              </a:ext>
            </a:extLst>
          </p:cNvPr>
          <p:cNvSpPr/>
          <p:nvPr/>
        </p:nvSpPr>
        <p:spPr>
          <a:xfrm>
            <a:off x="8029302" y="3774800"/>
            <a:ext cx="3319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checkpoint</a:t>
            </a:r>
            <a:endParaRPr lang="en-US" sz="1150" dirty="0"/>
          </a:p>
        </p:txBody>
      </p:sp>
      <p:sp>
        <p:nvSpPr>
          <p:cNvPr id="47" name="Shape 22">
            <a:extLst>
              <a:ext uri="{FF2B5EF4-FFF2-40B4-BE49-F238E27FC236}">
                <a16:creationId xmlns:a16="http://schemas.microsoft.com/office/drawing/2014/main" id="{C69DBA3F-3283-5AD0-A8BA-FF1EF830C5EC}"/>
              </a:ext>
            </a:extLst>
          </p:cNvPr>
          <p:cNvSpPr/>
          <p:nvPr/>
        </p:nvSpPr>
        <p:spPr>
          <a:xfrm>
            <a:off x="439782" y="4424024"/>
            <a:ext cx="11091672" cy="566928"/>
          </a:xfrm>
          <a:prstGeom prst="roundRect">
            <a:avLst>
              <a:gd name="adj" fmla="val 8065"/>
            </a:avLst>
          </a:prstGeom>
          <a:solidFill>
            <a:srgbClr val="F3F6FB"/>
          </a:solidFill>
          <a:ln w="635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Shape 23">
            <a:extLst>
              <a:ext uri="{FF2B5EF4-FFF2-40B4-BE49-F238E27FC236}">
                <a16:creationId xmlns:a16="http://schemas.microsoft.com/office/drawing/2014/main" id="{267A394E-C68C-C229-FC89-68BF593A23F0}"/>
              </a:ext>
            </a:extLst>
          </p:cNvPr>
          <p:cNvSpPr/>
          <p:nvPr/>
        </p:nvSpPr>
        <p:spPr>
          <a:xfrm>
            <a:off x="640950" y="4625192"/>
            <a:ext cx="164592" cy="164592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Text 24">
            <a:extLst>
              <a:ext uri="{FF2B5EF4-FFF2-40B4-BE49-F238E27FC236}">
                <a16:creationId xmlns:a16="http://schemas.microsoft.com/office/drawing/2014/main" id="{54F6896F-3A6E-B74E-5897-DB4989398B6A}"/>
              </a:ext>
            </a:extLst>
          </p:cNvPr>
          <p:cNvSpPr/>
          <p:nvPr/>
        </p:nvSpPr>
        <p:spPr>
          <a:xfrm>
            <a:off x="988422" y="442402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25* Jan 2027</a:t>
            </a:r>
            <a:endParaRPr lang="en-US" sz="1300" dirty="0"/>
          </a:p>
        </p:txBody>
      </p:sp>
      <p:sp>
        <p:nvSpPr>
          <p:cNvPr id="53" name="Text 25">
            <a:extLst>
              <a:ext uri="{FF2B5EF4-FFF2-40B4-BE49-F238E27FC236}">
                <a16:creationId xmlns:a16="http://schemas.microsoft.com/office/drawing/2014/main" id="{8F32EBAD-7E47-D111-F01B-547719CF3842}"/>
              </a:ext>
            </a:extLst>
          </p:cNvPr>
          <p:cNvSpPr/>
          <p:nvPr/>
        </p:nvSpPr>
        <p:spPr>
          <a:xfrm>
            <a:off x="3365862" y="442402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SG17 workshop, Geneva</a:t>
            </a:r>
            <a:endParaRPr lang="en-US" sz="1250" dirty="0"/>
          </a:p>
        </p:txBody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A67FF8F3-A2DE-3214-24E7-0E22553C057B}"/>
              </a:ext>
            </a:extLst>
          </p:cNvPr>
          <p:cNvSpPr/>
          <p:nvPr/>
        </p:nvSpPr>
        <p:spPr>
          <a:xfrm>
            <a:off x="8029302" y="4424024"/>
            <a:ext cx="3319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all participants</a:t>
            </a:r>
            <a:endParaRPr lang="en-US" sz="1150" dirty="0"/>
          </a:p>
        </p:txBody>
      </p:sp>
      <p:sp>
        <p:nvSpPr>
          <p:cNvPr id="57" name="Shape 27">
            <a:extLst>
              <a:ext uri="{FF2B5EF4-FFF2-40B4-BE49-F238E27FC236}">
                <a16:creationId xmlns:a16="http://schemas.microsoft.com/office/drawing/2014/main" id="{E18B1274-C100-D0B7-E303-357610829A1F}"/>
              </a:ext>
            </a:extLst>
          </p:cNvPr>
          <p:cNvSpPr/>
          <p:nvPr/>
        </p:nvSpPr>
        <p:spPr>
          <a:xfrm>
            <a:off x="439782" y="5073248"/>
            <a:ext cx="11091672" cy="566928"/>
          </a:xfrm>
          <a:prstGeom prst="roundRect">
            <a:avLst>
              <a:gd name="adj" fmla="val 8065"/>
            </a:avLst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Shape 28">
            <a:extLst>
              <a:ext uri="{FF2B5EF4-FFF2-40B4-BE49-F238E27FC236}">
                <a16:creationId xmlns:a16="http://schemas.microsoft.com/office/drawing/2014/main" id="{A470D7EC-7EEC-E89A-912C-5C6BB5F4E14A}"/>
              </a:ext>
            </a:extLst>
          </p:cNvPr>
          <p:cNvSpPr/>
          <p:nvPr/>
        </p:nvSpPr>
        <p:spPr>
          <a:xfrm>
            <a:off x="640950" y="5274416"/>
            <a:ext cx="164592" cy="164592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1" name="Text 29">
            <a:extLst>
              <a:ext uri="{FF2B5EF4-FFF2-40B4-BE49-F238E27FC236}">
                <a16:creationId xmlns:a16="http://schemas.microsoft.com/office/drawing/2014/main" id="{2C1DF504-79B6-EB7C-AFDD-909E243CEB39}"/>
              </a:ext>
            </a:extLst>
          </p:cNvPr>
          <p:cNvSpPr/>
          <p:nvPr/>
        </p:nvSpPr>
        <p:spPr>
          <a:xfrm>
            <a:off x="988422" y="507324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Jan 2027</a:t>
            </a:r>
            <a:endParaRPr lang="en-US" sz="1300" dirty="0"/>
          </a:p>
        </p:txBody>
      </p:sp>
      <p:sp>
        <p:nvSpPr>
          <p:cNvPr id="63" name="Text 30">
            <a:extLst>
              <a:ext uri="{FF2B5EF4-FFF2-40B4-BE49-F238E27FC236}">
                <a16:creationId xmlns:a16="http://schemas.microsoft.com/office/drawing/2014/main" id="{7C9AFE37-9FEF-7BF2-9A5D-DCB7EE21C6CB}"/>
              </a:ext>
            </a:extLst>
          </p:cNvPr>
          <p:cNvSpPr/>
          <p:nvPr/>
        </p:nvSpPr>
        <p:spPr>
          <a:xfrm>
            <a:off x="3365862" y="507324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FG-TIDA meeting, Geneva</a:t>
            </a:r>
            <a:endParaRPr lang="en-US" sz="1250" dirty="0"/>
          </a:p>
        </p:txBody>
      </p:sp>
      <p:sp>
        <p:nvSpPr>
          <p:cNvPr id="65" name="Text 31">
            <a:extLst>
              <a:ext uri="{FF2B5EF4-FFF2-40B4-BE49-F238E27FC236}">
                <a16:creationId xmlns:a16="http://schemas.microsoft.com/office/drawing/2014/main" id="{0E214368-6F4F-D807-B39A-EA9F5BC27132}"/>
              </a:ext>
            </a:extLst>
          </p:cNvPr>
          <p:cNvSpPr/>
          <p:nvPr/>
        </p:nvSpPr>
        <p:spPr>
          <a:xfrm>
            <a:off x="8029302" y="5073248"/>
            <a:ext cx="3319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Group working session</a:t>
            </a:r>
            <a:endParaRPr lang="en-US" sz="1150" dirty="0"/>
          </a:p>
        </p:txBody>
      </p:sp>
      <p:sp>
        <p:nvSpPr>
          <p:cNvPr id="67" name="Shape 32">
            <a:extLst>
              <a:ext uri="{FF2B5EF4-FFF2-40B4-BE49-F238E27FC236}">
                <a16:creationId xmlns:a16="http://schemas.microsoft.com/office/drawing/2014/main" id="{EDBAA2DE-D854-EEF6-2836-FF9E72192D3A}"/>
              </a:ext>
            </a:extLst>
          </p:cNvPr>
          <p:cNvSpPr/>
          <p:nvPr/>
        </p:nvSpPr>
        <p:spPr>
          <a:xfrm>
            <a:off x="439782" y="5722472"/>
            <a:ext cx="11091672" cy="566928"/>
          </a:xfrm>
          <a:prstGeom prst="roundRect">
            <a:avLst>
              <a:gd name="adj" fmla="val 8065"/>
            </a:avLst>
          </a:prstGeom>
          <a:solidFill>
            <a:srgbClr val="F3F6FB"/>
          </a:solidFill>
          <a:ln w="635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9" name="Shape 33">
            <a:extLst>
              <a:ext uri="{FF2B5EF4-FFF2-40B4-BE49-F238E27FC236}">
                <a16:creationId xmlns:a16="http://schemas.microsoft.com/office/drawing/2014/main" id="{0D065322-FE13-CF1F-B72F-DD5698B6A99E}"/>
              </a:ext>
            </a:extLst>
          </p:cNvPr>
          <p:cNvSpPr/>
          <p:nvPr/>
        </p:nvSpPr>
        <p:spPr>
          <a:xfrm>
            <a:off x="640950" y="5923640"/>
            <a:ext cx="164592" cy="164592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1" name="Text 34">
            <a:extLst>
              <a:ext uri="{FF2B5EF4-FFF2-40B4-BE49-F238E27FC236}">
                <a16:creationId xmlns:a16="http://schemas.microsoft.com/office/drawing/2014/main" id="{D847E576-17AC-2B2B-852C-2B9D2FC308BD}"/>
              </a:ext>
            </a:extLst>
          </p:cNvPr>
          <p:cNvSpPr/>
          <p:nvPr/>
        </p:nvSpPr>
        <p:spPr>
          <a:xfrm>
            <a:off x="988422" y="572247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18–29* Jan 2027</a:t>
            </a:r>
            <a:endParaRPr lang="en-US" sz="1300" dirty="0"/>
          </a:p>
        </p:txBody>
      </p:sp>
      <p:sp>
        <p:nvSpPr>
          <p:cNvPr id="73" name="Text 35">
            <a:extLst>
              <a:ext uri="{FF2B5EF4-FFF2-40B4-BE49-F238E27FC236}">
                <a16:creationId xmlns:a16="http://schemas.microsoft.com/office/drawing/2014/main" id="{23DEBF8C-2E78-33CA-E74F-3A34A9A87158}"/>
              </a:ext>
            </a:extLst>
          </p:cNvPr>
          <p:cNvSpPr/>
          <p:nvPr/>
        </p:nvSpPr>
        <p:spPr>
          <a:xfrm>
            <a:off x="3365862" y="572247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6th SG17 Plenary, Geneva</a:t>
            </a:r>
            <a:endParaRPr lang="en-US" sz="1250" dirty="0"/>
          </a:p>
        </p:txBody>
      </p:sp>
      <p:sp>
        <p:nvSpPr>
          <p:cNvPr id="75" name="Text 36">
            <a:extLst>
              <a:ext uri="{FF2B5EF4-FFF2-40B4-BE49-F238E27FC236}">
                <a16:creationId xmlns:a16="http://schemas.microsoft.com/office/drawing/2014/main" id="{72F2F963-BC4F-78B9-0775-C8A503A386DB}"/>
              </a:ext>
            </a:extLst>
          </p:cNvPr>
          <p:cNvSpPr/>
          <p:nvPr/>
        </p:nvSpPr>
        <p:spPr>
          <a:xfrm>
            <a:off x="8029302" y="5722472"/>
            <a:ext cx="3319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full plenary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563496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E4C04-51BD-2D3C-A371-99F8F8598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72B79E5-A17B-7453-7040-20B46577F5E4}"/>
              </a:ext>
            </a:extLst>
          </p:cNvPr>
          <p:cNvSpPr/>
          <p:nvPr/>
        </p:nvSpPr>
        <p:spPr>
          <a:xfrm>
            <a:off x="0" y="0"/>
            <a:ext cx="12192000" cy="1607736"/>
          </a:xfrm>
          <a:prstGeom prst="rect">
            <a:avLst/>
          </a:prstGeom>
          <a:solidFill>
            <a:srgbClr val="049BD6"/>
          </a:solidFill>
          <a:ln>
            <a:solidFill>
              <a:srgbClr val="009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5C28189-6020-C122-289D-5159822E3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85" y="219392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Our timeline for 2026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AB9DBD3-FFDD-3C5A-5A60-C0E9B9E2F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8212" y="107366"/>
            <a:ext cx="2064271" cy="69650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00BBA04-041F-7C28-D31C-4BF4312E66A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159"/>
          <a:stretch>
            <a:fillRect/>
          </a:stretch>
        </p:blipFill>
        <p:spPr>
          <a:xfrm>
            <a:off x="1184123" y="1608056"/>
            <a:ext cx="9981181" cy="5249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907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7EC5B-7306-1E42-7349-5E5A73FBE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3D298F7-A37F-A111-30EF-FC17DDF96241}"/>
              </a:ext>
            </a:extLst>
          </p:cNvPr>
          <p:cNvSpPr/>
          <p:nvPr/>
        </p:nvSpPr>
        <p:spPr>
          <a:xfrm>
            <a:off x="0" y="0"/>
            <a:ext cx="12192000" cy="1607736"/>
          </a:xfrm>
          <a:prstGeom prst="rect">
            <a:avLst/>
          </a:prstGeom>
          <a:solidFill>
            <a:srgbClr val="049BD6"/>
          </a:solidFill>
          <a:ln>
            <a:solidFill>
              <a:srgbClr val="009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E024863-7ECA-4C70-2749-410819BCE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85" y="219392"/>
            <a:ext cx="10515600" cy="1325563"/>
          </a:xfrm>
        </p:spPr>
        <p:txBody>
          <a:bodyPr/>
          <a:lstStyle/>
          <a:p>
            <a:r>
              <a:rPr lang="en-US" noProof="0" dirty="0">
                <a:solidFill>
                  <a:schemeClr val="bg1"/>
                </a:solidFill>
              </a:rPr>
              <a:t>Our Objective for </a:t>
            </a:r>
            <a:r>
              <a:rPr lang="en-US" dirty="0">
                <a:solidFill>
                  <a:schemeClr val="bg1"/>
                </a:solidFill>
              </a:rPr>
              <a:t>1-4 Dec meeting</a:t>
            </a:r>
            <a:endParaRPr lang="en-GB" noProof="0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705758-91A9-6116-9E57-987744865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8212" y="107366"/>
            <a:ext cx="2064271" cy="6965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18F127-71BB-8612-9A11-0ABD08A9DA80}"/>
              </a:ext>
            </a:extLst>
          </p:cNvPr>
          <p:cNvSpPr txBox="1"/>
          <p:nvPr/>
        </p:nvSpPr>
        <p:spPr>
          <a:xfrm>
            <a:off x="784335" y="2844437"/>
            <a:ext cx="1089524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b="1" dirty="0">
                <a:solidFill>
                  <a:schemeClr val="accent1"/>
                </a:solidFill>
              </a:rPr>
              <a:t>Formally announce the Focus Group's structure and leadership</a:t>
            </a:r>
          </a:p>
          <a:p>
            <a:endParaRPr lang="en-US" sz="2800" b="1" dirty="0">
              <a:solidFill>
                <a:schemeClr val="accent1"/>
              </a:solidFill>
            </a:endParaRPr>
          </a:p>
          <a:p>
            <a:pPr marL="514350" indent="-514350">
              <a:buFont typeface="+mj-lt"/>
              <a:buAutoNum type="arabicPeriod" startAt="2"/>
            </a:pPr>
            <a:r>
              <a:rPr lang="en-US" sz="2800" b="1" dirty="0">
                <a:solidFill>
                  <a:schemeClr val="accent1"/>
                </a:solidFill>
              </a:rPr>
              <a:t>Publish an initial definition of deliverables on GitHub </a:t>
            </a:r>
          </a:p>
          <a:p>
            <a:endParaRPr lang="en-US" sz="2800" b="1" dirty="0">
              <a:solidFill>
                <a:schemeClr val="accent1"/>
              </a:solidFill>
            </a:endParaRPr>
          </a:p>
          <a:p>
            <a:pPr marL="514350" indent="-514350">
              <a:buFont typeface="+mj-lt"/>
              <a:buAutoNum type="arabicPeriod" startAt="3"/>
            </a:pPr>
            <a:r>
              <a:rPr lang="en-US" sz="2800" b="1" dirty="0">
                <a:solidFill>
                  <a:schemeClr val="accent1"/>
                </a:solidFill>
              </a:rPr>
              <a:t>Advance the technical work during the in-person meeting</a:t>
            </a:r>
          </a:p>
        </p:txBody>
      </p:sp>
    </p:spTree>
    <p:extLst>
      <p:ext uri="{BB962C8B-B14F-4D97-AF65-F5344CB8AC3E}">
        <p14:creationId xmlns:p14="http://schemas.microsoft.com/office/powerpoint/2010/main" val="657783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6732B-EA23-6724-8346-6BBF31E99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CB74447-6DDB-32E1-CBBF-95D35F0CB61B}"/>
              </a:ext>
            </a:extLst>
          </p:cNvPr>
          <p:cNvSpPr/>
          <p:nvPr/>
        </p:nvSpPr>
        <p:spPr>
          <a:xfrm>
            <a:off x="0" y="0"/>
            <a:ext cx="12192000" cy="1607736"/>
          </a:xfrm>
          <a:prstGeom prst="rect">
            <a:avLst/>
          </a:prstGeom>
          <a:solidFill>
            <a:srgbClr val="049BD6"/>
          </a:solidFill>
          <a:ln>
            <a:solidFill>
              <a:srgbClr val="009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50A5C8F-1DD4-051C-D2EC-01532CC0E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85" y="219392"/>
            <a:ext cx="10515600" cy="1325563"/>
          </a:xfrm>
        </p:spPr>
        <p:txBody>
          <a:bodyPr/>
          <a:lstStyle/>
          <a:p>
            <a:r>
              <a:rPr lang="en-US" noProof="0" dirty="0">
                <a:solidFill>
                  <a:schemeClr val="bg1"/>
                </a:solidFill>
              </a:rPr>
              <a:t>How to get there? </a:t>
            </a:r>
            <a:br>
              <a:rPr lang="en-US" noProof="0" dirty="0">
                <a:solidFill>
                  <a:schemeClr val="bg1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5</a:t>
            </a:r>
            <a:r>
              <a:rPr lang="en-US" noProof="0" dirty="0">
                <a:solidFill>
                  <a:schemeClr val="bg1"/>
                </a:solidFill>
              </a:rPr>
              <a:t> virtual meetings from now to 1-4 Dec</a:t>
            </a:r>
            <a:endParaRPr lang="en-GB" noProof="0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579929C-ED4F-BEF0-BE9B-4D4A7D897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8212" y="107366"/>
            <a:ext cx="2064271" cy="6965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1AFA568-F371-3A04-7565-802982E1677E}"/>
              </a:ext>
            </a:extLst>
          </p:cNvPr>
          <p:cNvSpPr txBox="1"/>
          <p:nvPr/>
        </p:nvSpPr>
        <p:spPr>
          <a:xfrm>
            <a:off x="784335" y="2844437"/>
            <a:ext cx="1089524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1"/>
                </a:solidFill>
              </a:rPr>
              <a:t>29th of July @2pm CET 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1"/>
                </a:solidFill>
              </a:rPr>
              <a:t>(today) 2nd of September @2pm CET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1"/>
                </a:solidFill>
              </a:rPr>
              <a:t>30th of September @2pm CET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NEW! 14</a:t>
            </a:r>
            <a:r>
              <a:rPr lang="en-US" sz="2800" b="1" baseline="30000" dirty="0">
                <a:solidFill>
                  <a:srgbClr val="FF0000"/>
                </a:solidFill>
              </a:rPr>
              <a:t>th</a:t>
            </a:r>
            <a:r>
              <a:rPr lang="en-US" sz="2800" b="1" dirty="0">
                <a:solidFill>
                  <a:srgbClr val="FF0000"/>
                </a:solidFill>
              </a:rPr>
              <a:t> of October @2.30pm CET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1"/>
                </a:solidFill>
              </a:rPr>
              <a:t>4th of November @2pm CET</a:t>
            </a:r>
          </a:p>
        </p:txBody>
      </p:sp>
    </p:spTree>
    <p:extLst>
      <p:ext uri="{BB962C8B-B14F-4D97-AF65-F5344CB8AC3E}">
        <p14:creationId xmlns:p14="http://schemas.microsoft.com/office/powerpoint/2010/main" val="1157470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786D3BF-473E-C208-B715-D0CE618C2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13F90BD-BE84-BE44-203A-C528417691DB}"/>
              </a:ext>
            </a:extLst>
          </p:cNvPr>
          <p:cNvSpPr/>
          <p:nvPr/>
        </p:nvSpPr>
        <p:spPr>
          <a:xfrm>
            <a:off x="0" y="0"/>
            <a:ext cx="12192000" cy="1607736"/>
          </a:xfrm>
          <a:prstGeom prst="rect">
            <a:avLst/>
          </a:prstGeom>
          <a:solidFill>
            <a:srgbClr val="049BD6"/>
          </a:solidFill>
          <a:ln>
            <a:solidFill>
              <a:srgbClr val="009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00D5FDB-1E18-8860-BF76-0A34F3EA7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85" y="219392"/>
            <a:ext cx="10515600" cy="1325563"/>
          </a:xfrm>
        </p:spPr>
        <p:txBody>
          <a:bodyPr/>
          <a:lstStyle/>
          <a:p>
            <a:r>
              <a:rPr lang="en-US" noProof="0" dirty="0">
                <a:solidFill>
                  <a:schemeClr val="bg1"/>
                </a:solidFill>
              </a:rPr>
              <a:t>Current TIDA Structure</a:t>
            </a:r>
            <a:endParaRPr lang="en-GB" noProof="0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31BC90E-B8E5-AB95-C30E-A8936DAF1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8212" y="107366"/>
            <a:ext cx="2064271" cy="696502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755E785F-63C4-4119-722A-FC0F9760C2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68353" y="1764347"/>
            <a:ext cx="9655293" cy="4998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758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27620-39F4-A447-F680-C078D9553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3567A6-55EA-FA0D-98EF-A5CD4224F0C7}"/>
              </a:ext>
            </a:extLst>
          </p:cNvPr>
          <p:cNvSpPr/>
          <p:nvPr/>
        </p:nvSpPr>
        <p:spPr>
          <a:xfrm>
            <a:off x="0" y="0"/>
            <a:ext cx="12192000" cy="6960870"/>
          </a:xfrm>
          <a:prstGeom prst="rect">
            <a:avLst/>
          </a:prstGeom>
          <a:solidFill>
            <a:srgbClr val="049BD6"/>
          </a:solidFill>
          <a:ln>
            <a:solidFill>
              <a:srgbClr val="009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74EF5FF-CC00-D54D-82B2-508A0B4EB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4065" y="2556805"/>
            <a:ext cx="10515600" cy="1325563"/>
          </a:xfrm>
        </p:spPr>
        <p:txBody>
          <a:bodyPr>
            <a:noAutofit/>
          </a:bodyPr>
          <a:lstStyle/>
          <a:p>
            <a:r>
              <a:rPr lang="en-US" sz="4800" b="1" noProof="0" dirty="0">
                <a:solidFill>
                  <a:schemeClr val="bg1"/>
                </a:solidFill>
              </a:rPr>
              <a:t>Introduction to the </a:t>
            </a:r>
            <a:r>
              <a:rPr lang="en-US" sz="4800" b="1" dirty="0">
                <a:solidFill>
                  <a:srgbClr val="FFC000"/>
                </a:solidFill>
              </a:rPr>
              <a:t>Use Cases </a:t>
            </a:r>
            <a:r>
              <a:rPr lang="en-US" sz="4800" b="1" dirty="0">
                <a:solidFill>
                  <a:schemeClr val="bg1"/>
                </a:solidFill>
              </a:rPr>
              <a:t>work</a:t>
            </a:r>
            <a:endParaRPr lang="en-GB" sz="4800" b="1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E3ACBB1-80BF-4CBA-8CE0-8D6FB30AB5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8212" y="107366"/>
            <a:ext cx="2064271" cy="696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7695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3610D-8E0E-B8CF-472F-77224BC0B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66FC882-8BAE-417A-4746-14A19F0997D8}"/>
              </a:ext>
            </a:extLst>
          </p:cNvPr>
          <p:cNvSpPr/>
          <p:nvPr/>
        </p:nvSpPr>
        <p:spPr>
          <a:xfrm>
            <a:off x="0" y="0"/>
            <a:ext cx="12192000" cy="6960870"/>
          </a:xfrm>
          <a:prstGeom prst="rect">
            <a:avLst/>
          </a:prstGeom>
          <a:solidFill>
            <a:srgbClr val="049BD6"/>
          </a:solidFill>
          <a:ln>
            <a:solidFill>
              <a:srgbClr val="009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47F4953-BDEE-39CD-BC31-C102A0EAD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4065" y="2556805"/>
            <a:ext cx="10515600" cy="1325563"/>
          </a:xfrm>
        </p:spPr>
        <p:txBody>
          <a:bodyPr>
            <a:noAutofit/>
          </a:bodyPr>
          <a:lstStyle/>
          <a:p>
            <a:r>
              <a:rPr lang="en-US" sz="4800" b="1" noProof="0" dirty="0">
                <a:solidFill>
                  <a:schemeClr val="bg1"/>
                </a:solidFill>
              </a:rPr>
              <a:t>Let us </a:t>
            </a:r>
            <a:r>
              <a:rPr lang="en-US" sz="4800" b="1" noProof="0" dirty="0">
                <a:solidFill>
                  <a:srgbClr val="F7BA21"/>
                </a:solidFill>
              </a:rPr>
              <a:t>brainstorm</a:t>
            </a:r>
            <a:r>
              <a:rPr lang="en-US" sz="4800" b="1" noProof="0" dirty="0">
                <a:solidFill>
                  <a:schemeClr val="bg1"/>
                </a:solidFill>
              </a:rPr>
              <a:t> together on </a:t>
            </a:r>
            <a:br>
              <a:rPr lang="en-US" sz="4800" b="1" noProof="0" dirty="0">
                <a:solidFill>
                  <a:schemeClr val="bg1"/>
                </a:solidFill>
              </a:rPr>
            </a:br>
            <a:r>
              <a:rPr lang="en-US" sz="4800" b="1" dirty="0">
                <a:solidFill>
                  <a:schemeClr val="bg1"/>
                </a:solidFill>
              </a:rPr>
              <a:t>ideas for Working Groups</a:t>
            </a:r>
            <a:endParaRPr lang="en-GB" sz="4800" b="1" noProof="0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230CEE6-765D-942E-5A66-DD8EA8AF4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8212" y="107366"/>
            <a:ext cx="2064271" cy="696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4564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7289C-C92F-927B-D98E-80CA9AD0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9436C83-0FC5-19E0-B643-C0B5743DC07E}"/>
              </a:ext>
            </a:extLst>
          </p:cNvPr>
          <p:cNvSpPr/>
          <p:nvPr/>
        </p:nvSpPr>
        <p:spPr>
          <a:xfrm>
            <a:off x="0" y="0"/>
            <a:ext cx="12192000" cy="1607736"/>
          </a:xfrm>
          <a:prstGeom prst="rect">
            <a:avLst/>
          </a:prstGeom>
          <a:solidFill>
            <a:srgbClr val="049BD6"/>
          </a:solidFill>
          <a:ln>
            <a:solidFill>
              <a:srgbClr val="009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62CDBEE-1F58-A19A-7083-FACDE5BE5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85" y="219392"/>
            <a:ext cx="10515600" cy="1325563"/>
          </a:xfrm>
        </p:spPr>
        <p:txBody>
          <a:bodyPr/>
          <a:lstStyle/>
          <a:p>
            <a:r>
              <a:rPr lang="en-US" noProof="0" dirty="0">
                <a:solidFill>
                  <a:schemeClr val="bg1"/>
                </a:solidFill>
              </a:rPr>
              <a:t>Selected presentations on </a:t>
            </a:r>
            <a:r>
              <a:rPr lang="en-US" dirty="0">
                <a:solidFill>
                  <a:schemeClr val="bg1"/>
                </a:solidFill>
              </a:rPr>
              <a:t>proposed t</a:t>
            </a:r>
            <a:r>
              <a:rPr lang="en-US" noProof="0" dirty="0">
                <a:solidFill>
                  <a:schemeClr val="bg1"/>
                </a:solidFill>
              </a:rPr>
              <a:t>hemes</a:t>
            </a:r>
            <a:endParaRPr lang="en-GB" noProof="0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781F2AA-B981-BD81-FC7F-C2E8CB8811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8212" y="107366"/>
            <a:ext cx="2064271" cy="6965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2D2EAE1-AD35-7010-D39E-4126E4A2F5C1}"/>
              </a:ext>
            </a:extLst>
          </p:cNvPr>
          <p:cNvSpPr txBox="1"/>
          <p:nvPr/>
        </p:nvSpPr>
        <p:spPr>
          <a:xfrm>
            <a:off x="784335" y="2844437"/>
            <a:ext cx="108952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2000" dirty="0"/>
              <a:t>Theme #4. Access Control and Security Policy Enforcement with </a:t>
            </a:r>
            <a:r>
              <a:rPr lang="en-US" sz="2000" dirty="0" err="1"/>
              <a:t>Metamorophing</a:t>
            </a:r>
            <a:r>
              <a:rPr lang="en-US" sz="2000" dirty="0"/>
              <a:t> AI Agents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2000" dirty="0"/>
              <a:t>Theme #6. Intent-based security policies: expression, coexistence, and runtime verification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2000" dirty="0"/>
              <a:t>Theme TBD. Remote Attestation for Agentic AI</a:t>
            </a:r>
          </a:p>
        </p:txBody>
      </p:sp>
    </p:spTree>
    <p:extLst>
      <p:ext uri="{BB962C8B-B14F-4D97-AF65-F5344CB8AC3E}">
        <p14:creationId xmlns:p14="http://schemas.microsoft.com/office/powerpoint/2010/main" val="4798146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27EEF-F3B3-A691-39B3-634309057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26EB1D6-3C65-EFEF-3F89-BB23E64AB81A}"/>
              </a:ext>
            </a:extLst>
          </p:cNvPr>
          <p:cNvSpPr/>
          <p:nvPr/>
        </p:nvSpPr>
        <p:spPr>
          <a:xfrm>
            <a:off x="0" y="0"/>
            <a:ext cx="12192000" cy="1607736"/>
          </a:xfrm>
          <a:prstGeom prst="rect">
            <a:avLst/>
          </a:prstGeom>
          <a:solidFill>
            <a:srgbClr val="049BD6"/>
          </a:solidFill>
          <a:ln>
            <a:solidFill>
              <a:srgbClr val="009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F1C4886-EFB6-EE2A-C540-14927FA87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85" y="219392"/>
            <a:ext cx="10515600" cy="1325563"/>
          </a:xfrm>
        </p:spPr>
        <p:txBody>
          <a:bodyPr/>
          <a:lstStyle/>
          <a:p>
            <a:endParaRPr lang="en-GB" noProof="0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1D4C387-83B3-51DA-53F3-17D302D1A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8212" y="107366"/>
            <a:ext cx="2064271" cy="6965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8FF3BED-1C4D-6B4D-FE09-3F4B7D0FDB85}"/>
              </a:ext>
            </a:extLst>
          </p:cNvPr>
          <p:cNvSpPr txBox="1"/>
          <p:nvPr/>
        </p:nvSpPr>
        <p:spPr>
          <a:xfrm>
            <a:off x="1510770" y="3429000"/>
            <a:ext cx="91704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THANK YOU FOR YOUR PARTICIPATION</a:t>
            </a:r>
          </a:p>
        </p:txBody>
      </p:sp>
    </p:spTree>
    <p:extLst>
      <p:ext uri="{BB962C8B-B14F-4D97-AF65-F5344CB8AC3E}">
        <p14:creationId xmlns:p14="http://schemas.microsoft.com/office/powerpoint/2010/main" val="845700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638</Words>
  <Application>Microsoft Office PowerPoint</Application>
  <PresentationFormat>Widescreen</PresentationFormat>
  <Paragraphs>89</Paragraphs>
  <Slides>15</Slides>
  <Notes>7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Wingdings</vt:lpstr>
      <vt:lpstr>Office Theme</vt:lpstr>
      <vt:lpstr>Auto-reporting tools </vt:lpstr>
      <vt:lpstr>Agenda</vt:lpstr>
      <vt:lpstr>Why creating TIDA?</vt:lpstr>
      <vt:lpstr>What is a Focus Group in ITU?</vt:lpstr>
      <vt:lpstr>Pls subscribe to our Mailing List</vt:lpstr>
      <vt:lpstr>Engage in our GitHub space!</vt:lpstr>
      <vt:lpstr>What is happening next?</vt:lpstr>
      <vt:lpstr>Our timeline for 2026</vt:lpstr>
      <vt:lpstr>Our Objective for 1-4 Dec meeting</vt:lpstr>
      <vt:lpstr>How to get there?  5 virtual meetings from now to 1-4 Dec</vt:lpstr>
      <vt:lpstr>Current TIDA Structure</vt:lpstr>
      <vt:lpstr>Introduction to the Use Cases work</vt:lpstr>
      <vt:lpstr>Let us brainstorm together on  ideas for Working Groups</vt:lpstr>
      <vt:lpstr>Selected presentations on proposed themes</vt:lpstr>
      <vt:lpstr>PowerPoint Presentation</vt:lpstr>
    </vt:vector>
  </TitlesOfParts>
  <Company>Thales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MATIAS Nicolas</dc:creator>
  <cp:lastModifiedBy>COMPARIN Debora</cp:lastModifiedBy>
  <cp:revision>24</cp:revision>
  <dcterms:created xsi:type="dcterms:W3CDTF">2026-05-31T18:20:48Z</dcterms:created>
  <dcterms:modified xsi:type="dcterms:W3CDTF">2026-09-04T12:07:50Z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f20372f-9ab3-4551-9149-9f9b12e2c27e_Enabled">
    <vt:lpwstr>true</vt:lpwstr>
  </property>
  <property fmtid="{D5CDD505-2E9C-101B-9397-08002B2CF9AE}" pid="3" name="MSIP_Label_cf20372f-9ab3-4551-9149-9f9b12e2c27e_SetDate">
    <vt:lpwstr>2026-06-01T08:20:46Z</vt:lpwstr>
  </property>
  <property fmtid="{D5CDD505-2E9C-101B-9397-08002B2CF9AE}" pid="4" name="MSIP_Label_cf20372f-9ab3-4551-9149-9f9b12e2c27e_Method">
    <vt:lpwstr>Privileged</vt:lpwstr>
  </property>
  <property fmtid="{D5CDD505-2E9C-101B-9397-08002B2CF9AE}" pid="5" name="MSIP_Label_cf20372f-9ab3-4551-9149-9f9b12e2c27e_Name">
    <vt:lpwstr>DIS OPEN</vt:lpwstr>
  </property>
  <property fmtid="{D5CDD505-2E9C-101B-9397-08002B2CF9AE}" pid="6" name="MSIP_Label_cf20372f-9ab3-4551-9149-9f9b12e2c27e_SiteId">
    <vt:lpwstr>6e603289-5e46-4e26-ac7c-03a85420a9a5</vt:lpwstr>
  </property>
  <property fmtid="{D5CDD505-2E9C-101B-9397-08002B2CF9AE}" pid="7" name="MSIP_Label_cf20372f-9ab3-4551-9149-9f9b12e2c27e_ActionId">
    <vt:lpwstr>b678ddd5-4db5-4f0c-bf84-7ea5bdd9db4e</vt:lpwstr>
  </property>
  <property fmtid="{D5CDD505-2E9C-101B-9397-08002B2CF9AE}" pid="8" name="MSIP_Label_cf20372f-9ab3-4551-9149-9f9b12e2c27e_ContentBits">
    <vt:lpwstr>0</vt:lpwstr>
  </property>
  <property fmtid="{D5CDD505-2E9C-101B-9397-08002B2CF9AE}" pid="9" name="MSIP_Label_cf20372f-9ab3-4551-9149-9f9b12e2c27e_Tag">
    <vt:lpwstr>10, 0, 1, 1</vt:lpwstr>
  </property>
</Properties>
</file>