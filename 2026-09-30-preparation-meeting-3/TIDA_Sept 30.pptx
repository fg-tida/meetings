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1448944615" r:id="rId2"/>
    <p:sldId id="1448944598" r:id="rId3"/>
    <p:sldId id="1448944637" r:id="rId4"/>
    <p:sldId id="1448944638" r:id="rId5"/>
    <p:sldId id="1448944639" r:id="rId6"/>
    <p:sldId id="1448944631" r:id="rId7"/>
    <p:sldId id="1448944636" r:id="rId8"/>
    <p:sldId id="1448944629" r:id="rId9"/>
    <p:sldId id="1448944618" r:id="rId10"/>
    <p:sldId id="1448944630" r:id="rId11"/>
    <p:sldId id="1448944621" r:id="rId12"/>
    <p:sldId id="1448944620" r:id="rId13"/>
    <p:sldId id="1448944635" r:id="rId14"/>
    <p:sldId id="1448944622" r:id="rId15"/>
    <p:sldId id="1448944633" r:id="rId16"/>
    <p:sldId id="1448944623" r:id="rId17"/>
    <p:sldId id="1448944628" r:id="rId18"/>
    <p:sldId id="1448944634" r:id="rId1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BA21"/>
    <a:srgbClr val="009EDB"/>
    <a:srgbClr val="049B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49" autoAdjust="0"/>
    <p:restoredTop sz="84188" autoAdjust="0"/>
  </p:normalViewPr>
  <p:slideViewPr>
    <p:cSldViewPr snapToGrid="0">
      <p:cViewPr varScale="1">
        <p:scale>
          <a:sx n="53" d="100"/>
          <a:sy n="53" d="100"/>
        </p:scale>
        <p:origin x="1352"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7146AC-91B1-478C-8856-09A11651431C}" type="datetimeFigureOut">
              <a:rPr lang="en-US" smtClean="0"/>
              <a:t>9/29/2026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E4243C-45DD-4622-9728-5080CDD53D12}" type="slidenum">
              <a:rPr lang="en-US" smtClean="0"/>
              <a:t>‹#›</a:t>
            </a:fld>
            <a:endParaRPr lang="en-US"/>
          </a:p>
        </p:txBody>
      </p:sp>
    </p:spTree>
    <p:extLst>
      <p:ext uri="{BB962C8B-B14F-4D97-AF65-F5344CB8AC3E}">
        <p14:creationId xmlns:p14="http://schemas.microsoft.com/office/powerpoint/2010/main" val="2064631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E068B-9362-7D1E-1A06-531ACE97F7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A3AA6C-7E5B-C10F-EA5E-A0ED6284E7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054BF5-CE04-E87E-3779-3B199C42E5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5E7EF8-C1D1-BA07-E811-33459A1BC493}"/>
              </a:ext>
            </a:extLst>
          </p:cNvPr>
          <p:cNvSpPr>
            <a:spLocks noGrp="1"/>
          </p:cNvSpPr>
          <p:nvPr>
            <p:ph type="sldNum" sz="quarter" idx="5"/>
          </p:nvPr>
        </p:nvSpPr>
        <p:spPr/>
        <p:txBody>
          <a:bodyPr/>
          <a:lstStyle/>
          <a:p>
            <a:fld id="{50E4243C-45DD-4622-9728-5080CDD53D12}" type="slidenum">
              <a:rPr lang="en-US" smtClean="0"/>
              <a:t>6</a:t>
            </a:fld>
            <a:endParaRPr lang="en-US"/>
          </a:p>
        </p:txBody>
      </p:sp>
    </p:spTree>
    <p:extLst>
      <p:ext uri="{BB962C8B-B14F-4D97-AF65-F5344CB8AC3E}">
        <p14:creationId xmlns:p14="http://schemas.microsoft.com/office/powerpoint/2010/main" val="3490643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44862-566F-E9DB-487B-F3AFC1292C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F05FE9-288A-12CB-60BA-A966549660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87424D-89D6-2CE9-02A6-E4A36D7E1529}"/>
              </a:ext>
            </a:extLst>
          </p:cNvPr>
          <p:cNvSpPr>
            <a:spLocks noGrp="1"/>
          </p:cNvSpPr>
          <p:nvPr>
            <p:ph type="body" idx="1"/>
          </p:nvPr>
        </p:nvSpPr>
        <p:spPr/>
        <p:txBody>
          <a:bodyPr/>
          <a:lstStyle/>
          <a:p>
            <a:r>
              <a:rPr lang="en-US" dirty="0"/>
              <a:t>Approach bottom up </a:t>
            </a:r>
            <a:r>
              <a:rPr lang="en-US" dirty="0">
                <a:sym typeface="Wingdings" panose="05000000000000000000" pitchFamily="2" charset="2"/>
              </a:rPr>
              <a:t> what we need from you</a:t>
            </a:r>
            <a:endParaRPr lang="en-US" dirty="0"/>
          </a:p>
        </p:txBody>
      </p:sp>
      <p:sp>
        <p:nvSpPr>
          <p:cNvPr id="4" name="Slide Number Placeholder 3">
            <a:extLst>
              <a:ext uri="{FF2B5EF4-FFF2-40B4-BE49-F238E27FC236}">
                <a16:creationId xmlns:a16="http://schemas.microsoft.com/office/drawing/2014/main" id="{94FF5B6E-B0A4-B926-9070-1714017A9D8D}"/>
              </a:ext>
            </a:extLst>
          </p:cNvPr>
          <p:cNvSpPr>
            <a:spLocks noGrp="1"/>
          </p:cNvSpPr>
          <p:nvPr>
            <p:ph type="sldNum" sz="quarter" idx="5"/>
          </p:nvPr>
        </p:nvSpPr>
        <p:spPr/>
        <p:txBody>
          <a:bodyPr/>
          <a:lstStyle/>
          <a:p>
            <a:fld id="{50E4243C-45DD-4622-9728-5080CDD53D12}" type="slidenum">
              <a:rPr lang="en-US" smtClean="0"/>
              <a:t>7</a:t>
            </a:fld>
            <a:endParaRPr lang="en-US"/>
          </a:p>
        </p:txBody>
      </p:sp>
    </p:spTree>
    <p:extLst>
      <p:ext uri="{BB962C8B-B14F-4D97-AF65-F5344CB8AC3E}">
        <p14:creationId xmlns:p14="http://schemas.microsoft.com/office/powerpoint/2010/main" val="4059108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43314-B2B9-0370-FEAA-674CC57014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F7DE07-6D99-7721-C781-B53349496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1CBF75-3910-292C-4296-64A7539F3816}"/>
              </a:ext>
            </a:extLst>
          </p:cNvPr>
          <p:cNvSpPr>
            <a:spLocks noGrp="1"/>
          </p:cNvSpPr>
          <p:nvPr>
            <p:ph type="body" idx="1"/>
          </p:nvPr>
        </p:nvSpPr>
        <p:spPr/>
        <p:txBody>
          <a:bodyPr/>
          <a:lstStyle/>
          <a:p>
            <a:r>
              <a:rPr lang="en-US" dirty="0"/>
              <a:t>Approach bottom up </a:t>
            </a:r>
            <a:r>
              <a:rPr lang="en-US" dirty="0">
                <a:sym typeface="Wingdings" panose="05000000000000000000" pitchFamily="2" charset="2"/>
              </a:rPr>
              <a:t> what we need from you</a:t>
            </a:r>
            <a:endParaRPr lang="en-US" dirty="0"/>
          </a:p>
        </p:txBody>
      </p:sp>
      <p:sp>
        <p:nvSpPr>
          <p:cNvPr id="4" name="Slide Number Placeholder 3">
            <a:extLst>
              <a:ext uri="{FF2B5EF4-FFF2-40B4-BE49-F238E27FC236}">
                <a16:creationId xmlns:a16="http://schemas.microsoft.com/office/drawing/2014/main" id="{A78EB91B-8A4E-235D-932F-20001031BE5D}"/>
              </a:ext>
            </a:extLst>
          </p:cNvPr>
          <p:cNvSpPr>
            <a:spLocks noGrp="1"/>
          </p:cNvSpPr>
          <p:nvPr>
            <p:ph type="sldNum" sz="quarter" idx="5"/>
          </p:nvPr>
        </p:nvSpPr>
        <p:spPr/>
        <p:txBody>
          <a:bodyPr/>
          <a:lstStyle/>
          <a:p>
            <a:fld id="{50E4243C-45DD-4622-9728-5080CDD53D12}" type="slidenum">
              <a:rPr lang="en-US" smtClean="0"/>
              <a:t>8</a:t>
            </a:fld>
            <a:endParaRPr lang="en-US"/>
          </a:p>
        </p:txBody>
      </p:sp>
    </p:spTree>
    <p:extLst>
      <p:ext uri="{BB962C8B-B14F-4D97-AF65-F5344CB8AC3E}">
        <p14:creationId xmlns:p14="http://schemas.microsoft.com/office/powerpoint/2010/main" val="9308211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Terms of Reference</a:t>
            </a:r>
          </a:p>
        </p:txBody>
      </p:sp>
      <p:sp>
        <p:nvSpPr>
          <p:cNvPr id="4" name="Slide Number Placeholder 3"/>
          <p:cNvSpPr>
            <a:spLocks noGrp="1"/>
          </p:cNvSpPr>
          <p:nvPr>
            <p:ph type="sldNum" sz="quarter" idx="5"/>
          </p:nvPr>
        </p:nvSpPr>
        <p:spPr/>
        <p:txBody>
          <a:bodyPr/>
          <a:lstStyle/>
          <a:p>
            <a:fld id="{50E4243C-45DD-4622-9728-5080CDD53D12}" type="slidenum">
              <a:rPr lang="en-US" smtClean="0"/>
              <a:t>9</a:t>
            </a:fld>
            <a:endParaRPr lang="en-US"/>
          </a:p>
        </p:txBody>
      </p:sp>
    </p:spTree>
    <p:extLst>
      <p:ext uri="{BB962C8B-B14F-4D97-AF65-F5344CB8AC3E}">
        <p14:creationId xmlns:p14="http://schemas.microsoft.com/office/powerpoint/2010/main" val="1366164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83BEB-C96C-C3E9-2E46-00F8FC134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B4CF22-301B-2E54-C0C6-A430D55329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60E533-DC99-C562-4AF6-56BDEED8298B}"/>
              </a:ext>
            </a:extLst>
          </p:cNvPr>
          <p:cNvSpPr>
            <a:spLocks noGrp="1"/>
          </p:cNvSpPr>
          <p:nvPr>
            <p:ph type="body" idx="1"/>
          </p:nvPr>
        </p:nvSpPr>
        <p:spPr/>
        <p:txBody>
          <a:bodyPr/>
          <a:lstStyle/>
          <a:p>
            <a:r>
              <a:rPr lang="en-US" dirty="0"/>
              <a:t>Open the Terms of Reference</a:t>
            </a:r>
          </a:p>
        </p:txBody>
      </p:sp>
      <p:sp>
        <p:nvSpPr>
          <p:cNvPr id="4" name="Slide Number Placeholder 3">
            <a:extLst>
              <a:ext uri="{FF2B5EF4-FFF2-40B4-BE49-F238E27FC236}">
                <a16:creationId xmlns:a16="http://schemas.microsoft.com/office/drawing/2014/main" id="{0AC9CE6E-74A3-D98E-01B1-4E2B74F6A08F}"/>
              </a:ext>
            </a:extLst>
          </p:cNvPr>
          <p:cNvSpPr>
            <a:spLocks noGrp="1"/>
          </p:cNvSpPr>
          <p:nvPr>
            <p:ph type="sldNum" sz="quarter" idx="5"/>
          </p:nvPr>
        </p:nvSpPr>
        <p:spPr/>
        <p:txBody>
          <a:bodyPr/>
          <a:lstStyle/>
          <a:p>
            <a:fld id="{50E4243C-45DD-4622-9728-5080CDD53D12}" type="slidenum">
              <a:rPr lang="en-US" smtClean="0"/>
              <a:t>15</a:t>
            </a:fld>
            <a:endParaRPr lang="en-US"/>
          </a:p>
        </p:txBody>
      </p:sp>
    </p:spTree>
    <p:extLst>
      <p:ext uri="{BB962C8B-B14F-4D97-AF65-F5344CB8AC3E}">
        <p14:creationId xmlns:p14="http://schemas.microsoft.com/office/powerpoint/2010/main" val="27055509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Approach bottom up </a:t>
            </a:r>
            <a:r>
              <a:rPr lang="en-US" dirty="0">
                <a:sym typeface="Wingdings" panose="05000000000000000000" pitchFamily="2" charset="2"/>
              </a:rPr>
              <a:t> what we need from you</a:t>
            </a:r>
            <a:endParaRPr lang="en-US" dirty="0"/>
          </a:p>
        </p:txBody>
      </p:sp>
      <p:sp>
        <p:nvSpPr>
          <p:cNvPr id="4" name="Slide Number Placeholder 3"/>
          <p:cNvSpPr>
            <a:spLocks noGrp="1"/>
          </p:cNvSpPr>
          <p:nvPr>
            <p:ph type="sldNum" sz="quarter" idx="5"/>
          </p:nvPr>
        </p:nvSpPr>
        <p:spPr/>
        <p:txBody>
          <a:bodyPr/>
          <a:lstStyle/>
          <a:p>
            <a:fld id="{50E4243C-45DD-4622-9728-5080CDD53D12}" type="slidenum">
              <a:rPr lang="en-US" smtClean="0"/>
              <a:t>16</a:t>
            </a:fld>
            <a:endParaRPr lang="en-US"/>
          </a:p>
        </p:txBody>
      </p:sp>
    </p:spTree>
    <p:extLst>
      <p:ext uri="{BB962C8B-B14F-4D97-AF65-F5344CB8AC3E}">
        <p14:creationId xmlns:p14="http://schemas.microsoft.com/office/powerpoint/2010/main" val="17560633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9F09C-BF66-767D-DC40-6BA7F900BF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720D32-1FC5-AC23-BCFF-CA3951BF77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006484-B6BB-0A90-9289-42D9B9CF01E5}"/>
              </a:ext>
            </a:extLst>
          </p:cNvPr>
          <p:cNvSpPr>
            <a:spLocks noGrp="1"/>
          </p:cNvSpPr>
          <p:nvPr>
            <p:ph type="body" idx="1"/>
          </p:nvPr>
        </p:nvSpPr>
        <p:spPr/>
        <p:txBody>
          <a:bodyPr/>
          <a:lstStyle/>
          <a:p>
            <a:r>
              <a:rPr lang="en-US" dirty="0"/>
              <a:t>Which </a:t>
            </a:r>
            <a:r>
              <a:rPr lang="en-US" dirty="0" err="1"/>
              <a:t>prez</a:t>
            </a:r>
            <a:r>
              <a:rPr lang="en-US" dirty="0"/>
              <a:t> from workshops to add as reference?</a:t>
            </a:r>
          </a:p>
          <a:p>
            <a:r>
              <a:rPr lang="en-US" dirty="0"/>
              <a:t>Contributions are driven by the community </a:t>
            </a:r>
          </a:p>
          <a:p>
            <a:r>
              <a:rPr lang="en-US" dirty="0"/>
              <a:t>Technical Development rather than policy work. We are in a position of solution architect even if not everything is done by SG17. </a:t>
            </a:r>
          </a:p>
          <a:p>
            <a:endParaRPr lang="en-US" dirty="0"/>
          </a:p>
        </p:txBody>
      </p:sp>
      <p:sp>
        <p:nvSpPr>
          <p:cNvPr id="4" name="Slide Number Placeholder 3">
            <a:extLst>
              <a:ext uri="{FF2B5EF4-FFF2-40B4-BE49-F238E27FC236}">
                <a16:creationId xmlns:a16="http://schemas.microsoft.com/office/drawing/2014/main" id="{E5C941E2-2BEE-B6D4-0469-CFD2FBE868D1}"/>
              </a:ext>
            </a:extLst>
          </p:cNvPr>
          <p:cNvSpPr>
            <a:spLocks noGrp="1"/>
          </p:cNvSpPr>
          <p:nvPr>
            <p:ph type="sldNum" sz="quarter" idx="5"/>
          </p:nvPr>
        </p:nvSpPr>
        <p:spPr/>
        <p:txBody>
          <a:bodyPr/>
          <a:lstStyle/>
          <a:p>
            <a:fld id="{50E4243C-45DD-4622-9728-5080CDD53D12}" type="slidenum">
              <a:rPr lang="en-US" smtClean="0"/>
              <a:t>18</a:t>
            </a:fld>
            <a:endParaRPr lang="en-US"/>
          </a:p>
        </p:txBody>
      </p:sp>
    </p:spTree>
    <p:extLst>
      <p:ext uri="{BB962C8B-B14F-4D97-AF65-F5344CB8AC3E}">
        <p14:creationId xmlns:p14="http://schemas.microsoft.com/office/powerpoint/2010/main" val="565537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EF99A-C621-A186-5A2A-439FA6A14C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a:extLst>
              <a:ext uri="{FF2B5EF4-FFF2-40B4-BE49-F238E27FC236}">
                <a16:creationId xmlns:a16="http://schemas.microsoft.com/office/drawing/2014/main" id="{27807282-993E-F770-C64D-000F5A0E00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a:extLst>
              <a:ext uri="{FF2B5EF4-FFF2-40B4-BE49-F238E27FC236}">
                <a16:creationId xmlns:a16="http://schemas.microsoft.com/office/drawing/2014/main" id="{B40A57C8-5756-AE75-CF1C-5375052567E0}"/>
              </a:ext>
            </a:extLst>
          </p:cNvPr>
          <p:cNvSpPr>
            <a:spLocks noGrp="1"/>
          </p:cNvSpPr>
          <p:nvPr>
            <p:ph type="dt" sz="half" idx="10"/>
          </p:nvPr>
        </p:nvSpPr>
        <p:spPr/>
        <p:txBody>
          <a:bodyPr/>
          <a:lstStyle/>
          <a:p>
            <a:fld id="{4BDC2062-6E7A-4594-8AA0-CC862D6C2B72}" type="datetimeFigureOut">
              <a:rPr lang="fr-FR" smtClean="0"/>
              <a:t>29/09/2026</a:t>
            </a:fld>
            <a:endParaRPr lang="fr-FR"/>
          </a:p>
        </p:txBody>
      </p:sp>
      <p:sp>
        <p:nvSpPr>
          <p:cNvPr id="5" name="Footer Placeholder 4">
            <a:extLst>
              <a:ext uri="{FF2B5EF4-FFF2-40B4-BE49-F238E27FC236}">
                <a16:creationId xmlns:a16="http://schemas.microsoft.com/office/drawing/2014/main" id="{C23BD65A-81E3-F0C7-DFA3-D06D6BEF6E30}"/>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21819E62-A837-D6A2-9052-E142B47C07BD}"/>
              </a:ext>
            </a:extLst>
          </p:cNvPr>
          <p:cNvSpPr>
            <a:spLocks noGrp="1"/>
          </p:cNvSpPr>
          <p:nvPr>
            <p:ph type="sldNum" sz="quarter" idx="12"/>
          </p:nvPr>
        </p:nvSpPr>
        <p:spPr/>
        <p:txBody>
          <a:bodyPr/>
          <a:lstStyle/>
          <a:p>
            <a:fld id="{64B53A18-C0F4-4606-8A93-560A6BFAD2D3}" type="slidenum">
              <a:rPr lang="fr-FR" smtClean="0"/>
              <a:t>‹#›</a:t>
            </a:fld>
            <a:endParaRPr lang="fr-FR"/>
          </a:p>
        </p:txBody>
      </p:sp>
    </p:spTree>
    <p:extLst>
      <p:ext uri="{BB962C8B-B14F-4D97-AF65-F5344CB8AC3E}">
        <p14:creationId xmlns:p14="http://schemas.microsoft.com/office/powerpoint/2010/main" val="128360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B5105-6DE9-82A8-A652-E2DC8195CCF7}"/>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DC9F9A48-AA36-36F2-E934-4AA153F34A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144E4DF7-6EDB-1667-8336-25835B4BA505}"/>
              </a:ext>
            </a:extLst>
          </p:cNvPr>
          <p:cNvSpPr>
            <a:spLocks noGrp="1"/>
          </p:cNvSpPr>
          <p:nvPr>
            <p:ph type="dt" sz="half" idx="10"/>
          </p:nvPr>
        </p:nvSpPr>
        <p:spPr/>
        <p:txBody>
          <a:bodyPr/>
          <a:lstStyle/>
          <a:p>
            <a:fld id="{4BDC2062-6E7A-4594-8AA0-CC862D6C2B72}" type="datetimeFigureOut">
              <a:rPr lang="fr-FR" smtClean="0"/>
              <a:t>29/09/2026</a:t>
            </a:fld>
            <a:endParaRPr lang="fr-FR"/>
          </a:p>
        </p:txBody>
      </p:sp>
      <p:sp>
        <p:nvSpPr>
          <p:cNvPr id="5" name="Footer Placeholder 4">
            <a:extLst>
              <a:ext uri="{FF2B5EF4-FFF2-40B4-BE49-F238E27FC236}">
                <a16:creationId xmlns:a16="http://schemas.microsoft.com/office/drawing/2014/main" id="{F1011BE4-69F7-AD77-8BCF-D4A07E31D5F8}"/>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0BCCC25E-0590-FD43-18FF-0E44381D4E9E}"/>
              </a:ext>
            </a:extLst>
          </p:cNvPr>
          <p:cNvSpPr>
            <a:spLocks noGrp="1"/>
          </p:cNvSpPr>
          <p:nvPr>
            <p:ph type="sldNum" sz="quarter" idx="12"/>
          </p:nvPr>
        </p:nvSpPr>
        <p:spPr/>
        <p:txBody>
          <a:bodyPr/>
          <a:lstStyle/>
          <a:p>
            <a:fld id="{64B53A18-C0F4-4606-8A93-560A6BFAD2D3}" type="slidenum">
              <a:rPr lang="fr-FR" smtClean="0"/>
              <a:t>‹#›</a:t>
            </a:fld>
            <a:endParaRPr lang="fr-FR"/>
          </a:p>
        </p:txBody>
      </p:sp>
    </p:spTree>
    <p:extLst>
      <p:ext uri="{BB962C8B-B14F-4D97-AF65-F5344CB8AC3E}">
        <p14:creationId xmlns:p14="http://schemas.microsoft.com/office/powerpoint/2010/main" val="1403989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9D044-8043-0B05-8306-74637BE46F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a:extLst>
              <a:ext uri="{FF2B5EF4-FFF2-40B4-BE49-F238E27FC236}">
                <a16:creationId xmlns:a16="http://schemas.microsoft.com/office/drawing/2014/main" id="{CDE70645-0B5F-D8E8-63EA-D6820A1AB2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8D432E-6DB2-BE1B-1C06-6FCFCFBCE3B2}"/>
              </a:ext>
            </a:extLst>
          </p:cNvPr>
          <p:cNvSpPr>
            <a:spLocks noGrp="1"/>
          </p:cNvSpPr>
          <p:nvPr>
            <p:ph type="dt" sz="half" idx="10"/>
          </p:nvPr>
        </p:nvSpPr>
        <p:spPr/>
        <p:txBody>
          <a:bodyPr/>
          <a:lstStyle/>
          <a:p>
            <a:fld id="{4BDC2062-6E7A-4594-8AA0-CC862D6C2B72}" type="datetimeFigureOut">
              <a:rPr lang="fr-FR" smtClean="0"/>
              <a:t>29/09/2026</a:t>
            </a:fld>
            <a:endParaRPr lang="fr-FR"/>
          </a:p>
        </p:txBody>
      </p:sp>
      <p:sp>
        <p:nvSpPr>
          <p:cNvPr id="5" name="Footer Placeholder 4">
            <a:extLst>
              <a:ext uri="{FF2B5EF4-FFF2-40B4-BE49-F238E27FC236}">
                <a16:creationId xmlns:a16="http://schemas.microsoft.com/office/drawing/2014/main" id="{CEFE11E0-BA51-323C-CA78-DB0D4B6C565B}"/>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8A3BE12F-E686-C38E-62BB-46D179799079}"/>
              </a:ext>
            </a:extLst>
          </p:cNvPr>
          <p:cNvSpPr>
            <a:spLocks noGrp="1"/>
          </p:cNvSpPr>
          <p:nvPr>
            <p:ph type="sldNum" sz="quarter" idx="12"/>
          </p:nvPr>
        </p:nvSpPr>
        <p:spPr/>
        <p:txBody>
          <a:bodyPr/>
          <a:lstStyle/>
          <a:p>
            <a:fld id="{64B53A18-C0F4-4606-8A93-560A6BFAD2D3}" type="slidenum">
              <a:rPr lang="fr-FR" smtClean="0"/>
              <a:t>‹#›</a:t>
            </a:fld>
            <a:endParaRPr lang="fr-FR"/>
          </a:p>
        </p:txBody>
      </p:sp>
    </p:spTree>
    <p:extLst>
      <p:ext uri="{BB962C8B-B14F-4D97-AF65-F5344CB8AC3E}">
        <p14:creationId xmlns:p14="http://schemas.microsoft.com/office/powerpoint/2010/main" val="57873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39226-FAF3-B00D-B436-C12747DDB076}"/>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812FC885-3D02-32E4-4A70-745BA1E431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6F95EFCB-8F0C-833F-601F-D59910C6C04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58957883-2132-6ACF-B26D-218B10A41B00}"/>
              </a:ext>
            </a:extLst>
          </p:cNvPr>
          <p:cNvSpPr>
            <a:spLocks noGrp="1"/>
          </p:cNvSpPr>
          <p:nvPr>
            <p:ph type="dt" sz="half" idx="10"/>
          </p:nvPr>
        </p:nvSpPr>
        <p:spPr/>
        <p:txBody>
          <a:bodyPr/>
          <a:lstStyle/>
          <a:p>
            <a:fld id="{4BDC2062-6E7A-4594-8AA0-CC862D6C2B72}" type="datetimeFigureOut">
              <a:rPr lang="fr-FR" smtClean="0"/>
              <a:t>29/09/2026</a:t>
            </a:fld>
            <a:endParaRPr lang="fr-FR"/>
          </a:p>
        </p:txBody>
      </p:sp>
      <p:sp>
        <p:nvSpPr>
          <p:cNvPr id="6" name="Footer Placeholder 5">
            <a:extLst>
              <a:ext uri="{FF2B5EF4-FFF2-40B4-BE49-F238E27FC236}">
                <a16:creationId xmlns:a16="http://schemas.microsoft.com/office/drawing/2014/main" id="{2289F917-552F-B126-D9F6-E694CB91E7D1}"/>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98A221D2-7695-5D9F-FFD5-E498E313A850}"/>
              </a:ext>
            </a:extLst>
          </p:cNvPr>
          <p:cNvSpPr>
            <a:spLocks noGrp="1"/>
          </p:cNvSpPr>
          <p:nvPr>
            <p:ph type="sldNum" sz="quarter" idx="12"/>
          </p:nvPr>
        </p:nvSpPr>
        <p:spPr/>
        <p:txBody>
          <a:bodyPr/>
          <a:lstStyle/>
          <a:p>
            <a:fld id="{64B53A18-C0F4-4606-8A93-560A6BFAD2D3}" type="slidenum">
              <a:rPr lang="fr-FR" smtClean="0"/>
              <a:t>‹#›</a:t>
            </a:fld>
            <a:endParaRPr lang="fr-FR"/>
          </a:p>
        </p:txBody>
      </p:sp>
    </p:spTree>
    <p:extLst>
      <p:ext uri="{BB962C8B-B14F-4D97-AF65-F5344CB8AC3E}">
        <p14:creationId xmlns:p14="http://schemas.microsoft.com/office/powerpoint/2010/main" val="3818739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15F0C-9195-EF66-4170-B274087F43A1}"/>
              </a:ext>
            </a:extLst>
          </p:cNvPr>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3A1847E9-B8C0-B6F9-A918-4B0E6CD969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9F8AAD-EC3E-0E24-0190-481FFE1A2C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8E7A32C3-0F85-8732-21E3-C51B166F7C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92E302-C262-20CA-683A-7F57726954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44A36FD1-A8AE-1528-F29B-5104196F0421}"/>
              </a:ext>
            </a:extLst>
          </p:cNvPr>
          <p:cNvSpPr>
            <a:spLocks noGrp="1"/>
          </p:cNvSpPr>
          <p:nvPr>
            <p:ph type="dt" sz="half" idx="10"/>
          </p:nvPr>
        </p:nvSpPr>
        <p:spPr/>
        <p:txBody>
          <a:bodyPr/>
          <a:lstStyle/>
          <a:p>
            <a:fld id="{4BDC2062-6E7A-4594-8AA0-CC862D6C2B72}" type="datetimeFigureOut">
              <a:rPr lang="fr-FR" smtClean="0"/>
              <a:t>29/09/2026</a:t>
            </a:fld>
            <a:endParaRPr lang="fr-FR"/>
          </a:p>
        </p:txBody>
      </p:sp>
      <p:sp>
        <p:nvSpPr>
          <p:cNvPr id="8" name="Footer Placeholder 7">
            <a:extLst>
              <a:ext uri="{FF2B5EF4-FFF2-40B4-BE49-F238E27FC236}">
                <a16:creationId xmlns:a16="http://schemas.microsoft.com/office/drawing/2014/main" id="{23F031F6-CEEC-5683-CBCD-811976C4C835}"/>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15464CD9-1886-CF40-500F-FA81BA27101C}"/>
              </a:ext>
            </a:extLst>
          </p:cNvPr>
          <p:cNvSpPr>
            <a:spLocks noGrp="1"/>
          </p:cNvSpPr>
          <p:nvPr>
            <p:ph type="sldNum" sz="quarter" idx="12"/>
          </p:nvPr>
        </p:nvSpPr>
        <p:spPr/>
        <p:txBody>
          <a:bodyPr/>
          <a:lstStyle/>
          <a:p>
            <a:fld id="{64B53A18-C0F4-4606-8A93-560A6BFAD2D3}" type="slidenum">
              <a:rPr lang="fr-FR" smtClean="0"/>
              <a:t>‹#›</a:t>
            </a:fld>
            <a:endParaRPr lang="fr-FR"/>
          </a:p>
        </p:txBody>
      </p:sp>
    </p:spTree>
    <p:extLst>
      <p:ext uri="{BB962C8B-B14F-4D97-AF65-F5344CB8AC3E}">
        <p14:creationId xmlns:p14="http://schemas.microsoft.com/office/powerpoint/2010/main" val="2907187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BF7B7-54C1-2BCC-C55D-0D279464A9B7}"/>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4AD9A7C9-0128-4EF6-2228-07F8CF08FAD4}"/>
              </a:ext>
            </a:extLst>
          </p:cNvPr>
          <p:cNvSpPr>
            <a:spLocks noGrp="1"/>
          </p:cNvSpPr>
          <p:nvPr>
            <p:ph type="dt" sz="half" idx="10"/>
          </p:nvPr>
        </p:nvSpPr>
        <p:spPr/>
        <p:txBody>
          <a:bodyPr/>
          <a:lstStyle/>
          <a:p>
            <a:fld id="{4BDC2062-6E7A-4594-8AA0-CC862D6C2B72}" type="datetimeFigureOut">
              <a:rPr lang="fr-FR" smtClean="0"/>
              <a:t>29/09/2026</a:t>
            </a:fld>
            <a:endParaRPr lang="fr-FR"/>
          </a:p>
        </p:txBody>
      </p:sp>
      <p:sp>
        <p:nvSpPr>
          <p:cNvPr id="4" name="Footer Placeholder 3">
            <a:extLst>
              <a:ext uri="{FF2B5EF4-FFF2-40B4-BE49-F238E27FC236}">
                <a16:creationId xmlns:a16="http://schemas.microsoft.com/office/drawing/2014/main" id="{EB2F1362-DE8D-89FC-5F75-6D76C33B7F8E}"/>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4B3841CF-A51F-F88D-BFCE-E15EC47F32F1}"/>
              </a:ext>
            </a:extLst>
          </p:cNvPr>
          <p:cNvSpPr>
            <a:spLocks noGrp="1"/>
          </p:cNvSpPr>
          <p:nvPr>
            <p:ph type="sldNum" sz="quarter" idx="12"/>
          </p:nvPr>
        </p:nvSpPr>
        <p:spPr/>
        <p:txBody>
          <a:bodyPr/>
          <a:lstStyle/>
          <a:p>
            <a:fld id="{64B53A18-C0F4-4606-8A93-560A6BFAD2D3}" type="slidenum">
              <a:rPr lang="fr-FR" smtClean="0"/>
              <a:t>‹#›</a:t>
            </a:fld>
            <a:endParaRPr lang="fr-FR"/>
          </a:p>
        </p:txBody>
      </p:sp>
    </p:spTree>
    <p:extLst>
      <p:ext uri="{BB962C8B-B14F-4D97-AF65-F5344CB8AC3E}">
        <p14:creationId xmlns:p14="http://schemas.microsoft.com/office/powerpoint/2010/main" val="2968973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F3B53C-D80E-78FB-308A-BBCFABFCAF5A}"/>
              </a:ext>
            </a:extLst>
          </p:cNvPr>
          <p:cNvSpPr>
            <a:spLocks noGrp="1"/>
          </p:cNvSpPr>
          <p:nvPr>
            <p:ph type="dt" sz="half" idx="10"/>
          </p:nvPr>
        </p:nvSpPr>
        <p:spPr/>
        <p:txBody>
          <a:bodyPr/>
          <a:lstStyle/>
          <a:p>
            <a:fld id="{4BDC2062-6E7A-4594-8AA0-CC862D6C2B72}" type="datetimeFigureOut">
              <a:rPr lang="fr-FR" smtClean="0"/>
              <a:t>29/09/2026</a:t>
            </a:fld>
            <a:endParaRPr lang="fr-FR"/>
          </a:p>
        </p:txBody>
      </p:sp>
      <p:sp>
        <p:nvSpPr>
          <p:cNvPr id="3" name="Footer Placeholder 2">
            <a:extLst>
              <a:ext uri="{FF2B5EF4-FFF2-40B4-BE49-F238E27FC236}">
                <a16:creationId xmlns:a16="http://schemas.microsoft.com/office/drawing/2014/main" id="{DD2D69DB-FAB6-49BA-3D9D-95D4D5D913A3}"/>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86D87715-9066-BFA8-8AC8-7EAC4094EF5B}"/>
              </a:ext>
            </a:extLst>
          </p:cNvPr>
          <p:cNvSpPr>
            <a:spLocks noGrp="1"/>
          </p:cNvSpPr>
          <p:nvPr>
            <p:ph type="sldNum" sz="quarter" idx="12"/>
          </p:nvPr>
        </p:nvSpPr>
        <p:spPr/>
        <p:txBody>
          <a:bodyPr/>
          <a:lstStyle/>
          <a:p>
            <a:fld id="{64B53A18-C0F4-4606-8A93-560A6BFAD2D3}" type="slidenum">
              <a:rPr lang="fr-FR" smtClean="0"/>
              <a:t>‹#›</a:t>
            </a:fld>
            <a:endParaRPr lang="fr-FR"/>
          </a:p>
        </p:txBody>
      </p:sp>
    </p:spTree>
    <p:extLst>
      <p:ext uri="{BB962C8B-B14F-4D97-AF65-F5344CB8AC3E}">
        <p14:creationId xmlns:p14="http://schemas.microsoft.com/office/powerpoint/2010/main" val="3811960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DA97B-5608-05A6-5B59-01FB16A0B0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59EC406F-71B4-4613-7139-A789AAE2CD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849F7945-FDA2-2CB3-300D-06CAC6D31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5A5D6F-5E5B-A94B-490B-A9616A9B638C}"/>
              </a:ext>
            </a:extLst>
          </p:cNvPr>
          <p:cNvSpPr>
            <a:spLocks noGrp="1"/>
          </p:cNvSpPr>
          <p:nvPr>
            <p:ph type="dt" sz="half" idx="10"/>
          </p:nvPr>
        </p:nvSpPr>
        <p:spPr/>
        <p:txBody>
          <a:bodyPr/>
          <a:lstStyle/>
          <a:p>
            <a:fld id="{4BDC2062-6E7A-4594-8AA0-CC862D6C2B72}" type="datetimeFigureOut">
              <a:rPr lang="fr-FR" smtClean="0"/>
              <a:t>29/09/2026</a:t>
            </a:fld>
            <a:endParaRPr lang="fr-FR"/>
          </a:p>
        </p:txBody>
      </p:sp>
      <p:sp>
        <p:nvSpPr>
          <p:cNvPr id="6" name="Footer Placeholder 5">
            <a:extLst>
              <a:ext uri="{FF2B5EF4-FFF2-40B4-BE49-F238E27FC236}">
                <a16:creationId xmlns:a16="http://schemas.microsoft.com/office/drawing/2014/main" id="{833D0695-3EB2-C179-DFAD-1E9966E8916F}"/>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9B659489-36B6-EE3A-3B4A-3C1690714862}"/>
              </a:ext>
            </a:extLst>
          </p:cNvPr>
          <p:cNvSpPr>
            <a:spLocks noGrp="1"/>
          </p:cNvSpPr>
          <p:nvPr>
            <p:ph type="sldNum" sz="quarter" idx="12"/>
          </p:nvPr>
        </p:nvSpPr>
        <p:spPr/>
        <p:txBody>
          <a:bodyPr/>
          <a:lstStyle/>
          <a:p>
            <a:fld id="{64B53A18-C0F4-4606-8A93-560A6BFAD2D3}" type="slidenum">
              <a:rPr lang="fr-FR" smtClean="0"/>
              <a:t>‹#›</a:t>
            </a:fld>
            <a:endParaRPr lang="fr-FR"/>
          </a:p>
        </p:txBody>
      </p:sp>
    </p:spTree>
    <p:extLst>
      <p:ext uri="{BB962C8B-B14F-4D97-AF65-F5344CB8AC3E}">
        <p14:creationId xmlns:p14="http://schemas.microsoft.com/office/powerpoint/2010/main" val="1302043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764D4-2E92-6BD8-2143-528ABA7C1D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a:extLst>
              <a:ext uri="{FF2B5EF4-FFF2-40B4-BE49-F238E27FC236}">
                <a16:creationId xmlns:a16="http://schemas.microsoft.com/office/drawing/2014/main" id="{8D0983D2-4E49-12A5-E397-8E77AF75F3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BB8A7BDF-7CB5-14CC-006A-53118C6586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5BDC58-6717-7269-E95E-0987E8A97C74}"/>
              </a:ext>
            </a:extLst>
          </p:cNvPr>
          <p:cNvSpPr>
            <a:spLocks noGrp="1"/>
          </p:cNvSpPr>
          <p:nvPr>
            <p:ph type="dt" sz="half" idx="10"/>
          </p:nvPr>
        </p:nvSpPr>
        <p:spPr/>
        <p:txBody>
          <a:bodyPr/>
          <a:lstStyle/>
          <a:p>
            <a:fld id="{4BDC2062-6E7A-4594-8AA0-CC862D6C2B72}" type="datetimeFigureOut">
              <a:rPr lang="fr-FR" smtClean="0"/>
              <a:t>29/09/2026</a:t>
            </a:fld>
            <a:endParaRPr lang="fr-FR"/>
          </a:p>
        </p:txBody>
      </p:sp>
      <p:sp>
        <p:nvSpPr>
          <p:cNvPr id="6" name="Footer Placeholder 5">
            <a:extLst>
              <a:ext uri="{FF2B5EF4-FFF2-40B4-BE49-F238E27FC236}">
                <a16:creationId xmlns:a16="http://schemas.microsoft.com/office/drawing/2014/main" id="{3BBB5421-C6D6-EC59-FFC2-6CE8E48F76A7}"/>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3E4FEA39-E95D-A614-37E3-26AA45038CFB}"/>
              </a:ext>
            </a:extLst>
          </p:cNvPr>
          <p:cNvSpPr>
            <a:spLocks noGrp="1"/>
          </p:cNvSpPr>
          <p:nvPr>
            <p:ph type="sldNum" sz="quarter" idx="12"/>
          </p:nvPr>
        </p:nvSpPr>
        <p:spPr/>
        <p:txBody>
          <a:bodyPr/>
          <a:lstStyle/>
          <a:p>
            <a:fld id="{64B53A18-C0F4-4606-8A93-560A6BFAD2D3}" type="slidenum">
              <a:rPr lang="fr-FR" smtClean="0"/>
              <a:t>‹#›</a:t>
            </a:fld>
            <a:endParaRPr lang="fr-FR"/>
          </a:p>
        </p:txBody>
      </p:sp>
    </p:spTree>
    <p:extLst>
      <p:ext uri="{BB962C8B-B14F-4D97-AF65-F5344CB8AC3E}">
        <p14:creationId xmlns:p14="http://schemas.microsoft.com/office/powerpoint/2010/main" val="2080484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B809E-5167-A68C-4651-57E05ACD8D0E}"/>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E9F2C5B1-8F48-FF14-1E62-FC891D10D3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BFF34BD2-6AE5-D61A-7FA8-E4095E0DC070}"/>
              </a:ext>
            </a:extLst>
          </p:cNvPr>
          <p:cNvSpPr>
            <a:spLocks noGrp="1"/>
          </p:cNvSpPr>
          <p:nvPr>
            <p:ph type="dt" sz="half" idx="10"/>
          </p:nvPr>
        </p:nvSpPr>
        <p:spPr/>
        <p:txBody>
          <a:bodyPr/>
          <a:lstStyle/>
          <a:p>
            <a:fld id="{4BDC2062-6E7A-4594-8AA0-CC862D6C2B72}" type="datetimeFigureOut">
              <a:rPr lang="fr-FR" smtClean="0"/>
              <a:t>29/09/2026</a:t>
            </a:fld>
            <a:endParaRPr lang="fr-FR"/>
          </a:p>
        </p:txBody>
      </p:sp>
      <p:sp>
        <p:nvSpPr>
          <p:cNvPr id="5" name="Footer Placeholder 4">
            <a:extLst>
              <a:ext uri="{FF2B5EF4-FFF2-40B4-BE49-F238E27FC236}">
                <a16:creationId xmlns:a16="http://schemas.microsoft.com/office/drawing/2014/main" id="{0441757E-3BFB-F975-1187-6A2213E335D1}"/>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24A44003-B9CD-4403-6552-DBB0A1CE7F81}"/>
              </a:ext>
            </a:extLst>
          </p:cNvPr>
          <p:cNvSpPr>
            <a:spLocks noGrp="1"/>
          </p:cNvSpPr>
          <p:nvPr>
            <p:ph type="sldNum" sz="quarter" idx="12"/>
          </p:nvPr>
        </p:nvSpPr>
        <p:spPr/>
        <p:txBody>
          <a:bodyPr/>
          <a:lstStyle/>
          <a:p>
            <a:fld id="{64B53A18-C0F4-4606-8A93-560A6BFAD2D3}" type="slidenum">
              <a:rPr lang="fr-FR" smtClean="0"/>
              <a:t>‹#›</a:t>
            </a:fld>
            <a:endParaRPr lang="fr-FR"/>
          </a:p>
        </p:txBody>
      </p:sp>
    </p:spTree>
    <p:extLst>
      <p:ext uri="{BB962C8B-B14F-4D97-AF65-F5344CB8AC3E}">
        <p14:creationId xmlns:p14="http://schemas.microsoft.com/office/powerpoint/2010/main" val="1727058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6DECCA-5038-748F-E4D3-30CC4EBBF3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E9693D91-CF78-488F-819D-E08B3BBD79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AB41F554-EA90-F39D-2CC5-9EF662E13A43}"/>
              </a:ext>
            </a:extLst>
          </p:cNvPr>
          <p:cNvSpPr>
            <a:spLocks noGrp="1"/>
          </p:cNvSpPr>
          <p:nvPr>
            <p:ph type="dt" sz="half" idx="10"/>
          </p:nvPr>
        </p:nvSpPr>
        <p:spPr/>
        <p:txBody>
          <a:bodyPr/>
          <a:lstStyle/>
          <a:p>
            <a:fld id="{4BDC2062-6E7A-4594-8AA0-CC862D6C2B72}" type="datetimeFigureOut">
              <a:rPr lang="fr-FR" smtClean="0"/>
              <a:t>29/09/2026</a:t>
            </a:fld>
            <a:endParaRPr lang="fr-FR"/>
          </a:p>
        </p:txBody>
      </p:sp>
      <p:sp>
        <p:nvSpPr>
          <p:cNvPr id="5" name="Footer Placeholder 4">
            <a:extLst>
              <a:ext uri="{FF2B5EF4-FFF2-40B4-BE49-F238E27FC236}">
                <a16:creationId xmlns:a16="http://schemas.microsoft.com/office/drawing/2014/main" id="{C12E9CEC-5F10-C13B-029E-E2BEE3FB6E35}"/>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A392FF3E-6C87-3937-24F7-391A99A950AB}"/>
              </a:ext>
            </a:extLst>
          </p:cNvPr>
          <p:cNvSpPr>
            <a:spLocks noGrp="1"/>
          </p:cNvSpPr>
          <p:nvPr>
            <p:ph type="sldNum" sz="quarter" idx="12"/>
          </p:nvPr>
        </p:nvSpPr>
        <p:spPr/>
        <p:txBody>
          <a:bodyPr/>
          <a:lstStyle/>
          <a:p>
            <a:fld id="{64B53A18-C0F4-4606-8A93-560A6BFAD2D3}" type="slidenum">
              <a:rPr lang="fr-FR" smtClean="0"/>
              <a:t>‹#›</a:t>
            </a:fld>
            <a:endParaRPr lang="fr-FR"/>
          </a:p>
        </p:txBody>
      </p:sp>
    </p:spTree>
    <p:extLst>
      <p:ext uri="{BB962C8B-B14F-4D97-AF65-F5344CB8AC3E}">
        <p14:creationId xmlns:p14="http://schemas.microsoft.com/office/powerpoint/2010/main" val="1224843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056F67-8D88-98FE-3969-1399AD1652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FR"/>
          </a:p>
        </p:txBody>
      </p:sp>
      <p:sp>
        <p:nvSpPr>
          <p:cNvPr id="3" name="Text Placeholder 2">
            <a:extLst>
              <a:ext uri="{FF2B5EF4-FFF2-40B4-BE49-F238E27FC236}">
                <a16:creationId xmlns:a16="http://schemas.microsoft.com/office/drawing/2014/main" id="{A7B8B2EA-AFF6-6AA2-0336-C263ECF8E2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5C7DAB46-C55A-8DC7-818A-77CFE3DDF2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DC2062-6E7A-4594-8AA0-CC862D6C2B72}" type="datetimeFigureOut">
              <a:rPr lang="fr-FR" smtClean="0"/>
              <a:t>29/09/2026</a:t>
            </a:fld>
            <a:endParaRPr lang="fr-FR"/>
          </a:p>
        </p:txBody>
      </p:sp>
      <p:sp>
        <p:nvSpPr>
          <p:cNvPr id="5" name="Footer Placeholder 4">
            <a:extLst>
              <a:ext uri="{FF2B5EF4-FFF2-40B4-BE49-F238E27FC236}">
                <a16:creationId xmlns:a16="http://schemas.microsoft.com/office/drawing/2014/main" id="{E204ECA4-AD84-8C4D-2277-65E5FD3D18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Slide Number Placeholder 5">
            <a:extLst>
              <a:ext uri="{FF2B5EF4-FFF2-40B4-BE49-F238E27FC236}">
                <a16:creationId xmlns:a16="http://schemas.microsoft.com/office/drawing/2014/main" id="{5EFB3551-697D-F9D6-4FB4-6D2F3C04DC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4B53A18-C0F4-4606-8A93-560A6BFAD2D3}" type="slidenum">
              <a:rPr lang="fr-FR" smtClean="0"/>
              <a:t>‹#›</a:t>
            </a:fld>
            <a:endParaRPr lang="fr-FR"/>
          </a:p>
        </p:txBody>
      </p:sp>
    </p:spTree>
    <p:extLst>
      <p:ext uri="{BB962C8B-B14F-4D97-AF65-F5344CB8AC3E}">
        <p14:creationId xmlns:p14="http://schemas.microsoft.com/office/powerpoint/2010/main" val="25203369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FG-TIDA/use-cases"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github.com/FG-TIDA/use-cases/issues/new/choose"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FG-TIDA/use-cases/issues"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FG-TIDA/spec-template"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hyperlink" Target="https://github.com/FG-TIDA/wg1-ra-aai" TargetMode="External"/><Relationship Id="rId4" Type="http://schemas.openxmlformats.org/officeDocument/2006/relationships/hyperlink" Target="https://fg-tida.github.io/wg1-ra-aai/"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s://github.com/FG-TIDA/themes/issues/2" TargetMode="External"/><Relationship Id="rId3" Type="http://schemas.openxmlformats.org/officeDocument/2006/relationships/image" Target="../media/image3.png"/><Relationship Id="rId7" Type="http://schemas.openxmlformats.org/officeDocument/2006/relationships/hyperlink" Target="https://github.com/FG-TIDA/themes/issues/18"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github.com/FG-TIDA/themes/issues/23" TargetMode="External"/><Relationship Id="rId5" Type="http://schemas.openxmlformats.org/officeDocument/2006/relationships/hyperlink" Target="https://github.com/FG-TIDA/themes/issues/25" TargetMode="External"/><Relationship Id="rId4" Type="http://schemas.openxmlformats.org/officeDocument/2006/relationships/hyperlink" Target="https://github.com/FG-TIDA/themes/issues/22"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s://github.com/FG-TIDA"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itu.int/en/ITU-T/focusgroups/tida/Pages/default.aspx"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67314-3688-B3A5-6652-B011C8A5ADE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87B9139-E6DB-AAB8-6936-82D803A57264}"/>
              </a:ext>
            </a:extLst>
          </p:cNvPr>
          <p:cNvSpPr/>
          <p:nvPr/>
        </p:nvSpPr>
        <p:spPr>
          <a:xfrm>
            <a:off x="0" y="-35169"/>
            <a:ext cx="12192000" cy="3621032"/>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A6CCEB54-71A6-27BE-D631-346C836DF926}"/>
              </a:ext>
            </a:extLst>
          </p:cNvPr>
          <p:cNvSpPr>
            <a:spLocks noGrp="1"/>
          </p:cNvSpPr>
          <p:nvPr>
            <p:ph type="ctrTitle"/>
          </p:nvPr>
        </p:nvSpPr>
        <p:spPr>
          <a:xfrm>
            <a:off x="1524000" y="581547"/>
            <a:ext cx="9144000" cy="2387600"/>
          </a:xfrm>
        </p:spPr>
        <p:txBody>
          <a:bodyPr/>
          <a:lstStyle/>
          <a:p>
            <a:r>
              <a:rPr lang="en-GB" noProof="0" dirty="0">
                <a:solidFill>
                  <a:schemeClr val="bg1"/>
                </a:solidFill>
              </a:rPr>
              <a:t>Auto-reporting tools </a:t>
            </a:r>
          </a:p>
        </p:txBody>
      </p:sp>
      <p:pic>
        <p:nvPicPr>
          <p:cNvPr id="5" name="Graphic 4">
            <a:extLst>
              <a:ext uri="{FF2B5EF4-FFF2-40B4-BE49-F238E27FC236}">
                <a16:creationId xmlns:a16="http://schemas.microsoft.com/office/drawing/2014/main" id="{89F5CFE6-F155-2E75-5308-3553512A50C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01467" y="3585863"/>
            <a:ext cx="2789066" cy="3281254"/>
          </a:xfrm>
          <a:prstGeom prst="rect">
            <a:avLst/>
          </a:prstGeom>
        </p:spPr>
      </p:pic>
      <p:pic>
        <p:nvPicPr>
          <p:cNvPr id="8" name="Picture 7">
            <a:extLst>
              <a:ext uri="{FF2B5EF4-FFF2-40B4-BE49-F238E27FC236}">
                <a16:creationId xmlns:a16="http://schemas.microsoft.com/office/drawing/2014/main" id="{8E3ECE8D-7960-85D1-18C1-C36F143DF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734663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AD41E-25A3-12DB-3259-70B661AE252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92A7C3BC-CD5D-7DB2-4ABC-D91FEF400F58}"/>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D8E3F4F8-1963-7D7C-97ED-AFCB14B50306}"/>
              </a:ext>
            </a:extLst>
          </p:cNvPr>
          <p:cNvSpPr>
            <a:spLocks noGrp="1"/>
          </p:cNvSpPr>
          <p:nvPr>
            <p:ph type="title"/>
          </p:nvPr>
        </p:nvSpPr>
        <p:spPr>
          <a:xfrm>
            <a:off x="341085" y="219392"/>
            <a:ext cx="10515600" cy="1325563"/>
          </a:xfrm>
        </p:spPr>
        <p:txBody>
          <a:bodyPr/>
          <a:lstStyle/>
          <a:p>
            <a:r>
              <a:rPr lang="en-US" dirty="0">
                <a:solidFill>
                  <a:schemeClr val="bg1"/>
                </a:solidFill>
              </a:rPr>
              <a:t>Agenda</a:t>
            </a:r>
            <a:endParaRPr lang="en-GB" noProof="0" dirty="0">
              <a:solidFill>
                <a:schemeClr val="bg1"/>
              </a:solidFill>
            </a:endParaRPr>
          </a:p>
        </p:txBody>
      </p:sp>
      <p:pic>
        <p:nvPicPr>
          <p:cNvPr id="13" name="Picture 12">
            <a:extLst>
              <a:ext uri="{FF2B5EF4-FFF2-40B4-BE49-F238E27FC236}">
                <a16:creationId xmlns:a16="http://schemas.microsoft.com/office/drawing/2014/main" id="{B744122D-5091-3C14-4BF7-04AC423C7E0F}"/>
              </a:ext>
            </a:extLst>
          </p:cNvPr>
          <p:cNvPicPr>
            <a:picLocks noChangeAspect="1"/>
          </p:cNvPicPr>
          <p:nvPr/>
        </p:nvPicPr>
        <p:blipFill>
          <a:blip r:embed="rId2"/>
          <a:stretch>
            <a:fillRect/>
          </a:stretch>
        </p:blipFill>
        <p:spPr>
          <a:xfrm>
            <a:off x="9958212" y="107366"/>
            <a:ext cx="2064271" cy="696502"/>
          </a:xfrm>
          <a:prstGeom prst="rect">
            <a:avLst/>
          </a:prstGeom>
        </p:spPr>
      </p:pic>
      <p:sp>
        <p:nvSpPr>
          <p:cNvPr id="15" name="TextBox 14">
            <a:extLst>
              <a:ext uri="{FF2B5EF4-FFF2-40B4-BE49-F238E27FC236}">
                <a16:creationId xmlns:a16="http://schemas.microsoft.com/office/drawing/2014/main" id="{8216A7EC-A3C1-9A40-7642-DACAFDD937DE}"/>
              </a:ext>
            </a:extLst>
          </p:cNvPr>
          <p:cNvSpPr txBox="1"/>
          <p:nvPr/>
        </p:nvSpPr>
        <p:spPr>
          <a:xfrm>
            <a:off x="805543" y="2348943"/>
            <a:ext cx="10961915" cy="2677656"/>
          </a:xfrm>
          <a:prstGeom prst="rect">
            <a:avLst/>
          </a:prstGeom>
          <a:noFill/>
        </p:spPr>
        <p:txBody>
          <a:bodyPr wrap="square">
            <a:spAutoFit/>
          </a:bodyPr>
          <a:lstStyle/>
          <a:p>
            <a:pPr marL="285750" lvl="0" indent="-285750">
              <a:buFont typeface="Arial" panose="020B0604020202020204" pitchFamily="34" charset="0"/>
              <a:buChar char="•"/>
            </a:pPr>
            <a:r>
              <a:rPr lang="en-US" sz="2400" dirty="0"/>
              <a:t>Opening remarks and agenda adoption;</a:t>
            </a:r>
          </a:p>
          <a:p>
            <a:pPr marL="285750" lvl="0" indent="-285750">
              <a:buFont typeface="Arial" panose="020B0604020202020204" pitchFamily="34" charset="0"/>
              <a:buChar char="•"/>
            </a:pPr>
            <a:r>
              <a:rPr lang="en-US" sz="2400" b="1" dirty="0"/>
              <a:t>Quick recap </a:t>
            </a:r>
            <a:r>
              <a:rPr lang="en-US" sz="2400" dirty="0"/>
              <a:t>on what is new:</a:t>
            </a:r>
          </a:p>
          <a:p>
            <a:pPr marL="742950" lvl="1" indent="-285750">
              <a:buFont typeface="Arial" panose="020B0604020202020204" pitchFamily="34" charset="0"/>
              <a:buChar char="•"/>
            </a:pPr>
            <a:r>
              <a:rPr lang="en-US" sz="2400" dirty="0"/>
              <a:t>Use cases WG</a:t>
            </a:r>
          </a:p>
          <a:p>
            <a:pPr marL="742950" lvl="1" indent="-285750">
              <a:buFont typeface="Arial" panose="020B0604020202020204" pitchFamily="34" charset="0"/>
              <a:buChar char="•"/>
            </a:pPr>
            <a:r>
              <a:rPr lang="en-US" sz="2400" dirty="0"/>
              <a:t>Specification template</a:t>
            </a:r>
          </a:p>
          <a:p>
            <a:pPr marL="285750" lvl="0" indent="-285750">
              <a:buFont typeface="Arial" panose="020B0604020202020204" pitchFamily="34" charset="0"/>
              <a:buChar char="•"/>
            </a:pPr>
            <a:r>
              <a:rPr lang="en-US" sz="2400" b="1" dirty="0"/>
              <a:t>5 selected presentations on themes proposals </a:t>
            </a:r>
            <a:r>
              <a:rPr lang="en-US" sz="2400" dirty="0"/>
              <a:t>(more in the next meetings)</a:t>
            </a:r>
          </a:p>
          <a:p>
            <a:pPr marL="285750" lvl="0" indent="-285750">
              <a:buFont typeface="Arial" panose="020B0604020202020204" pitchFamily="34" charset="0"/>
              <a:buChar char="•"/>
            </a:pPr>
            <a:r>
              <a:rPr lang="en-US" sz="2400" dirty="0"/>
              <a:t>How ITU process works </a:t>
            </a:r>
          </a:p>
          <a:p>
            <a:pPr marL="285750" lvl="0" indent="-285750">
              <a:buFont typeface="Arial" panose="020B0604020202020204" pitchFamily="34" charset="0"/>
              <a:buChar char="•"/>
            </a:pPr>
            <a:r>
              <a:rPr lang="en-US" sz="2400" dirty="0"/>
              <a:t>AOB</a:t>
            </a:r>
          </a:p>
        </p:txBody>
      </p:sp>
    </p:spTree>
    <p:extLst>
      <p:ext uri="{BB962C8B-B14F-4D97-AF65-F5344CB8AC3E}">
        <p14:creationId xmlns:p14="http://schemas.microsoft.com/office/powerpoint/2010/main" val="4265614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CA491-4E45-9843-E681-B4BE7268E29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49FC777-9002-4A1A-D367-D1C54D9212C4}"/>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9FCBE4D9-650D-ABEC-E2A8-7975FCA7CE8A}"/>
              </a:ext>
            </a:extLst>
          </p:cNvPr>
          <p:cNvSpPr>
            <a:spLocks noGrp="1"/>
          </p:cNvSpPr>
          <p:nvPr>
            <p:ph type="title"/>
          </p:nvPr>
        </p:nvSpPr>
        <p:spPr>
          <a:xfrm>
            <a:off x="341085" y="219392"/>
            <a:ext cx="10515600" cy="1325563"/>
          </a:xfrm>
        </p:spPr>
        <p:txBody>
          <a:bodyPr/>
          <a:lstStyle/>
          <a:p>
            <a:r>
              <a:rPr lang="en-US" noProof="0" dirty="0">
                <a:solidFill>
                  <a:schemeClr val="bg1"/>
                </a:solidFill>
              </a:rPr>
              <a:t>NEW! Use Cas</a:t>
            </a:r>
            <a:r>
              <a:rPr lang="en-US" dirty="0">
                <a:solidFill>
                  <a:schemeClr val="bg1"/>
                </a:solidFill>
              </a:rPr>
              <a:t>es WG</a:t>
            </a:r>
            <a:endParaRPr lang="en-GB" noProof="0" dirty="0">
              <a:solidFill>
                <a:schemeClr val="bg1"/>
              </a:solidFill>
            </a:endParaRPr>
          </a:p>
        </p:txBody>
      </p:sp>
      <p:pic>
        <p:nvPicPr>
          <p:cNvPr id="13" name="Picture 12">
            <a:extLst>
              <a:ext uri="{FF2B5EF4-FFF2-40B4-BE49-F238E27FC236}">
                <a16:creationId xmlns:a16="http://schemas.microsoft.com/office/drawing/2014/main" id="{4D38607F-5839-C8DC-1B84-9CE98D06DDDC}"/>
              </a:ext>
            </a:extLst>
          </p:cNvPr>
          <p:cNvPicPr>
            <a:picLocks noChangeAspect="1"/>
          </p:cNvPicPr>
          <p:nvPr/>
        </p:nvPicPr>
        <p:blipFill>
          <a:blip r:embed="rId2"/>
          <a:stretch>
            <a:fillRect/>
          </a:stretch>
        </p:blipFill>
        <p:spPr>
          <a:xfrm>
            <a:off x="9958212" y="107366"/>
            <a:ext cx="2064271" cy="696502"/>
          </a:xfrm>
          <a:prstGeom prst="rect">
            <a:avLst/>
          </a:prstGeom>
        </p:spPr>
      </p:pic>
      <p:sp>
        <p:nvSpPr>
          <p:cNvPr id="15" name="TextBox 14">
            <a:extLst>
              <a:ext uri="{FF2B5EF4-FFF2-40B4-BE49-F238E27FC236}">
                <a16:creationId xmlns:a16="http://schemas.microsoft.com/office/drawing/2014/main" id="{93BF67D9-A72B-55D1-FF4A-8B6215892351}"/>
              </a:ext>
            </a:extLst>
          </p:cNvPr>
          <p:cNvSpPr txBox="1"/>
          <p:nvPr/>
        </p:nvSpPr>
        <p:spPr>
          <a:xfrm>
            <a:off x="615042" y="2021960"/>
            <a:ext cx="10961915" cy="4893647"/>
          </a:xfrm>
          <a:prstGeom prst="rect">
            <a:avLst/>
          </a:prstGeom>
          <a:noFill/>
        </p:spPr>
        <p:txBody>
          <a:bodyPr wrap="square">
            <a:spAutoFit/>
          </a:bodyPr>
          <a:lstStyle/>
          <a:p>
            <a:r>
              <a:rPr lang="en-US" sz="2400" dirty="0"/>
              <a:t>WG on use cases and it is now accepting submissions in the </a:t>
            </a:r>
            <a:r>
              <a:rPr lang="en-US" sz="2400" u="sng" dirty="0">
                <a:hlinkClick r:id="rId3"/>
              </a:rPr>
              <a:t>use cases repository</a:t>
            </a:r>
            <a:r>
              <a:rPr lang="en-US" sz="2400" dirty="0"/>
              <a:t>.</a:t>
            </a:r>
          </a:p>
          <a:p>
            <a:r>
              <a:rPr lang="en-US" sz="2400" dirty="0"/>
              <a:t> </a:t>
            </a:r>
          </a:p>
          <a:p>
            <a:r>
              <a:rPr lang="en-US" sz="2400" b="1" dirty="0"/>
              <a:t>Why?</a:t>
            </a:r>
          </a:p>
          <a:p>
            <a:r>
              <a:rPr lang="en-US" sz="2400" dirty="0"/>
              <a:t>Use cases ground the Focus Group's work in concrete situations: who is acting, what they are doing, what fails today, and what would need to exist for it to work. They will feed into theme scoping and, in turn, into FG-TIDA's deliverables.</a:t>
            </a:r>
          </a:p>
          <a:p>
            <a:r>
              <a:rPr lang="en-US" sz="2400" dirty="0"/>
              <a:t> </a:t>
            </a:r>
          </a:p>
          <a:p>
            <a:r>
              <a:rPr lang="en-US" sz="2400" b="1" dirty="0"/>
              <a:t>To contribute:</a:t>
            </a:r>
          </a:p>
          <a:p>
            <a:pPr marL="342900" lvl="0" indent="-342900">
              <a:buFont typeface="+mj-lt"/>
              <a:buAutoNum type="arabicPeriod"/>
            </a:pPr>
            <a:r>
              <a:rPr lang="en-US" sz="2400" u="sng" dirty="0">
                <a:hlinkClick r:id="rId4"/>
              </a:rPr>
              <a:t>Open a new Issue</a:t>
            </a:r>
            <a:r>
              <a:rPr lang="en-US" sz="2400" dirty="0"/>
              <a:t> in the repository and complete all required fields. (template was presented during last call)</a:t>
            </a:r>
          </a:p>
          <a:p>
            <a:pPr marL="342900" lvl="0" indent="-342900">
              <a:buFont typeface="+mj-lt"/>
              <a:buAutoNum type="arabicPeriod"/>
            </a:pPr>
            <a:r>
              <a:rPr lang="en-US" sz="2400" dirty="0"/>
              <a:t>Once your issue is open, add a row to the index table in the </a:t>
            </a:r>
            <a:r>
              <a:rPr lang="en-US" sz="2400" u="sng" dirty="0">
                <a:hlinkClick r:id="rId3"/>
              </a:rPr>
              <a:t>README</a:t>
            </a:r>
            <a:r>
              <a:rPr lang="en-US" sz="2400" dirty="0"/>
              <a:t> with a link to it.</a:t>
            </a:r>
          </a:p>
          <a:p>
            <a:r>
              <a:rPr lang="en-US" sz="2400" dirty="0"/>
              <a:t> </a:t>
            </a:r>
          </a:p>
        </p:txBody>
      </p:sp>
    </p:spTree>
    <p:extLst>
      <p:ext uri="{BB962C8B-B14F-4D97-AF65-F5344CB8AC3E}">
        <p14:creationId xmlns:p14="http://schemas.microsoft.com/office/powerpoint/2010/main" val="4035192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32C7A-E542-5E7C-05D3-6382EFC0CAC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4576394-B4A8-2430-418D-563C04103F12}"/>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F001F4BD-4176-377D-5155-AC5A029F1683}"/>
              </a:ext>
            </a:extLst>
          </p:cNvPr>
          <p:cNvSpPr>
            <a:spLocks noGrp="1"/>
          </p:cNvSpPr>
          <p:nvPr>
            <p:ph type="title"/>
          </p:nvPr>
        </p:nvSpPr>
        <p:spPr>
          <a:xfrm>
            <a:off x="341085" y="219392"/>
            <a:ext cx="10515600" cy="1325563"/>
          </a:xfrm>
        </p:spPr>
        <p:txBody>
          <a:bodyPr/>
          <a:lstStyle/>
          <a:p>
            <a:r>
              <a:rPr lang="en-US" noProof="0" dirty="0">
                <a:solidFill>
                  <a:schemeClr val="bg1"/>
                </a:solidFill>
              </a:rPr>
              <a:t>NEW! Use Cas</a:t>
            </a:r>
            <a:r>
              <a:rPr lang="en-US" dirty="0">
                <a:solidFill>
                  <a:schemeClr val="bg1"/>
                </a:solidFill>
              </a:rPr>
              <a:t>es WG</a:t>
            </a:r>
            <a:endParaRPr lang="en-GB" noProof="0" dirty="0">
              <a:solidFill>
                <a:schemeClr val="bg1"/>
              </a:solidFill>
            </a:endParaRPr>
          </a:p>
        </p:txBody>
      </p:sp>
      <p:pic>
        <p:nvPicPr>
          <p:cNvPr id="13" name="Picture 12">
            <a:extLst>
              <a:ext uri="{FF2B5EF4-FFF2-40B4-BE49-F238E27FC236}">
                <a16:creationId xmlns:a16="http://schemas.microsoft.com/office/drawing/2014/main" id="{DE96C086-9014-C86F-A762-546A9482F304}"/>
              </a:ext>
            </a:extLst>
          </p:cNvPr>
          <p:cNvPicPr>
            <a:picLocks noChangeAspect="1"/>
          </p:cNvPicPr>
          <p:nvPr/>
        </p:nvPicPr>
        <p:blipFill>
          <a:blip r:embed="rId2"/>
          <a:stretch>
            <a:fillRect/>
          </a:stretch>
        </p:blipFill>
        <p:spPr>
          <a:xfrm>
            <a:off x="9958212" y="107366"/>
            <a:ext cx="2064271" cy="696502"/>
          </a:xfrm>
          <a:prstGeom prst="rect">
            <a:avLst/>
          </a:prstGeom>
        </p:spPr>
      </p:pic>
      <p:sp>
        <p:nvSpPr>
          <p:cNvPr id="15" name="TextBox 14">
            <a:extLst>
              <a:ext uri="{FF2B5EF4-FFF2-40B4-BE49-F238E27FC236}">
                <a16:creationId xmlns:a16="http://schemas.microsoft.com/office/drawing/2014/main" id="{52CB1C62-388F-6AFA-81E3-8FE5DBEDE212}"/>
              </a:ext>
            </a:extLst>
          </p:cNvPr>
          <p:cNvSpPr txBox="1"/>
          <p:nvPr/>
        </p:nvSpPr>
        <p:spPr>
          <a:xfrm>
            <a:off x="615042" y="2021960"/>
            <a:ext cx="10961915" cy="3908762"/>
          </a:xfrm>
          <a:prstGeom prst="rect">
            <a:avLst/>
          </a:prstGeom>
          <a:noFill/>
        </p:spPr>
        <p:txBody>
          <a:bodyPr wrap="square">
            <a:spAutoFit/>
          </a:bodyPr>
          <a:lstStyle/>
          <a:p>
            <a:r>
              <a:rPr lang="en-US" sz="2400" dirty="0"/>
              <a:t>A warm </a:t>
            </a:r>
            <a:r>
              <a:rPr lang="en-US" sz="2400" b="1" dirty="0"/>
              <a:t>thank you </a:t>
            </a:r>
            <a:r>
              <a:rPr lang="en-US" sz="2400" dirty="0"/>
              <a:t>to those who have already submitted use cases</a:t>
            </a:r>
          </a:p>
          <a:p>
            <a:r>
              <a:rPr lang="en-US" sz="2400" dirty="0">
                <a:sym typeface="Wingdings" panose="05000000000000000000" pitchFamily="2" charset="2"/>
              </a:rPr>
              <a:t>WE HAVE 12 use cases submitted</a:t>
            </a:r>
          </a:p>
          <a:p>
            <a:endParaRPr lang="en-US" sz="2400" dirty="0"/>
          </a:p>
          <a:p>
            <a:r>
              <a:rPr lang="en-US" sz="2400" dirty="0">
                <a:sym typeface="Wingdings" panose="05000000000000000000" pitchFamily="2" charset="2"/>
              </a:rPr>
              <a:t> </a:t>
            </a:r>
            <a:r>
              <a:rPr lang="en-US" sz="2400" dirty="0"/>
              <a:t>go and discover what your peers have </a:t>
            </a:r>
            <a:r>
              <a:rPr lang="en-US" sz="2400" u="sng" dirty="0">
                <a:hlinkClick r:id="rId3"/>
              </a:rPr>
              <a:t>submitted already here</a:t>
            </a:r>
            <a:endParaRPr lang="en-US" sz="2400" dirty="0"/>
          </a:p>
          <a:p>
            <a:endParaRPr lang="en-US" sz="2400" dirty="0"/>
          </a:p>
          <a:p>
            <a:r>
              <a:rPr lang="en-US" sz="2400" dirty="0"/>
              <a:t>Submissions from all sectors and perspectives are welcome</a:t>
            </a:r>
          </a:p>
          <a:p>
            <a:endParaRPr lang="en-US" sz="2400" dirty="0"/>
          </a:p>
          <a:p>
            <a:r>
              <a:rPr lang="en-US" sz="2400" b="1" dirty="0">
                <a:highlight>
                  <a:srgbClr val="FFFF00"/>
                </a:highlight>
              </a:rPr>
              <a:t>NEXT STEPS: </a:t>
            </a:r>
          </a:p>
          <a:p>
            <a:r>
              <a:rPr lang="en-US" sz="2400" b="1" dirty="0">
                <a:highlight>
                  <a:srgbClr val="FFFF00"/>
                </a:highlight>
              </a:rPr>
              <a:t>- TIDA management team to qualify and classify the use cases</a:t>
            </a:r>
          </a:p>
          <a:p>
            <a:r>
              <a:rPr lang="en-US" sz="2400" b="1" dirty="0">
                <a:highlight>
                  <a:srgbClr val="FFFF00"/>
                </a:highlight>
              </a:rPr>
              <a:t>- Dedicated session at TIDA in person meeting</a:t>
            </a:r>
            <a:endParaRPr lang="en-US" sz="3200" b="1" dirty="0">
              <a:highlight>
                <a:srgbClr val="FFFF00"/>
              </a:highlight>
            </a:endParaRPr>
          </a:p>
        </p:txBody>
      </p:sp>
    </p:spTree>
    <p:extLst>
      <p:ext uri="{BB962C8B-B14F-4D97-AF65-F5344CB8AC3E}">
        <p14:creationId xmlns:p14="http://schemas.microsoft.com/office/powerpoint/2010/main" val="141636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86FA7-7393-933B-67E1-A1EC41D2A06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6D0EE89-C541-8590-0AD1-10441D6A1B65}"/>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835FAE5B-ADD3-3BB4-6BD5-AF277BD29527}"/>
              </a:ext>
            </a:extLst>
          </p:cNvPr>
          <p:cNvSpPr>
            <a:spLocks noGrp="1"/>
          </p:cNvSpPr>
          <p:nvPr>
            <p:ph type="title"/>
          </p:nvPr>
        </p:nvSpPr>
        <p:spPr>
          <a:xfrm>
            <a:off x="341085" y="219392"/>
            <a:ext cx="10515600" cy="1325563"/>
          </a:xfrm>
        </p:spPr>
        <p:txBody>
          <a:bodyPr/>
          <a:lstStyle/>
          <a:p>
            <a:r>
              <a:rPr lang="en-US" noProof="0" dirty="0">
                <a:solidFill>
                  <a:schemeClr val="bg1"/>
                </a:solidFill>
              </a:rPr>
              <a:t>NEW! Specification Template</a:t>
            </a:r>
            <a:endParaRPr lang="en-GB" noProof="0" dirty="0">
              <a:solidFill>
                <a:schemeClr val="bg1"/>
              </a:solidFill>
            </a:endParaRPr>
          </a:p>
        </p:txBody>
      </p:sp>
      <p:pic>
        <p:nvPicPr>
          <p:cNvPr id="13" name="Picture 12">
            <a:extLst>
              <a:ext uri="{FF2B5EF4-FFF2-40B4-BE49-F238E27FC236}">
                <a16:creationId xmlns:a16="http://schemas.microsoft.com/office/drawing/2014/main" id="{1FA7FD6B-228B-0E51-7EA6-2B0AF303D696}"/>
              </a:ext>
            </a:extLst>
          </p:cNvPr>
          <p:cNvPicPr>
            <a:picLocks noChangeAspect="1"/>
          </p:cNvPicPr>
          <p:nvPr/>
        </p:nvPicPr>
        <p:blipFill>
          <a:blip r:embed="rId2"/>
          <a:stretch>
            <a:fillRect/>
          </a:stretch>
        </p:blipFill>
        <p:spPr>
          <a:xfrm>
            <a:off x="9958212" y="107366"/>
            <a:ext cx="2064271" cy="696502"/>
          </a:xfrm>
          <a:prstGeom prst="rect">
            <a:avLst/>
          </a:prstGeom>
        </p:spPr>
      </p:pic>
      <p:sp>
        <p:nvSpPr>
          <p:cNvPr id="15" name="TextBox 14">
            <a:extLst>
              <a:ext uri="{FF2B5EF4-FFF2-40B4-BE49-F238E27FC236}">
                <a16:creationId xmlns:a16="http://schemas.microsoft.com/office/drawing/2014/main" id="{C24CC1AA-0DD6-DAD5-E8CF-1A4C4E63C819}"/>
              </a:ext>
            </a:extLst>
          </p:cNvPr>
          <p:cNvSpPr txBox="1"/>
          <p:nvPr/>
        </p:nvSpPr>
        <p:spPr>
          <a:xfrm>
            <a:off x="615042" y="2021960"/>
            <a:ext cx="10961915" cy="4524315"/>
          </a:xfrm>
          <a:prstGeom prst="rect">
            <a:avLst/>
          </a:prstGeom>
          <a:noFill/>
        </p:spPr>
        <p:txBody>
          <a:bodyPr wrap="square">
            <a:spAutoFit/>
          </a:bodyPr>
          <a:lstStyle/>
          <a:p>
            <a:r>
              <a:rPr lang="en-US" sz="2400" dirty="0"/>
              <a:t>We have a common </a:t>
            </a:r>
            <a:r>
              <a:rPr lang="en-US" sz="2400" u="sng" dirty="0">
                <a:hlinkClick r:id="rId3"/>
              </a:rPr>
              <a:t>specification template</a:t>
            </a:r>
            <a:r>
              <a:rPr lang="en-US" sz="2400" dirty="0"/>
              <a:t> for FG-TIDA specifications and documents.</a:t>
            </a:r>
          </a:p>
          <a:p>
            <a:r>
              <a:rPr lang="en-US" sz="2400" dirty="0"/>
              <a:t>For a working example, see the RA-AAI document, which already uses this setup: here is the </a:t>
            </a:r>
            <a:r>
              <a:rPr lang="en-US" sz="2400" u="sng" dirty="0">
                <a:hlinkClick r:id="rId4"/>
              </a:rPr>
              <a:t>published HTML version</a:t>
            </a:r>
            <a:r>
              <a:rPr lang="en-US" sz="2400" dirty="0"/>
              <a:t> and its </a:t>
            </a:r>
            <a:r>
              <a:rPr lang="en-US" sz="2400" u="sng" dirty="0">
                <a:hlinkClick r:id="rId5"/>
              </a:rPr>
              <a:t>source folder</a:t>
            </a:r>
            <a:r>
              <a:rPr lang="en-US" sz="2400" dirty="0"/>
              <a:t>.</a:t>
            </a:r>
          </a:p>
          <a:p>
            <a:r>
              <a:rPr lang="en-US" sz="2400" dirty="0"/>
              <a:t> </a:t>
            </a:r>
          </a:p>
          <a:p>
            <a:r>
              <a:rPr lang="en-US" sz="2400" dirty="0"/>
              <a:t>Documents are written in .</a:t>
            </a:r>
            <a:r>
              <a:rPr lang="en-US" sz="2400" dirty="0" err="1"/>
              <a:t>rst</a:t>
            </a:r>
            <a:r>
              <a:rPr lang="en-US" sz="2400" dirty="0"/>
              <a:t> (very similar to Markdown, but better suited to specifications that describe APIs). </a:t>
            </a:r>
          </a:p>
          <a:p>
            <a:r>
              <a:rPr lang="en-US" sz="2400" dirty="0"/>
              <a:t>Contributors only need to add text to the chapter files and commit/push to GitHub. The HTML version, and a PDF, are then built automatically.</a:t>
            </a:r>
          </a:p>
          <a:p>
            <a:r>
              <a:rPr lang="en-US" sz="2400" dirty="0"/>
              <a:t> </a:t>
            </a:r>
          </a:p>
          <a:p>
            <a:r>
              <a:rPr lang="en-US" sz="2400" b="1" dirty="0">
                <a:highlight>
                  <a:srgbClr val="FFFF00"/>
                </a:highlight>
              </a:rPr>
              <a:t>As we graduate themes to WGs, we will start working on specifications/documents using this template.  </a:t>
            </a:r>
          </a:p>
        </p:txBody>
      </p:sp>
    </p:spTree>
    <p:extLst>
      <p:ext uri="{BB962C8B-B14F-4D97-AF65-F5344CB8AC3E}">
        <p14:creationId xmlns:p14="http://schemas.microsoft.com/office/powerpoint/2010/main" val="16151762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3610D-8E0E-B8CF-472F-77224BC0BE9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66FC882-8BAE-417A-4746-14A19F0997D8}"/>
              </a:ext>
            </a:extLst>
          </p:cNvPr>
          <p:cNvSpPr/>
          <p:nvPr/>
        </p:nvSpPr>
        <p:spPr>
          <a:xfrm>
            <a:off x="0" y="0"/>
            <a:ext cx="12192000" cy="6960870"/>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C47F4953-BDEE-39CD-BC31-C102A0EADA5B}"/>
              </a:ext>
            </a:extLst>
          </p:cNvPr>
          <p:cNvSpPr>
            <a:spLocks noGrp="1"/>
          </p:cNvSpPr>
          <p:nvPr>
            <p:ph type="title"/>
          </p:nvPr>
        </p:nvSpPr>
        <p:spPr>
          <a:xfrm>
            <a:off x="1324065" y="2556805"/>
            <a:ext cx="10515600" cy="1325563"/>
          </a:xfrm>
        </p:spPr>
        <p:txBody>
          <a:bodyPr>
            <a:noAutofit/>
          </a:bodyPr>
          <a:lstStyle/>
          <a:p>
            <a:r>
              <a:rPr lang="en-US" sz="4800" b="1" noProof="0" dirty="0">
                <a:solidFill>
                  <a:schemeClr val="bg1"/>
                </a:solidFill>
              </a:rPr>
              <a:t>Let us </a:t>
            </a:r>
            <a:r>
              <a:rPr lang="en-US" sz="4800" b="1" noProof="0" dirty="0">
                <a:solidFill>
                  <a:srgbClr val="F7BA21"/>
                </a:solidFill>
              </a:rPr>
              <a:t>brainstorm</a:t>
            </a:r>
            <a:r>
              <a:rPr lang="en-US" sz="4800" b="1" noProof="0" dirty="0">
                <a:solidFill>
                  <a:schemeClr val="bg1"/>
                </a:solidFill>
              </a:rPr>
              <a:t> together on </a:t>
            </a:r>
            <a:br>
              <a:rPr lang="en-US" sz="4800" b="1" noProof="0" dirty="0">
                <a:solidFill>
                  <a:schemeClr val="bg1"/>
                </a:solidFill>
              </a:rPr>
            </a:br>
            <a:r>
              <a:rPr lang="en-US" sz="4800" b="1" dirty="0">
                <a:solidFill>
                  <a:schemeClr val="bg1"/>
                </a:solidFill>
              </a:rPr>
              <a:t>ideas for Working Groups</a:t>
            </a:r>
            <a:endParaRPr lang="en-GB" sz="4800" b="1" noProof="0" dirty="0">
              <a:solidFill>
                <a:schemeClr val="bg1"/>
              </a:solidFill>
            </a:endParaRPr>
          </a:p>
        </p:txBody>
      </p:sp>
      <p:pic>
        <p:nvPicPr>
          <p:cNvPr id="13" name="Picture 12">
            <a:extLst>
              <a:ext uri="{FF2B5EF4-FFF2-40B4-BE49-F238E27FC236}">
                <a16:creationId xmlns:a16="http://schemas.microsoft.com/office/drawing/2014/main" id="{1230CEE6-765D-942E-5A66-DD8EA8AF4150}"/>
              </a:ext>
            </a:extLst>
          </p:cNvPr>
          <p:cNvPicPr>
            <a:picLocks noChangeAspect="1"/>
          </p:cNvPicPr>
          <p:nvPr/>
        </p:nvPicPr>
        <p:blipFill>
          <a:blip r:embed="rId3"/>
          <a:stretch>
            <a:fillRect/>
          </a:stretch>
        </p:blipFill>
        <p:spPr>
          <a:xfrm>
            <a:off x="9958212" y="107366"/>
            <a:ext cx="2064271" cy="696502"/>
          </a:xfrm>
          <a:prstGeom prst="rect">
            <a:avLst/>
          </a:prstGeom>
        </p:spPr>
      </p:pic>
      <p:sp>
        <p:nvSpPr>
          <p:cNvPr id="2" name="Title 6">
            <a:extLst>
              <a:ext uri="{FF2B5EF4-FFF2-40B4-BE49-F238E27FC236}">
                <a16:creationId xmlns:a16="http://schemas.microsoft.com/office/drawing/2014/main" id="{92677688-C54F-6A66-5EC0-59FE08B8AF5A}"/>
              </a:ext>
            </a:extLst>
          </p:cNvPr>
          <p:cNvSpPr txBox="1">
            <a:spLocks/>
          </p:cNvSpPr>
          <p:nvPr/>
        </p:nvSpPr>
        <p:spPr>
          <a:xfrm>
            <a:off x="1324065" y="5113610"/>
            <a:ext cx="1051560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b="1" dirty="0">
                <a:solidFill>
                  <a:schemeClr val="bg1"/>
                </a:solidFill>
              </a:rPr>
              <a:t>Reminder: Fix WGs by Nov 30</a:t>
            </a:r>
            <a:r>
              <a:rPr lang="en-US" sz="4800" b="1" baseline="30000" dirty="0">
                <a:solidFill>
                  <a:schemeClr val="bg1"/>
                </a:solidFill>
              </a:rPr>
              <a:t>th</a:t>
            </a:r>
            <a:r>
              <a:rPr lang="en-US" sz="4800" b="1" dirty="0">
                <a:solidFill>
                  <a:schemeClr val="bg1"/>
                </a:solidFill>
              </a:rPr>
              <a:t> </a:t>
            </a:r>
            <a:endParaRPr lang="en-GB" sz="4800" b="1" dirty="0">
              <a:solidFill>
                <a:schemeClr val="bg1"/>
              </a:solidFill>
            </a:endParaRPr>
          </a:p>
        </p:txBody>
      </p:sp>
    </p:spTree>
    <p:extLst>
      <p:ext uri="{BB962C8B-B14F-4D97-AF65-F5344CB8AC3E}">
        <p14:creationId xmlns:p14="http://schemas.microsoft.com/office/powerpoint/2010/main" val="915456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7289C-C92F-927B-D98E-80CA9AD00D0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9436C83-0FC5-19E0-B643-C0B5743DC07E}"/>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462CDBEE-1F58-A19A-7083-FACDE5BE5E8C}"/>
              </a:ext>
            </a:extLst>
          </p:cNvPr>
          <p:cNvSpPr>
            <a:spLocks noGrp="1"/>
          </p:cNvSpPr>
          <p:nvPr>
            <p:ph type="title"/>
          </p:nvPr>
        </p:nvSpPr>
        <p:spPr>
          <a:xfrm>
            <a:off x="341085" y="219392"/>
            <a:ext cx="10515600" cy="1325563"/>
          </a:xfrm>
        </p:spPr>
        <p:txBody>
          <a:bodyPr/>
          <a:lstStyle/>
          <a:p>
            <a:r>
              <a:rPr lang="en-US" noProof="0" dirty="0">
                <a:solidFill>
                  <a:schemeClr val="bg1"/>
                </a:solidFill>
              </a:rPr>
              <a:t>Selected presentations on </a:t>
            </a:r>
            <a:r>
              <a:rPr lang="en-US" dirty="0">
                <a:solidFill>
                  <a:schemeClr val="bg1"/>
                </a:solidFill>
              </a:rPr>
              <a:t>proposed t</a:t>
            </a:r>
            <a:r>
              <a:rPr lang="en-US" noProof="0" dirty="0">
                <a:solidFill>
                  <a:schemeClr val="bg1"/>
                </a:solidFill>
              </a:rPr>
              <a:t>hemes</a:t>
            </a:r>
            <a:endParaRPr lang="en-GB" noProof="0" dirty="0">
              <a:solidFill>
                <a:schemeClr val="bg1"/>
              </a:solidFill>
            </a:endParaRPr>
          </a:p>
        </p:txBody>
      </p:sp>
      <p:pic>
        <p:nvPicPr>
          <p:cNvPr id="13" name="Picture 12">
            <a:extLst>
              <a:ext uri="{FF2B5EF4-FFF2-40B4-BE49-F238E27FC236}">
                <a16:creationId xmlns:a16="http://schemas.microsoft.com/office/drawing/2014/main" id="{5781F2AA-B981-BD81-FC7F-C2E8CB8811D9}"/>
              </a:ext>
            </a:extLst>
          </p:cNvPr>
          <p:cNvPicPr>
            <a:picLocks noChangeAspect="1"/>
          </p:cNvPicPr>
          <p:nvPr/>
        </p:nvPicPr>
        <p:blipFill>
          <a:blip r:embed="rId3"/>
          <a:stretch>
            <a:fillRect/>
          </a:stretch>
        </p:blipFill>
        <p:spPr>
          <a:xfrm>
            <a:off x="9958212" y="107366"/>
            <a:ext cx="2064271" cy="696502"/>
          </a:xfrm>
          <a:prstGeom prst="rect">
            <a:avLst/>
          </a:prstGeom>
        </p:spPr>
      </p:pic>
      <p:sp>
        <p:nvSpPr>
          <p:cNvPr id="3" name="TextBox 2">
            <a:extLst>
              <a:ext uri="{FF2B5EF4-FFF2-40B4-BE49-F238E27FC236}">
                <a16:creationId xmlns:a16="http://schemas.microsoft.com/office/drawing/2014/main" id="{E2D2EAE1-AD35-7010-D39E-4126E4A2F5C1}"/>
              </a:ext>
            </a:extLst>
          </p:cNvPr>
          <p:cNvSpPr txBox="1"/>
          <p:nvPr/>
        </p:nvSpPr>
        <p:spPr>
          <a:xfrm>
            <a:off x="75630" y="2164815"/>
            <a:ext cx="12040739" cy="4154984"/>
          </a:xfrm>
          <a:prstGeom prst="rect">
            <a:avLst/>
          </a:prstGeom>
          <a:noFill/>
        </p:spPr>
        <p:txBody>
          <a:bodyPr wrap="square" rtlCol="0">
            <a:spAutoFit/>
          </a:bodyPr>
          <a:lstStyle/>
          <a:p>
            <a:pPr marL="742950" lvl="1" indent="-285750">
              <a:buFont typeface="Arial" panose="020B0604020202020204" pitchFamily="34" charset="0"/>
              <a:buChar char="•"/>
            </a:pPr>
            <a:r>
              <a:rPr lang="en-US" sz="2400" dirty="0"/>
              <a:t>Theme #22: </a:t>
            </a:r>
            <a:r>
              <a:rPr lang="en-US" sz="2400" dirty="0">
                <a:hlinkClick r:id="rId4"/>
              </a:rPr>
              <a:t>Remote Attestation for Agentic AI (RA-AAI)</a:t>
            </a:r>
            <a:endParaRPr lang="en-US" sz="2400" dirty="0"/>
          </a:p>
          <a:p>
            <a:pPr marL="742950" lvl="1" indent="-285750">
              <a:buFont typeface="Arial" panose="020B0604020202020204" pitchFamily="34" charset="0"/>
              <a:buChar char="•"/>
            </a:pPr>
            <a:endParaRPr lang="en-US" sz="2400" dirty="0"/>
          </a:p>
          <a:p>
            <a:pPr marL="742950" lvl="1" indent="-285750">
              <a:buFont typeface="Arial" panose="020B0604020202020204" pitchFamily="34" charset="0"/>
              <a:buChar char="•"/>
            </a:pPr>
            <a:r>
              <a:rPr lang="en-US" sz="2400" dirty="0"/>
              <a:t>Theme #25: </a:t>
            </a:r>
            <a:r>
              <a:rPr lang="en-US" sz="2400" u="sng" dirty="0">
                <a:hlinkClick r:id="rId5"/>
              </a:rPr>
              <a:t>[Theme] Age-Aware Identity and Delegated Authority for Agentic AI</a:t>
            </a:r>
            <a:endParaRPr lang="en-US" sz="2400" u="sng" dirty="0"/>
          </a:p>
          <a:p>
            <a:pPr lvl="1"/>
            <a:endParaRPr lang="en-US" sz="2400" dirty="0"/>
          </a:p>
          <a:p>
            <a:pPr marL="742950" lvl="1" indent="-285750">
              <a:buFont typeface="Arial" panose="020B0604020202020204" pitchFamily="34" charset="0"/>
              <a:buChar char="•"/>
            </a:pPr>
            <a:r>
              <a:rPr lang="en-US" sz="2400" dirty="0"/>
              <a:t>Theme #23: </a:t>
            </a:r>
            <a:r>
              <a:rPr lang="en-US" sz="2400" dirty="0">
                <a:hlinkClick r:id="rId6"/>
              </a:rPr>
              <a:t>[Theme] Security framework and requirements for authorization and privilege lifecycle management of AI agents</a:t>
            </a:r>
            <a:endParaRPr lang="en-US" sz="2400" dirty="0"/>
          </a:p>
          <a:p>
            <a:pPr lvl="1"/>
            <a:endParaRPr lang="en-US" sz="2400" dirty="0"/>
          </a:p>
          <a:p>
            <a:pPr marL="742950" lvl="1" indent="-285750">
              <a:buFont typeface="Arial" panose="020B0604020202020204" pitchFamily="34" charset="0"/>
              <a:buChar char="•"/>
            </a:pPr>
            <a:r>
              <a:rPr lang="en-US" sz="2400" dirty="0"/>
              <a:t>Theme #18: </a:t>
            </a:r>
            <a:r>
              <a:rPr lang="en-US" sz="2400" u="sng" dirty="0">
                <a:hlinkClick r:id="rId7"/>
              </a:rPr>
              <a:t>[Theme] Trustworthiness of multi-objective agentic AI: a collective-choice formalism</a:t>
            </a:r>
            <a:endParaRPr lang="en-US" sz="2400" u="sng" dirty="0"/>
          </a:p>
          <a:p>
            <a:pPr lvl="1"/>
            <a:endParaRPr lang="en-US" sz="2400" dirty="0"/>
          </a:p>
          <a:p>
            <a:pPr marL="742950" lvl="1" indent="-285750">
              <a:buFont typeface="Arial" panose="020B0604020202020204" pitchFamily="34" charset="0"/>
              <a:buChar char="•"/>
            </a:pPr>
            <a:r>
              <a:rPr lang="en-US" sz="2400" dirty="0"/>
              <a:t>Theme #2: </a:t>
            </a:r>
            <a:r>
              <a:rPr lang="en-US" sz="2400" u="sng" dirty="0">
                <a:hlinkClick r:id="rId8"/>
              </a:rPr>
              <a:t>[Sovereign Discovery] ++ Modularity</a:t>
            </a:r>
            <a:endParaRPr lang="en-US" sz="2400" dirty="0"/>
          </a:p>
        </p:txBody>
      </p:sp>
    </p:spTree>
    <p:extLst>
      <p:ext uri="{BB962C8B-B14F-4D97-AF65-F5344CB8AC3E}">
        <p14:creationId xmlns:p14="http://schemas.microsoft.com/office/powerpoint/2010/main" val="479814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732B-EA23-6724-8346-6BBF31E99FA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CB74447-6DDB-32E1-CBBF-95D35F0CB61B}"/>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250A5C8F-1DD4-051C-D2EC-01532CC0E337}"/>
              </a:ext>
            </a:extLst>
          </p:cNvPr>
          <p:cNvSpPr>
            <a:spLocks noGrp="1"/>
          </p:cNvSpPr>
          <p:nvPr>
            <p:ph type="title"/>
          </p:nvPr>
        </p:nvSpPr>
        <p:spPr>
          <a:xfrm>
            <a:off x="341085" y="219392"/>
            <a:ext cx="10515600" cy="1325563"/>
          </a:xfrm>
        </p:spPr>
        <p:txBody>
          <a:bodyPr/>
          <a:lstStyle/>
          <a:p>
            <a:r>
              <a:rPr lang="en-US" dirty="0">
                <a:solidFill>
                  <a:srgbClr val="FF0000"/>
                </a:solidFill>
              </a:rPr>
              <a:t>5</a:t>
            </a:r>
            <a:r>
              <a:rPr lang="en-US" noProof="0" dirty="0">
                <a:solidFill>
                  <a:schemeClr val="bg1"/>
                </a:solidFill>
              </a:rPr>
              <a:t> virtual meetings from now to 30</a:t>
            </a:r>
            <a:r>
              <a:rPr lang="en-US" baseline="30000" dirty="0">
                <a:solidFill>
                  <a:schemeClr val="bg1"/>
                </a:solidFill>
              </a:rPr>
              <a:t> </a:t>
            </a:r>
            <a:r>
              <a:rPr lang="en-US" noProof="0" dirty="0">
                <a:solidFill>
                  <a:schemeClr val="bg1"/>
                </a:solidFill>
              </a:rPr>
              <a:t>Nov -</a:t>
            </a:r>
            <a:r>
              <a:rPr lang="en-US" dirty="0">
                <a:solidFill>
                  <a:schemeClr val="bg1"/>
                </a:solidFill>
              </a:rPr>
              <a:t>1</a:t>
            </a:r>
            <a:r>
              <a:rPr lang="en-US" noProof="0" dirty="0">
                <a:solidFill>
                  <a:schemeClr val="bg1"/>
                </a:solidFill>
              </a:rPr>
              <a:t> Dec</a:t>
            </a:r>
            <a:endParaRPr lang="en-GB" noProof="0" dirty="0">
              <a:solidFill>
                <a:schemeClr val="bg1"/>
              </a:solidFill>
            </a:endParaRPr>
          </a:p>
        </p:txBody>
      </p:sp>
      <p:pic>
        <p:nvPicPr>
          <p:cNvPr id="13" name="Picture 12">
            <a:extLst>
              <a:ext uri="{FF2B5EF4-FFF2-40B4-BE49-F238E27FC236}">
                <a16:creationId xmlns:a16="http://schemas.microsoft.com/office/drawing/2014/main" id="{E579929C-ED4F-BEF0-BE9B-4D4A7D897CA7}"/>
              </a:ext>
            </a:extLst>
          </p:cNvPr>
          <p:cNvPicPr>
            <a:picLocks noChangeAspect="1"/>
          </p:cNvPicPr>
          <p:nvPr/>
        </p:nvPicPr>
        <p:blipFill>
          <a:blip r:embed="rId3"/>
          <a:stretch>
            <a:fillRect/>
          </a:stretch>
        </p:blipFill>
        <p:spPr>
          <a:xfrm>
            <a:off x="9958212" y="107366"/>
            <a:ext cx="2064271" cy="696502"/>
          </a:xfrm>
          <a:prstGeom prst="rect">
            <a:avLst/>
          </a:prstGeom>
        </p:spPr>
      </p:pic>
      <p:sp>
        <p:nvSpPr>
          <p:cNvPr id="3" name="TextBox 2">
            <a:extLst>
              <a:ext uri="{FF2B5EF4-FFF2-40B4-BE49-F238E27FC236}">
                <a16:creationId xmlns:a16="http://schemas.microsoft.com/office/drawing/2014/main" id="{01AFA568-F371-3A04-7565-802982E1677E}"/>
              </a:ext>
            </a:extLst>
          </p:cNvPr>
          <p:cNvSpPr txBox="1"/>
          <p:nvPr/>
        </p:nvSpPr>
        <p:spPr>
          <a:xfrm>
            <a:off x="784335" y="2844437"/>
            <a:ext cx="10895248" cy="2246769"/>
          </a:xfrm>
          <a:prstGeom prst="rect">
            <a:avLst/>
          </a:prstGeom>
          <a:noFill/>
        </p:spPr>
        <p:txBody>
          <a:bodyPr wrap="square" rtlCol="0">
            <a:spAutoFit/>
          </a:bodyPr>
          <a:lstStyle/>
          <a:p>
            <a:pPr marL="457200" indent="-457200" fontAlgn="base">
              <a:buFont typeface="Arial" panose="020B0604020202020204" pitchFamily="34" charset="0"/>
              <a:buChar char="•"/>
            </a:pPr>
            <a:r>
              <a:rPr lang="en-US" sz="2800" b="1" dirty="0">
                <a:solidFill>
                  <a:schemeClr val="accent1"/>
                </a:solidFill>
              </a:rPr>
              <a:t>29th of July @2pm CET </a:t>
            </a:r>
          </a:p>
          <a:p>
            <a:pPr marL="457200" indent="-457200" fontAlgn="base">
              <a:buFont typeface="Arial" panose="020B0604020202020204" pitchFamily="34" charset="0"/>
              <a:buChar char="•"/>
            </a:pPr>
            <a:r>
              <a:rPr lang="en-US" sz="2800" b="1" dirty="0">
                <a:solidFill>
                  <a:schemeClr val="accent1"/>
                </a:solidFill>
              </a:rPr>
              <a:t>2nd of September @2pm CET</a:t>
            </a:r>
          </a:p>
          <a:p>
            <a:pPr marL="457200" indent="-457200" fontAlgn="base">
              <a:buFont typeface="Arial" panose="020B0604020202020204" pitchFamily="34" charset="0"/>
              <a:buChar char="•"/>
            </a:pPr>
            <a:r>
              <a:rPr lang="en-US" sz="2800" b="1" dirty="0">
                <a:solidFill>
                  <a:schemeClr val="accent1"/>
                </a:solidFill>
              </a:rPr>
              <a:t>(today) 30th of September @2pm CET</a:t>
            </a:r>
          </a:p>
          <a:p>
            <a:pPr marL="457200" indent="-457200" fontAlgn="base">
              <a:buFont typeface="Arial" panose="020B0604020202020204" pitchFamily="34" charset="0"/>
              <a:buChar char="•"/>
            </a:pPr>
            <a:r>
              <a:rPr lang="en-US" sz="2800" b="1" dirty="0">
                <a:solidFill>
                  <a:srgbClr val="FF0000"/>
                </a:solidFill>
              </a:rPr>
              <a:t>CONFIRMED! 14</a:t>
            </a:r>
            <a:r>
              <a:rPr lang="en-US" sz="2800" b="1" baseline="30000" dirty="0">
                <a:solidFill>
                  <a:srgbClr val="FF0000"/>
                </a:solidFill>
              </a:rPr>
              <a:t>th</a:t>
            </a:r>
            <a:r>
              <a:rPr lang="en-US" sz="2800" b="1" dirty="0">
                <a:solidFill>
                  <a:srgbClr val="FF0000"/>
                </a:solidFill>
              </a:rPr>
              <a:t> of October @2.30pm CET</a:t>
            </a:r>
          </a:p>
          <a:p>
            <a:pPr marL="457200" indent="-457200" fontAlgn="base">
              <a:buFont typeface="Arial" panose="020B0604020202020204" pitchFamily="34" charset="0"/>
              <a:buChar char="•"/>
            </a:pPr>
            <a:r>
              <a:rPr lang="en-US" sz="2800" b="1" dirty="0">
                <a:solidFill>
                  <a:schemeClr val="accent1"/>
                </a:solidFill>
              </a:rPr>
              <a:t>4th of November @2pm CET</a:t>
            </a:r>
          </a:p>
        </p:txBody>
      </p:sp>
    </p:spTree>
    <p:extLst>
      <p:ext uri="{BB962C8B-B14F-4D97-AF65-F5344CB8AC3E}">
        <p14:creationId xmlns:p14="http://schemas.microsoft.com/office/powerpoint/2010/main" val="1157470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6C036-742D-E6FF-6A39-95B87B450B0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7EF1ABB-0FDF-41EC-E63C-4FB0587C44D3}"/>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CB2CA1DF-0418-BC15-3989-C679FAEDF80A}"/>
              </a:ext>
            </a:extLst>
          </p:cNvPr>
          <p:cNvSpPr>
            <a:spLocks noGrp="1"/>
          </p:cNvSpPr>
          <p:nvPr>
            <p:ph type="title"/>
          </p:nvPr>
        </p:nvSpPr>
        <p:spPr>
          <a:xfrm>
            <a:off x="341085" y="219392"/>
            <a:ext cx="10515600" cy="1325563"/>
          </a:xfrm>
        </p:spPr>
        <p:txBody>
          <a:bodyPr/>
          <a:lstStyle/>
          <a:p>
            <a:r>
              <a:rPr lang="en-US" dirty="0">
                <a:solidFill>
                  <a:schemeClr val="bg1"/>
                </a:solidFill>
              </a:rPr>
              <a:t>Engage in our GitHub space!</a:t>
            </a:r>
          </a:p>
        </p:txBody>
      </p:sp>
      <p:pic>
        <p:nvPicPr>
          <p:cNvPr id="13" name="Picture 12">
            <a:extLst>
              <a:ext uri="{FF2B5EF4-FFF2-40B4-BE49-F238E27FC236}">
                <a16:creationId xmlns:a16="http://schemas.microsoft.com/office/drawing/2014/main" id="{144793A6-877D-7840-A3F0-DCB3ACBD1126}"/>
              </a:ext>
            </a:extLst>
          </p:cNvPr>
          <p:cNvPicPr>
            <a:picLocks noChangeAspect="1"/>
          </p:cNvPicPr>
          <p:nvPr/>
        </p:nvPicPr>
        <p:blipFill>
          <a:blip r:embed="rId3"/>
          <a:stretch>
            <a:fillRect/>
          </a:stretch>
        </p:blipFill>
        <p:spPr>
          <a:xfrm>
            <a:off x="9958212" y="107366"/>
            <a:ext cx="2064271" cy="696502"/>
          </a:xfrm>
          <a:prstGeom prst="rect">
            <a:avLst/>
          </a:prstGeom>
        </p:spPr>
      </p:pic>
      <p:sp>
        <p:nvSpPr>
          <p:cNvPr id="4" name="TextBox 3">
            <a:extLst>
              <a:ext uri="{FF2B5EF4-FFF2-40B4-BE49-F238E27FC236}">
                <a16:creationId xmlns:a16="http://schemas.microsoft.com/office/drawing/2014/main" id="{BE4FA7D6-240E-5D23-392C-F1211F29FA56}"/>
              </a:ext>
            </a:extLst>
          </p:cNvPr>
          <p:cNvSpPr txBox="1"/>
          <p:nvPr/>
        </p:nvSpPr>
        <p:spPr>
          <a:xfrm>
            <a:off x="5916457" y="3575203"/>
            <a:ext cx="6106026" cy="769441"/>
          </a:xfrm>
          <a:prstGeom prst="rect">
            <a:avLst/>
          </a:prstGeom>
          <a:noFill/>
        </p:spPr>
        <p:txBody>
          <a:bodyPr wrap="square">
            <a:spAutoFit/>
          </a:bodyPr>
          <a:lstStyle/>
          <a:p>
            <a:r>
              <a:rPr lang="en-US" sz="4400" dirty="0">
                <a:hlinkClick r:id="rId4"/>
              </a:rPr>
              <a:t>TIDA · GitHub</a:t>
            </a:r>
            <a:endParaRPr lang="en-US" sz="4400" dirty="0"/>
          </a:p>
        </p:txBody>
      </p:sp>
      <p:pic>
        <p:nvPicPr>
          <p:cNvPr id="10" name="Picture 9">
            <a:extLst>
              <a:ext uri="{FF2B5EF4-FFF2-40B4-BE49-F238E27FC236}">
                <a16:creationId xmlns:a16="http://schemas.microsoft.com/office/drawing/2014/main" id="{7C252C88-D4D3-9B94-0187-F44448B8CF62}"/>
              </a:ext>
            </a:extLst>
          </p:cNvPr>
          <p:cNvPicPr>
            <a:picLocks noChangeAspect="1"/>
          </p:cNvPicPr>
          <p:nvPr/>
        </p:nvPicPr>
        <p:blipFill>
          <a:blip r:embed="rId5"/>
          <a:stretch>
            <a:fillRect/>
          </a:stretch>
        </p:blipFill>
        <p:spPr>
          <a:xfrm>
            <a:off x="2919592" y="2657307"/>
            <a:ext cx="2638926" cy="2638926"/>
          </a:xfrm>
          <a:prstGeom prst="rect">
            <a:avLst/>
          </a:prstGeom>
        </p:spPr>
      </p:pic>
    </p:spTree>
    <p:extLst>
      <p:ext uri="{BB962C8B-B14F-4D97-AF65-F5344CB8AC3E}">
        <p14:creationId xmlns:p14="http://schemas.microsoft.com/office/powerpoint/2010/main" val="2270079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7EEF-F3B3-A691-39B3-634309057C1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26EB1D6-3C65-EFEF-3F89-BB23E64AB81A}"/>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EF1C4886-EFB6-EE2A-C540-14927FA877AF}"/>
              </a:ext>
            </a:extLst>
          </p:cNvPr>
          <p:cNvSpPr>
            <a:spLocks noGrp="1"/>
          </p:cNvSpPr>
          <p:nvPr>
            <p:ph type="title"/>
          </p:nvPr>
        </p:nvSpPr>
        <p:spPr>
          <a:xfrm>
            <a:off x="341085" y="219392"/>
            <a:ext cx="10515600" cy="1325563"/>
          </a:xfrm>
        </p:spPr>
        <p:txBody>
          <a:bodyPr/>
          <a:lstStyle/>
          <a:p>
            <a:endParaRPr lang="en-GB" noProof="0" dirty="0">
              <a:solidFill>
                <a:schemeClr val="bg1"/>
              </a:solidFill>
            </a:endParaRPr>
          </a:p>
        </p:txBody>
      </p:sp>
      <p:pic>
        <p:nvPicPr>
          <p:cNvPr id="13" name="Picture 12">
            <a:extLst>
              <a:ext uri="{FF2B5EF4-FFF2-40B4-BE49-F238E27FC236}">
                <a16:creationId xmlns:a16="http://schemas.microsoft.com/office/drawing/2014/main" id="{D1D4C387-83B3-51DA-53F3-17D302D1AA56}"/>
              </a:ext>
            </a:extLst>
          </p:cNvPr>
          <p:cNvPicPr>
            <a:picLocks noChangeAspect="1"/>
          </p:cNvPicPr>
          <p:nvPr/>
        </p:nvPicPr>
        <p:blipFill>
          <a:blip r:embed="rId2"/>
          <a:stretch>
            <a:fillRect/>
          </a:stretch>
        </p:blipFill>
        <p:spPr>
          <a:xfrm>
            <a:off x="9958212" y="107366"/>
            <a:ext cx="2064271" cy="696502"/>
          </a:xfrm>
          <a:prstGeom prst="rect">
            <a:avLst/>
          </a:prstGeom>
        </p:spPr>
      </p:pic>
      <p:sp>
        <p:nvSpPr>
          <p:cNvPr id="2" name="TextBox 1">
            <a:extLst>
              <a:ext uri="{FF2B5EF4-FFF2-40B4-BE49-F238E27FC236}">
                <a16:creationId xmlns:a16="http://schemas.microsoft.com/office/drawing/2014/main" id="{38FF3BED-1C4D-6B4D-FE09-3F4B7D0FDB85}"/>
              </a:ext>
            </a:extLst>
          </p:cNvPr>
          <p:cNvSpPr txBox="1"/>
          <p:nvPr/>
        </p:nvSpPr>
        <p:spPr>
          <a:xfrm>
            <a:off x="1510770" y="3429000"/>
            <a:ext cx="9170459" cy="707886"/>
          </a:xfrm>
          <a:prstGeom prst="rect">
            <a:avLst/>
          </a:prstGeom>
          <a:noFill/>
        </p:spPr>
        <p:txBody>
          <a:bodyPr wrap="none" rtlCol="0">
            <a:spAutoFit/>
          </a:bodyPr>
          <a:lstStyle/>
          <a:p>
            <a:r>
              <a:rPr lang="en-US" sz="4000" b="1" dirty="0"/>
              <a:t>THANK YOU FOR YOUR PARTICIPATION</a:t>
            </a:r>
          </a:p>
        </p:txBody>
      </p:sp>
    </p:spTree>
    <p:extLst>
      <p:ext uri="{BB962C8B-B14F-4D97-AF65-F5344CB8AC3E}">
        <p14:creationId xmlns:p14="http://schemas.microsoft.com/office/powerpoint/2010/main" val="845700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F5D4C-6B8B-3F0D-1F5C-55C8EB862FF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1D0B4E9-113F-1B59-9C78-028D9DA8AC81}"/>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EEA606E3-0F92-7615-B925-127DA6E2D807}"/>
              </a:ext>
            </a:extLst>
          </p:cNvPr>
          <p:cNvSpPr>
            <a:spLocks noGrp="1"/>
          </p:cNvSpPr>
          <p:nvPr>
            <p:ph type="title"/>
          </p:nvPr>
        </p:nvSpPr>
        <p:spPr>
          <a:xfrm>
            <a:off x="341085" y="219392"/>
            <a:ext cx="10515600" cy="1325563"/>
          </a:xfrm>
        </p:spPr>
        <p:txBody>
          <a:bodyPr/>
          <a:lstStyle/>
          <a:p>
            <a:r>
              <a:rPr lang="en-US" dirty="0">
                <a:solidFill>
                  <a:schemeClr val="bg1"/>
                </a:solidFill>
              </a:rPr>
              <a:t>Why creating TIDA?</a:t>
            </a:r>
            <a:endParaRPr lang="en-GB" noProof="0" dirty="0">
              <a:solidFill>
                <a:schemeClr val="bg1"/>
              </a:solidFill>
            </a:endParaRPr>
          </a:p>
        </p:txBody>
      </p:sp>
      <p:pic>
        <p:nvPicPr>
          <p:cNvPr id="13" name="Picture 12">
            <a:extLst>
              <a:ext uri="{FF2B5EF4-FFF2-40B4-BE49-F238E27FC236}">
                <a16:creationId xmlns:a16="http://schemas.microsoft.com/office/drawing/2014/main" id="{7750198F-17D5-680D-FED5-6526C305DCBC}"/>
              </a:ext>
            </a:extLst>
          </p:cNvPr>
          <p:cNvPicPr>
            <a:picLocks noChangeAspect="1"/>
          </p:cNvPicPr>
          <p:nvPr/>
        </p:nvPicPr>
        <p:blipFill>
          <a:blip r:embed="rId2"/>
          <a:stretch>
            <a:fillRect/>
          </a:stretch>
        </p:blipFill>
        <p:spPr>
          <a:xfrm>
            <a:off x="9958212" y="107366"/>
            <a:ext cx="2064271" cy="696502"/>
          </a:xfrm>
          <a:prstGeom prst="rect">
            <a:avLst/>
          </a:prstGeom>
        </p:spPr>
      </p:pic>
      <p:sp>
        <p:nvSpPr>
          <p:cNvPr id="3" name="TextBox 2">
            <a:extLst>
              <a:ext uri="{FF2B5EF4-FFF2-40B4-BE49-F238E27FC236}">
                <a16:creationId xmlns:a16="http://schemas.microsoft.com/office/drawing/2014/main" id="{98527B60-3A7C-AF9C-F08D-38B041DF3CEC}"/>
              </a:ext>
            </a:extLst>
          </p:cNvPr>
          <p:cNvSpPr txBox="1"/>
          <p:nvPr/>
        </p:nvSpPr>
        <p:spPr>
          <a:xfrm>
            <a:off x="651511" y="1908224"/>
            <a:ext cx="11144250" cy="3785652"/>
          </a:xfrm>
          <a:prstGeom prst="rect">
            <a:avLst/>
          </a:prstGeom>
          <a:noFill/>
        </p:spPr>
        <p:txBody>
          <a:bodyPr wrap="square" rtlCol="0">
            <a:spAutoFit/>
          </a:bodyPr>
          <a:lstStyle/>
          <a:p>
            <a:r>
              <a:rPr lang="en-US" sz="2400" i="1" dirty="0"/>
              <a:t>As AI agents begin to negotiate, transact, and act autonomously on our behalf, the world lacks </a:t>
            </a:r>
            <a:r>
              <a:rPr lang="en-US" sz="2400" b="1" i="1" dirty="0"/>
              <a:t>common international foundations </a:t>
            </a:r>
            <a:r>
              <a:rPr lang="en-US" sz="2400" i="1" dirty="0"/>
              <a:t>to establish who these agents are, when they can be trusted, and how humans remain in control: FG-TIDA was created to build that foundation before agentic AI becomes ubiquitous</a:t>
            </a:r>
          </a:p>
          <a:p>
            <a:endParaRPr lang="en-US" sz="2400" b="1" i="1" dirty="0">
              <a:solidFill>
                <a:schemeClr val="accent1"/>
              </a:solidFill>
            </a:endParaRPr>
          </a:p>
          <a:p>
            <a:r>
              <a:rPr lang="en-US" sz="2400" b="1" i="1" dirty="0">
                <a:solidFill>
                  <a:schemeClr val="accent1"/>
                </a:solidFill>
              </a:rPr>
              <a:t>Our objective is to define architectural models and interoperability frameworks that establish trust in agentic AI.</a:t>
            </a:r>
          </a:p>
          <a:p>
            <a:endParaRPr lang="en-US" sz="2400" b="1" i="1" dirty="0">
              <a:solidFill>
                <a:schemeClr val="accent1"/>
              </a:solidFill>
            </a:endParaRPr>
          </a:p>
          <a:p>
            <a:r>
              <a:rPr lang="en-US" sz="2400" b="1" i="1" dirty="0">
                <a:solidFill>
                  <a:schemeClr val="accent1"/>
                </a:solidFill>
              </a:rPr>
              <a:t>As part of the UN, we bring together an inclusive, global community of Member States, academia, and industry to build this foundation together.</a:t>
            </a:r>
          </a:p>
        </p:txBody>
      </p:sp>
    </p:spTree>
    <p:extLst>
      <p:ext uri="{BB962C8B-B14F-4D97-AF65-F5344CB8AC3E}">
        <p14:creationId xmlns:p14="http://schemas.microsoft.com/office/powerpoint/2010/main" val="1371515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ADCCB-24EE-D457-B630-97AC8137032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77D7C7B-013F-4B58-8A6B-F69AAF9E2F35}"/>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01DEF8EB-5532-4B82-8611-70A44EA76713}"/>
              </a:ext>
            </a:extLst>
          </p:cNvPr>
          <p:cNvSpPr>
            <a:spLocks noGrp="1"/>
          </p:cNvSpPr>
          <p:nvPr>
            <p:ph type="title"/>
          </p:nvPr>
        </p:nvSpPr>
        <p:spPr>
          <a:xfrm>
            <a:off x="341085" y="219392"/>
            <a:ext cx="10515600" cy="1325563"/>
          </a:xfrm>
        </p:spPr>
        <p:txBody>
          <a:bodyPr/>
          <a:lstStyle/>
          <a:p>
            <a:r>
              <a:rPr lang="en-US" dirty="0">
                <a:solidFill>
                  <a:schemeClr val="bg1"/>
                </a:solidFill>
              </a:rPr>
              <a:t>What is a Focus Group in ITU?</a:t>
            </a:r>
            <a:endParaRPr lang="en-GB" noProof="0" dirty="0">
              <a:solidFill>
                <a:schemeClr val="bg1"/>
              </a:solidFill>
            </a:endParaRPr>
          </a:p>
        </p:txBody>
      </p:sp>
      <p:pic>
        <p:nvPicPr>
          <p:cNvPr id="13" name="Picture 12">
            <a:extLst>
              <a:ext uri="{FF2B5EF4-FFF2-40B4-BE49-F238E27FC236}">
                <a16:creationId xmlns:a16="http://schemas.microsoft.com/office/drawing/2014/main" id="{3A6E706E-C5EB-D60A-28F6-E20815A6D5D4}"/>
              </a:ext>
            </a:extLst>
          </p:cNvPr>
          <p:cNvPicPr>
            <a:picLocks noChangeAspect="1"/>
          </p:cNvPicPr>
          <p:nvPr/>
        </p:nvPicPr>
        <p:blipFill>
          <a:blip r:embed="rId2"/>
          <a:stretch>
            <a:fillRect/>
          </a:stretch>
        </p:blipFill>
        <p:spPr>
          <a:xfrm>
            <a:off x="9958212" y="107366"/>
            <a:ext cx="2064271" cy="696502"/>
          </a:xfrm>
          <a:prstGeom prst="rect">
            <a:avLst/>
          </a:prstGeom>
        </p:spPr>
      </p:pic>
      <p:sp>
        <p:nvSpPr>
          <p:cNvPr id="3" name="TextBox 2">
            <a:extLst>
              <a:ext uri="{FF2B5EF4-FFF2-40B4-BE49-F238E27FC236}">
                <a16:creationId xmlns:a16="http://schemas.microsoft.com/office/drawing/2014/main" id="{99F61192-C12F-7970-22BB-68998A465BE1}"/>
              </a:ext>
            </a:extLst>
          </p:cNvPr>
          <p:cNvSpPr txBox="1"/>
          <p:nvPr/>
        </p:nvSpPr>
        <p:spPr>
          <a:xfrm>
            <a:off x="1127235" y="2547257"/>
            <a:ext cx="9937529" cy="2246769"/>
          </a:xfrm>
          <a:prstGeom prst="rect">
            <a:avLst/>
          </a:prstGeom>
          <a:noFill/>
        </p:spPr>
        <p:txBody>
          <a:bodyPr wrap="none" rtlCol="0">
            <a:spAutoFit/>
          </a:bodyPr>
          <a:lstStyle/>
          <a:p>
            <a:r>
              <a:rPr lang="en-US" sz="2800" dirty="0"/>
              <a:t>TIDA Focus Group is</a:t>
            </a:r>
          </a:p>
          <a:p>
            <a:endParaRPr lang="en-US" sz="2800" dirty="0"/>
          </a:p>
          <a:p>
            <a:r>
              <a:rPr lang="en-US" sz="2800" dirty="0"/>
              <a:t>An </a:t>
            </a:r>
            <a:r>
              <a:rPr lang="en-US" sz="2800" b="1" dirty="0">
                <a:solidFill>
                  <a:schemeClr val="accent1"/>
                </a:solidFill>
              </a:rPr>
              <a:t>Open Community </a:t>
            </a:r>
            <a:r>
              <a:rPr lang="en-US" sz="2800" dirty="0"/>
              <a:t>(</a:t>
            </a:r>
            <a:r>
              <a:rPr lang="en-US" sz="2800" dirty="0">
                <a:sym typeface="Wingdings" panose="05000000000000000000" pitchFamily="2" charset="2"/>
              </a:rPr>
              <a:t>no need to be member of ITU to participate) </a:t>
            </a:r>
          </a:p>
          <a:p>
            <a:endParaRPr lang="en-US" sz="2800" dirty="0">
              <a:sym typeface="Wingdings" panose="05000000000000000000" pitchFamily="2" charset="2"/>
            </a:endParaRPr>
          </a:p>
          <a:p>
            <a:r>
              <a:rPr lang="en-US" sz="2800" dirty="0">
                <a:sym typeface="Wingdings" panose="05000000000000000000" pitchFamily="2" charset="2"/>
              </a:rPr>
              <a:t>conducting </a:t>
            </a:r>
            <a:r>
              <a:rPr lang="en-US" sz="2800" b="1" dirty="0">
                <a:solidFill>
                  <a:schemeClr val="accent1"/>
                </a:solidFill>
                <a:sym typeface="Wingdings" panose="05000000000000000000" pitchFamily="2" charset="2"/>
              </a:rPr>
              <a:t>pre-standardization work</a:t>
            </a:r>
            <a:endParaRPr lang="en-US" sz="2800" b="1" dirty="0">
              <a:solidFill>
                <a:schemeClr val="accent1"/>
              </a:solidFill>
            </a:endParaRPr>
          </a:p>
        </p:txBody>
      </p:sp>
    </p:spTree>
    <p:extLst>
      <p:ext uri="{BB962C8B-B14F-4D97-AF65-F5344CB8AC3E}">
        <p14:creationId xmlns:p14="http://schemas.microsoft.com/office/powerpoint/2010/main" val="1844872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B446C-C660-5429-AFE6-43DAB163EBD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56EB247-C60F-3AB7-3B23-3A4DD5DD4597}"/>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03FA2570-5F09-3072-071A-5FC492D12C7C}"/>
              </a:ext>
            </a:extLst>
          </p:cNvPr>
          <p:cNvSpPr>
            <a:spLocks noGrp="1"/>
          </p:cNvSpPr>
          <p:nvPr>
            <p:ph type="title"/>
          </p:nvPr>
        </p:nvSpPr>
        <p:spPr>
          <a:xfrm>
            <a:off x="341085" y="219392"/>
            <a:ext cx="10515600" cy="1325563"/>
          </a:xfrm>
        </p:spPr>
        <p:txBody>
          <a:bodyPr/>
          <a:lstStyle/>
          <a:p>
            <a:r>
              <a:rPr lang="en-US" dirty="0">
                <a:solidFill>
                  <a:schemeClr val="bg1"/>
                </a:solidFill>
              </a:rPr>
              <a:t>Pls subscribe to our Mailing List</a:t>
            </a:r>
            <a:endParaRPr lang="en-GB" noProof="0" dirty="0">
              <a:solidFill>
                <a:schemeClr val="bg1"/>
              </a:solidFill>
            </a:endParaRPr>
          </a:p>
        </p:txBody>
      </p:sp>
      <p:pic>
        <p:nvPicPr>
          <p:cNvPr id="13" name="Picture 12">
            <a:extLst>
              <a:ext uri="{FF2B5EF4-FFF2-40B4-BE49-F238E27FC236}">
                <a16:creationId xmlns:a16="http://schemas.microsoft.com/office/drawing/2014/main" id="{6B7AC02F-5383-4089-7D1B-2C3F37AFD4A7}"/>
              </a:ext>
            </a:extLst>
          </p:cNvPr>
          <p:cNvPicPr>
            <a:picLocks noChangeAspect="1"/>
          </p:cNvPicPr>
          <p:nvPr/>
        </p:nvPicPr>
        <p:blipFill>
          <a:blip r:embed="rId2"/>
          <a:stretch>
            <a:fillRect/>
          </a:stretch>
        </p:blipFill>
        <p:spPr>
          <a:xfrm>
            <a:off x="9958212" y="107366"/>
            <a:ext cx="2064271" cy="696502"/>
          </a:xfrm>
          <a:prstGeom prst="rect">
            <a:avLst/>
          </a:prstGeom>
        </p:spPr>
      </p:pic>
      <p:sp>
        <p:nvSpPr>
          <p:cNvPr id="3" name="TextBox 2">
            <a:extLst>
              <a:ext uri="{FF2B5EF4-FFF2-40B4-BE49-F238E27FC236}">
                <a16:creationId xmlns:a16="http://schemas.microsoft.com/office/drawing/2014/main" id="{75C8EE90-327E-C186-A066-4504866B3360}"/>
              </a:ext>
            </a:extLst>
          </p:cNvPr>
          <p:cNvSpPr txBox="1"/>
          <p:nvPr/>
        </p:nvSpPr>
        <p:spPr>
          <a:xfrm>
            <a:off x="718162" y="2951946"/>
            <a:ext cx="11217164" cy="2246769"/>
          </a:xfrm>
          <a:prstGeom prst="rect">
            <a:avLst/>
          </a:prstGeom>
          <a:noFill/>
        </p:spPr>
        <p:txBody>
          <a:bodyPr wrap="square" rtlCol="0">
            <a:spAutoFit/>
          </a:bodyPr>
          <a:lstStyle/>
          <a:p>
            <a:r>
              <a:rPr lang="en-US" sz="2800" dirty="0"/>
              <a:t>Please subscribe to the mailing list here: </a:t>
            </a:r>
          </a:p>
          <a:p>
            <a:r>
              <a:rPr lang="en-US" sz="2800" b="1" dirty="0">
                <a:solidFill>
                  <a:schemeClr val="accent1"/>
                </a:solidFill>
                <a:hlinkClick r:id="rId3"/>
              </a:rPr>
              <a:t>https://www.itu.int/en/ITU-T/focusgroups/tida/Pages/default.aspx</a:t>
            </a:r>
            <a:endParaRPr lang="en-US" sz="2800" b="1" dirty="0">
              <a:solidFill>
                <a:schemeClr val="accent1"/>
              </a:solidFill>
            </a:endParaRPr>
          </a:p>
          <a:p>
            <a:endParaRPr lang="en-US" sz="2800" b="1" dirty="0">
              <a:solidFill>
                <a:schemeClr val="accent1"/>
              </a:solidFill>
            </a:endParaRPr>
          </a:p>
          <a:p>
            <a:r>
              <a:rPr lang="en-US" sz="2800" b="1" dirty="0">
                <a:solidFill>
                  <a:schemeClr val="accent1"/>
                </a:solidFill>
                <a:sym typeface="Wingdings" panose="05000000000000000000" pitchFamily="2" charset="2"/>
              </a:rPr>
              <a:t> From Dec 1</a:t>
            </a:r>
            <a:r>
              <a:rPr lang="en-US" sz="2800" b="1" baseline="30000" dirty="0">
                <a:solidFill>
                  <a:schemeClr val="accent1"/>
                </a:solidFill>
                <a:sym typeface="Wingdings" panose="05000000000000000000" pitchFamily="2" charset="2"/>
              </a:rPr>
              <a:t>st</a:t>
            </a:r>
            <a:r>
              <a:rPr lang="en-US" sz="2800" b="1" dirty="0">
                <a:solidFill>
                  <a:schemeClr val="accent1"/>
                </a:solidFill>
                <a:sym typeface="Wingdings" panose="05000000000000000000" pitchFamily="2" charset="2"/>
              </a:rPr>
              <a:t> I will ONLY use the mailing list to send meeting invitations</a:t>
            </a:r>
            <a:endParaRPr lang="en-US" sz="2800" b="1" dirty="0">
              <a:solidFill>
                <a:schemeClr val="accent1"/>
              </a:solidFill>
            </a:endParaRPr>
          </a:p>
        </p:txBody>
      </p:sp>
    </p:spTree>
    <p:extLst>
      <p:ext uri="{BB962C8B-B14F-4D97-AF65-F5344CB8AC3E}">
        <p14:creationId xmlns:p14="http://schemas.microsoft.com/office/powerpoint/2010/main" val="1833515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271F3-66C6-81AB-3E6C-A165D5237CC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5CDB98A-64C3-BC70-BE02-4BD8390CD59B}"/>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1401A143-544D-3018-4757-57592FB4020C}"/>
              </a:ext>
            </a:extLst>
          </p:cNvPr>
          <p:cNvSpPr>
            <a:spLocks noGrp="1"/>
          </p:cNvSpPr>
          <p:nvPr>
            <p:ph type="title"/>
          </p:nvPr>
        </p:nvSpPr>
        <p:spPr>
          <a:xfrm>
            <a:off x="341085" y="219392"/>
            <a:ext cx="10515600" cy="1325563"/>
          </a:xfrm>
        </p:spPr>
        <p:txBody>
          <a:bodyPr/>
          <a:lstStyle/>
          <a:p>
            <a:r>
              <a:rPr lang="en-US" dirty="0">
                <a:solidFill>
                  <a:schemeClr val="bg1"/>
                </a:solidFill>
              </a:rPr>
              <a:t>What is happening next?</a:t>
            </a:r>
            <a:endParaRPr lang="en-GB" noProof="0" dirty="0">
              <a:solidFill>
                <a:schemeClr val="bg1"/>
              </a:solidFill>
            </a:endParaRPr>
          </a:p>
        </p:txBody>
      </p:sp>
      <p:pic>
        <p:nvPicPr>
          <p:cNvPr id="13" name="Picture 12">
            <a:extLst>
              <a:ext uri="{FF2B5EF4-FFF2-40B4-BE49-F238E27FC236}">
                <a16:creationId xmlns:a16="http://schemas.microsoft.com/office/drawing/2014/main" id="{6E54ECDD-3B2C-A3CD-7CB7-C6EE71066C27}"/>
              </a:ext>
            </a:extLst>
          </p:cNvPr>
          <p:cNvPicPr>
            <a:picLocks noChangeAspect="1"/>
          </p:cNvPicPr>
          <p:nvPr/>
        </p:nvPicPr>
        <p:blipFill>
          <a:blip r:embed="rId2"/>
          <a:stretch>
            <a:fillRect/>
          </a:stretch>
        </p:blipFill>
        <p:spPr>
          <a:xfrm>
            <a:off x="9958212" y="107366"/>
            <a:ext cx="2064271" cy="696502"/>
          </a:xfrm>
          <a:prstGeom prst="rect">
            <a:avLst/>
          </a:prstGeom>
        </p:spPr>
      </p:pic>
      <p:sp>
        <p:nvSpPr>
          <p:cNvPr id="4" name="Shape 2">
            <a:extLst>
              <a:ext uri="{FF2B5EF4-FFF2-40B4-BE49-F238E27FC236}">
                <a16:creationId xmlns:a16="http://schemas.microsoft.com/office/drawing/2014/main" id="{D58F7392-D9C0-9848-5C5B-B146EAC5BB25}"/>
              </a:ext>
            </a:extLst>
          </p:cNvPr>
          <p:cNvSpPr/>
          <p:nvPr/>
        </p:nvSpPr>
        <p:spPr>
          <a:xfrm>
            <a:off x="439782" y="1827128"/>
            <a:ext cx="11091672" cy="566928"/>
          </a:xfrm>
          <a:prstGeom prst="roundRect">
            <a:avLst>
              <a:gd name="adj" fmla="val 8065"/>
            </a:avLst>
          </a:prstGeom>
          <a:solidFill>
            <a:srgbClr val="F3F6FB"/>
          </a:solidFill>
          <a:ln w="6350">
            <a:solidFill>
              <a:srgbClr val="D8E0EC"/>
            </a:solidFill>
            <a:prstDash val="solid"/>
          </a:ln>
        </p:spPr>
        <p:txBody>
          <a:bodyPr/>
          <a:lstStyle/>
          <a:p>
            <a:endParaRPr lang="fr-FR"/>
          </a:p>
        </p:txBody>
      </p:sp>
      <p:sp>
        <p:nvSpPr>
          <p:cNvPr id="6" name="Shape 3">
            <a:extLst>
              <a:ext uri="{FF2B5EF4-FFF2-40B4-BE49-F238E27FC236}">
                <a16:creationId xmlns:a16="http://schemas.microsoft.com/office/drawing/2014/main" id="{F6622112-DA0D-4886-98AC-865B66593B5C}"/>
              </a:ext>
            </a:extLst>
          </p:cNvPr>
          <p:cNvSpPr/>
          <p:nvPr/>
        </p:nvSpPr>
        <p:spPr>
          <a:xfrm>
            <a:off x="640950" y="2028296"/>
            <a:ext cx="164592" cy="164592"/>
          </a:xfrm>
          <a:prstGeom prst="ellipse">
            <a:avLst/>
          </a:prstGeom>
          <a:solidFill>
            <a:srgbClr val="F2A900"/>
          </a:solidFill>
          <a:ln/>
        </p:spPr>
        <p:txBody>
          <a:bodyPr/>
          <a:lstStyle/>
          <a:p>
            <a:endParaRPr lang="fr-FR"/>
          </a:p>
        </p:txBody>
      </p:sp>
      <p:sp>
        <p:nvSpPr>
          <p:cNvPr id="10" name="Text 4">
            <a:extLst>
              <a:ext uri="{FF2B5EF4-FFF2-40B4-BE49-F238E27FC236}">
                <a16:creationId xmlns:a16="http://schemas.microsoft.com/office/drawing/2014/main" id="{B601F10D-4C5E-C261-7162-58261879DC3D}"/>
              </a:ext>
            </a:extLst>
          </p:cNvPr>
          <p:cNvSpPr/>
          <p:nvPr/>
        </p:nvSpPr>
        <p:spPr>
          <a:xfrm>
            <a:off x="988422" y="1827128"/>
            <a:ext cx="2286000" cy="566928"/>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7 Sep 2026</a:t>
            </a:r>
            <a:endParaRPr lang="en-US" sz="1300" dirty="0"/>
          </a:p>
        </p:txBody>
      </p:sp>
      <p:sp>
        <p:nvSpPr>
          <p:cNvPr id="12" name="Text 5">
            <a:extLst>
              <a:ext uri="{FF2B5EF4-FFF2-40B4-BE49-F238E27FC236}">
                <a16:creationId xmlns:a16="http://schemas.microsoft.com/office/drawing/2014/main" id="{AF2B81CC-4347-6B3F-8BA8-4B7F0D139A47}"/>
              </a:ext>
            </a:extLst>
          </p:cNvPr>
          <p:cNvSpPr/>
          <p:nvPr/>
        </p:nvSpPr>
        <p:spPr>
          <a:xfrm>
            <a:off x="3365862" y="1827128"/>
            <a:ext cx="4572000" cy="566928"/>
          </a:xfrm>
          <a:prstGeom prst="rect">
            <a:avLst/>
          </a:prstGeom>
          <a:noFill/>
          <a:ln/>
        </p:spPr>
        <p:txBody>
          <a:bodyPr wrap="square" lIns="0" tIns="0" rIns="0" bIns="0" rtlCol="0" anchor="ctr"/>
          <a:lstStyle/>
          <a:p>
            <a:pPr marL="0" indent="0">
              <a:buNone/>
            </a:pPr>
            <a:r>
              <a:rPr lang="en-US" sz="1250" b="1" dirty="0">
                <a:solidFill>
                  <a:srgbClr val="22303C"/>
                </a:solidFill>
                <a:latin typeface="Calibri" pitchFamily="34" charset="0"/>
                <a:ea typeface="Calibri" pitchFamily="34" charset="-122"/>
                <a:cs typeface="Calibri" pitchFamily="34" charset="-120"/>
              </a:rPr>
              <a:t>2nd SG17 Content Week, Chongqing (China)</a:t>
            </a:r>
            <a:endParaRPr lang="en-US" sz="1250" dirty="0"/>
          </a:p>
        </p:txBody>
      </p:sp>
      <p:sp>
        <p:nvSpPr>
          <p:cNvPr id="15" name="Text 6">
            <a:extLst>
              <a:ext uri="{FF2B5EF4-FFF2-40B4-BE49-F238E27FC236}">
                <a16:creationId xmlns:a16="http://schemas.microsoft.com/office/drawing/2014/main" id="{257B9995-1919-02C8-359C-AB3EB0092781}"/>
              </a:ext>
            </a:extLst>
          </p:cNvPr>
          <p:cNvSpPr/>
          <p:nvPr/>
        </p:nvSpPr>
        <p:spPr>
          <a:xfrm>
            <a:off x="8029302" y="1827128"/>
            <a:ext cx="3319272" cy="566928"/>
          </a:xfrm>
          <a:prstGeom prst="rect">
            <a:avLst/>
          </a:prstGeom>
          <a:noFill/>
          <a:ln/>
        </p:spPr>
        <p:txBody>
          <a:bodyPr wrap="square" lIns="0" tIns="0" rIns="0" bIns="0" rtlCol="0" anchor="ctr"/>
          <a:lstStyle/>
          <a:p>
            <a:pPr marL="0" indent="0">
              <a:buNone/>
            </a:pPr>
            <a:r>
              <a:rPr lang="en-US" sz="1150" i="1" dirty="0">
                <a:solidFill>
                  <a:srgbClr val="6B7785"/>
                </a:solidFill>
                <a:latin typeface="Calibri" pitchFamily="34" charset="0"/>
                <a:ea typeface="Calibri" pitchFamily="34" charset="-122"/>
                <a:cs typeface="Calibri" pitchFamily="34" charset="-120"/>
              </a:rPr>
              <a:t>Two SG17 workshops: ITS/CAV security · Secure Agentic AI</a:t>
            </a:r>
            <a:endParaRPr lang="en-US" sz="1150" dirty="0"/>
          </a:p>
        </p:txBody>
      </p:sp>
      <p:sp>
        <p:nvSpPr>
          <p:cNvPr id="17" name="Shape 7">
            <a:extLst>
              <a:ext uri="{FF2B5EF4-FFF2-40B4-BE49-F238E27FC236}">
                <a16:creationId xmlns:a16="http://schemas.microsoft.com/office/drawing/2014/main" id="{C03A5987-FF6C-19C9-CEF9-CE8003855208}"/>
              </a:ext>
            </a:extLst>
          </p:cNvPr>
          <p:cNvSpPr/>
          <p:nvPr/>
        </p:nvSpPr>
        <p:spPr>
          <a:xfrm>
            <a:off x="439782" y="2476352"/>
            <a:ext cx="11091672" cy="566928"/>
          </a:xfrm>
          <a:prstGeom prst="roundRect">
            <a:avLst>
              <a:gd name="adj" fmla="val 8065"/>
            </a:avLst>
          </a:prstGeom>
          <a:solidFill>
            <a:srgbClr val="FFFFFF"/>
          </a:solidFill>
          <a:ln w="6350">
            <a:solidFill>
              <a:srgbClr val="D8E0EC"/>
            </a:solidFill>
            <a:prstDash val="solid"/>
          </a:ln>
        </p:spPr>
        <p:txBody>
          <a:bodyPr/>
          <a:lstStyle/>
          <a:p>
            <a:endParaRPr lang="fr-FR"/>
          </a:p>
        </p:txBody>
      </p:sp>
      <p:sp>
        <p:nvSpPr>
          <p:cNvPr id="19" name="Shape 8">
            <a:extLst>
              <a:ext uri="{FF2B5EF4-FFF2-40B4-BE49-F238E27FC236}">
                <a16:creationId xmlns:a16="http://schemas.microsoft.com/office/drawing/2014/main" id="{8AD3EE46-3F48-E0A6-974F-91FE87469589}"/>
              </a:ext>
            </a:extLst>
          </p:cNvPr>
          <p:cNvSpPr/>
          <p:nvPr/>
        </p:nvSpPr>
        <p:spPr>
          <a:xfrm>
            <a:off x="640950" y="2677520"/>
            <a:ext cx="164592" cy="164592"/>
          </a:xfrm>
          <a:prstGeom prst="ellipse">
            <a:avLst/>
          </a:prstGeom>
          <a:solidFill>
            <a:srgbClr val="F2A900"/>
          </a:solidFill>
          <a:ln/>
        </p:spPr>
        <p:txBody>
          <a:bodyPr/>
          <a:lstStyle/>
          <a:p>
            <a:endParaRPr lang="fr-FR"/>
          </a:p>
        </p:txBody>
      </p:sp>
      <p:sp>
        <p:nvSpPr>
          <p:cNvPr id="21" name="Text 9">
            <a:extLst>
              <a:ext uri="{FF2B5EF4-FFF2-40B4-BE49-F238E27FC236}">
                <a16:creationId xmlns:a16="http://schemas.microsoft.com/office/drawing/2014/main" id="{FFF788A3-F3F4-3B59-53CD-83D85B76940C}"/>
              </a:ext>
            </a:extLst>
          </p:cNvPr>
          <p:cNvSpPr/>
          <p:nvPr/>
        </p:nvSpPr>
        <p:spPr>
          <a:xfrm>
            <a:off x="988422" y="2476352"/>
            <a:ext cx="2286000" cy="566928"/>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7 Oct 2026</a:t>
            </a:r>
            <a:endParaRPr lang="en-US" sz="1300" dirty="0"/>
          </a:p>
        </p:txBody>
      </p:sp>
      <p:sp>
        <p:nvSpPr>
          <p:cNvPr id="23" name="Text 10">
            <a:extLst>
              <a:ext uri="{FF2B5EF4-FFF2-40B4-BE49-F238E27FC236}">
                <a16:creationId xmlns:a16="http://schemas.microsoft.com/office/drawing/2014/main" id="{C38DEFA1-61FC-8BF3-50DA-5F927E357A60}"/>
              </a:ext>
            </a:extLst>
          </p:cNvPr>
          <p:cNvSpPr/>
          <p:nvPr/>
        </p:nvSpPr>
        <p:spPr>
          <a:xfrm>
            <a:off x="3365862" y="2476352"/>
            <a:ext cx="4572000" cy="566928"/>
          </a:xfrm>
          <a:prstGeom prst="rect">
            <a:avLst/>
          </a:prstGeom>
          <a:noFill/>
          <a:ln/>
        </p:spPr>
        <p:txBody>
          <a:bodyPr wrap="square" lIns="0" tIns="0" rIns="0" bIns="0" rtlCol="0" anchor="ctr"/>
          <a:lstStyle/>
          <a:p>
            <a:pPr marL="0" indent="0">
              <a:buNone/>
            </a:pPr>
            <a:r>
              <a:rPr lang="en-US" sz="1250" b="1" dirty="0">
                <a:solidFill>
                  <a:srgbClr val="22303C"/>
                </a:solidFill>
                <a:latin typeface="Calibri" pitchFamily="34" charset="0"/>
                <a:ea typeface="Calibri" pitchFamily="34" charset="-122"/>
                <a:cs typeface="Calibri" pitchFamily="34" charset="-120"/>
              </a:rPr>
              <a:t>Interim SG17 plenary (virtual)</a:t>
            </a:r>
            <a:endParaRPr lang="en-US" sz="1250" dirty="0"/>
          </a:p>
        </p:txBody>
      </p:sp>
      <p:sp>
        <p:nvSpPr>
          <p:cNvPr id="25" name="Text 11">
            <a:extLst>
              <a:ext uri="{FF2B5EF4-FFF2-40B4-BE49-F238E27FC236}">
                <a16:creationId xmlns:a16="http://schemas.microsoft.com/office/drawing/2014/main" id="{FF711D9E-BA67-D468-4F0D-054CCABBD701}"/>
              </a:ext>
            </a:extLst>
          </p:cNvPr>
          <p:cNvSpPr/>
          <p:nvPr/>
        </p:nvSpPr>
        <p:spPr>
          <a:xfrm>
            <a:off x="8029302" y="2476352"/>
            <a:ext cx="3319272" cy="566928"/>
          </a:xfrm>
          <a:prstGeom prst="rect">
            <a:avLst/>
          </a:prstGeom>
          <a:noFill/>
          <a:ln/>
        </p:spPr>
        <p:txBody>
          <a:bodyPr wrap="square" lIns="0" tIns="0" rIns="0" bIns="0" rtlCol="0" anchor="ctr"/>
          <a:lstStyle/>
          <a:p>
            <a:pPr marL="0" indent="0">
              <a:buNone/>
            </a:pPr>
            <a:r>
              <a:rPr lang="en-US" sz="1150" i="1" dirty="0">
                <a:solidFill>
                  <a:srgbClr val="6B7785"/>
                </a:solidFill>
                <a:latin typeface="Calibri" pitchFamily="34" charset="0"/>
                <a:ea typeface="Calibri" pitchFamily="34" charset="-122"/>
                <a:cs typeface="Calibri" pitchFamily="34" charset="-120"/>
              </a:rPr>
              <a:t>Progress checkpoint</a:t>
            </a:r>
            <a:endParaRPr lang="en-US" sz="1150" dirty="0"/>
          </a:p>
        </p:txBody>
      </p:sp>
      <p:sp>
        <p:nvSpPr>
          <p:cNvPr id="27" name="Shape 12">
            <a:extLst>
              <a:ext uri="{FF2B5EF4-FFF2-40B4-BE49-F238E27FC236}">
                <a16:creationId xmlns:a16="http://schemas.microsoft.com/office/drawing/2014/main" id="{EF0BB0DC-8FAB-EA6A-9DB0-E0B42273BB22}"/>
              </a:ext>
            </a:extLst>
          </p:cNvPr>
          <p:cNvSpPr/>
          <p:nvPr/>
        </p:nvSpPr>
        <p:spPr>
          <a:xfrm>
            <a:off x="439782" y="3125576"/>
            <a:ext cx="11091672" cy="566928"/>
          </a:xfrm>
          <a:prstGeom prst="roundRect">
            <a:avLst>
              <a:gd name="adj" fmla="val 8065"/>
            </a:avLst>
          </a:prstGeom>
          <a:solidFill>
            <a:schemeClr val="accent2">
              <a:lumMod val="20000"/>
              <a:lumOff val="80000"/>
            </a:schemeClr>
          </a:solidFill>
          <a:ln w="6350">
            <a:solidFill>
              <a:srgbClr val="D8E0EC"/>
            </a:solidFill>
            <a:prstDash val="solid"/>
          </a:ln>
        </p:spPr>
        <p:txBody>
          <a:bodyPr/>
          <a:lstStyle/>
          <a:p>
            <a:endParaRPr lang="fr-FR"/>
          </a:p>
        </p:txBody>
      </p:sp>
      <p:sp>
        <p:nvSpPr>
          <p:cNvPr id="29" name="Shape 13">
            <a:extLst>
              <a:ext uri="{FF2B5EF4-FFF2-40B4-BE49-F238E27FC236}">
                <a16:creationId xmlns:a16="http://schemas.microsoft.com/office/drawing/2014/main" id="{5553A1F2-DC99-D3CF-8D6E-551EE65CE119}"/>
              </a:ext>
            </a:extLst>
          </p:cNvPr>
          <p:cNvSpPr/>
          <p:nvPr/>
        </p:nvSpPr>
        <p:spPr>
          <a:xfrm>
            <a:off x="640950" y="3326744"/>
            <a:ext cx="164592" cy="164592"/>
          </a:xfrm>
          <a:prstGeom prst="ellipse">
            <a:avLst/>
          </a:prstGeom>
          <a:solidFill>
            <a:srgbClr val="F2A900"/>
          </a:solidFill>
          <a:ln/>
        </p:spPr>
        <p:txBody>
          <a:bodyPr/>
          <a:lstStyle/>
          <a:p>
            <a:endParaRPr lang="fr-FR"/>
          </a:p>
        </p:txBody>
      </p:sp>
      <p:sp>
        <p:nvSpPr>
          <p:cNvPr id="31" name="Text 14">
            <a:extLst>
              <a:ext uri="{FF2B5EF4-FFF2-40B4-BE49-F238E27FC236}">
                <a16:creationId xmlns:a16="http://schemas.microsoft.com/office/drawing/2014/main" id="{F7B8CD1F-8BC2-EB4C-2BC2-6AD5AA4B537E}"/>
              </a:ext>
            </a:extLst>
          </p:cNvPr>
          <p:cNvSpPr/>
          <p:nvPr/>
        </p:nvSpPr>
        <p:spPr>
          <a:xfrm>
            <a:off x="988422" y="3125576"/>
            <a:ext cx="2286000" cy="566928"/>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30</a:t>
            </a:r>
            <a:r>
              <a:rPr lang="en-US" sz="1300" b="1" baseline="30000" dirty="0">
                <a:solidFill>
                  <a:srgbClr val="13294B"/>
                </a:solidFill>
                <a:latin typeface="Calibri" pitchFamily="34" charset="0"/>
                <a:ea typeface="Calibri" pitchFamily="34" charset="-122"/>
                <a:cs typeface="Calibri" pitchFamily="34" charset="-120"/>
              </a:rPr>
              <a:t>th</a:t>
            </a:r>
            <a:r>
              <a:rPr lang="en-US" sz="1300" b="1" dirty="0">
                <a:solidFill>
                  <a:srgbClr val="13294B"/>
                </a:solidFill>
                <a:latin typeface="Calibri" pitchFamily="34" charset="0"/>
                <a:ea typeface="Calibri" pitchFamily="34" charset="-122"/>
                <a:cs typeface="Calibri" pitchFamily="34" charset="-120"/>
              </a:rPr>
              <a:t> Nov –1 Dec 2026</a:t>
            </a:r>
            <a:endParaRPr lang="en-US" sz="1300" dirty="0"/>
          </a:p>
        </p:txBody>
      </p:sp>
      <p:sp>
        <p:nvSpPr>
          <p:cNvPr id="33" name="Text 15">
            <a:extLst>
              <a:ext uri="{FF2B5EF4-FFF2-40B4-BE49-F238E27FC236}">
                <a16:creationId xmlns:a16="http://schemas.microsoft.com/office/drawing/2014/main" id="{5BDEA9A6-E9CF-3999-AFBC-FF238AEF2D44}"/>
              </a:ext>
            </a:extLst>
          </p:cNvPr>
          <p:cNvSpPr/>
          <p:nvPr/>
        </p:nvSpPr>
        <p:spPr>
          <a:xfrm>
            <a:off x="3365862" y="3125576"/>
            <a:ext cx="4572000" cy="566928"/>
          </a:xfrm>
          <a:prstGeom prst="rect">
            <a:avLst/>
          </a:prstGeom>
          <a:noFill/>
          <a:ln/>
        </p:spPr>
        <p:txBody>
          <a:bodyPr wrap="square" lIns="0" tIns="0" rIns="0" bIns="0" rtlCol="0" anchor="ctr"/>
          <a:lstStyle/>
          <a:p>
            <a:pPr marL="0" indent="0">
              <a:buNone/>
            </a:pPr>
            <a:r>
              <a:rPr lang="en-US" sz="1250" b="1" dirty="0">
                <a:solidFill>
                  <a:srgbClr val="22303C"/>
                </a:solidFill>
                <a:latin typeface="Calibri" pitchFamily="34" charset="0"/>
                <a:ea typeface="Calibri" pitchFamily="34" charset="-122"/>
                <a:cs typeface="Calibri" pitchFamily="34" charset="-120"/>
              </a:rPr>
              <a:t>FG-TIDA 1st meeting, Paris</a:t>
            </a:r>
            <a:endParaRPr lang="en-US" sz="1250" dirty="0"/>
          </a:p>
        </p:txBody>
      </p:sp>
      <p:sp>
        <p:nvSpPr>
          <p:cNvPr id="35" name="Text 16">
            <a:extLst>
              <a:ext uri="{FF2B5EF4-FFF2-40B4-BE49-F238E27FC236}">
                <a16:creationId xmlns:a16="http://schemas.microsoft.com/office/drawing/2014/main" id="{B084754A-CCA7-7A12-D85B-51A5A0C35DC1}"/>
              </a:ext>
            </a:extLst>
          </p:cNvPr>
          <p:cNvSpPr/>
          <p:nvPr/>
        </p:nvSpPr>
        <p:spPr>
          <a:xfrm>
            <a:off x="8029302" y="3125576"/>
            <a:ext cx="3319272" cy="566928"/>
          </a:xfrm>
          <a:prstGeom prst="rect">
            <a:avLst/>
          </a:prstGeom>
          <a:noFill/>
          <a:ln/>
        </p:spPr>
        <p:txBody>
          <a:bodyPr wrap="square" lIns="0" tIns="0" rIns="0" bIns="0" rtlCol="0" anchor="ctr"/>
          <a:lstStyle/>
          <a:p>
            <a:pPr marL="0" indent="0">
              <a:buNone/>
            </a:pPr>
            <a:r>
              <a:rPr lang="en-US" sz="1150" i="1" dirty="0">
                <a:solidFill>
                  <a:srgbClr val="6B7785"/>
                </a:solidFill>
                <a:latin typeface="Calibri" pitchFamily="34" charset="0"/>
                <a:ea typeface="Calibri" pitchFamily="34" charset="-122"/>
                <a:cs typeface="Calibri" pitchFamily="34" charset="-120"/>
              </a:rPr>
              <a:t>With the Digital Trust Convention at the OECD on 4 December</a:t>
            </a:r>
            <a:endParaRPr lang="en-US" sz="1150" dirty="0"/>
          </a:p>
        </p:txBody>
      </p:sp>
      <p:sp>
        <p:nvSpPr>
          <p:cNvPr id="37" name="Shape 17">
            <a:extLst>
              <a:ext uri="{FF2B5EF4-FFF2-40B4-BE49-F238E27FC236}">
                <a16:creationId xmlns:a16="http://schemas.microsoft.com/office/drawing/2014/main" id="{3B4FA4F4-82C6-6DFA-BE91-17867E622BC3}"/>
              </a:ext>
            </a:extLst>
          </p:cNvPr>
          <p:cNvSpPr/>
          <p:nvPr/>
        </p:nvSpPr>
        <p:spPr>
          <a:xfrm>
            <a:off x="439782" y="3774800"/>
            <a:ext cx="11091672" cy="566928"/>
          </a:xfrm>
          <a:prstGeom prst="roundRect">
            <a:avLst>
              <a:gd name="adj" fmla="val 8065"/>
            </a:avLst>
          </a:prstGeom>
          <a:solidFill>
            <a:srgbClr val="FFFFFF"/>
          </a:solidFill>
          <a:ln w="6350">
            <a:solidFill>
              <a:srgbClr val="D8E0EC"/>
            </a:solidFill>
            <a:prstDash val="solid"/>
          </a:ln>
        </p:spPr>
        <p:txBody>
          <a:bodyPr/>
          <a:lstStyle/>
          <a:p>
            <a:endParaRPr lang="fr-FR"/>
          </a:p>
        </p:txBody>
      </p:sp>
      <p:sp>
        <p:nvSpPr>
          <p:cNvPr id="39" name="Shape 18">
            <a:extLst>
              <a:ext uri="{FF2B5EF4-FFF2-40B4-BE49-F238E27FC236}">
                <a16:creationId xmlns:a16="http://schemas.microsoft.com/office/drawing/2014/main" id="{3D77BE2A-C8BD-678B-7880-26B19A072789}"/>
              </a:ext>
            </a:extLst>
          </p:cNvPr>
          <p:cNvSpPr/>
          <p:nvPr/>
        </p:nvSpPr>
        <p:spPr>
          <a:xfrm>
            <a:off x="640950" y="3975968"/>
            <a:ext cx="164592" cy="164592"/>
          </a:xfrm>
          <a:prstGeom prst="ellipse">
            <a:avLst/>
          </a:prstGeom>
          <a:solidFill>
            <a:srgbClr val="F2A900"/>
          </a:solidFill>
          <a:ln/>
        </p:spPr>
        <p:txBody>
          <a:bodyPr/>
          <a:lstStyle/>
          <a:p>
            <a:endParaRPr lang="fr-FR"/>
          </a:p>
        </p:txBody>
      </p:sp>
      <p:sp>
        <p:nvSpPr>
          <p:cNvPr id="41" name="Text 19">
            <a:extLst>
              <a:ext uri="{FF2B5EF4-FFF2-40B4-BE49-F238E27FC236}">
                <a16:creationId xmlns:a16="http://schemas.microsoft.com/office/drawing/2014/main" id="{B422F22D-79FB-1925-E842-94786F1FE35A}"/>
              </a:ext>
            </a:extLst>
          </p:cNvPr>
          <p:cNvSpPr/>
          <p:nvPr/>
        </p:nvSpPr>
        <p:spPr>
          <a:xfrm>
            <a:off x="988422" y="3774800"/>
            <a:ext cx="2286000" cy="566928"/>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9 Dec 2026</a:t>
            </a:r>
            <a:endParaRPr lang="en-US" sz="1300" dirty="0"/>
          </a:p>
        </p:txBody>
      </p:sp>
      <p:sp>
        <p:nvSpPr>
          <p:cNvPr id="43" name="Text 20">
            <a:extLst>
              <a:ext uri="{FF2B5EF4-FFF2-40B4-BE49-F238E27FC236}">
                <a16:creationId xmlns:a16="http://schemas.microsoft.com/office/drawing/2014/main" id="{DE693480-4575-FC9F-062C-81D8A769D270}"/>
              </a:ext>
            </a:extLst>
          </p:cNvPr>
          <p:cNvSpPr/>
          <p:nvPr/>
        </p:nvSpPr>
        <p:spPr>
          <a:xfrm>
            <a:off x="3365862" y="3774800"/>
            <a:ext cx="4572000" cy="566928"/>
          </a:xfrm>
          <a:prstGeom prst="rect">
            <a:avLst/>
          </a:prstGeom>
          <a:noFill/>
          <a:ln/>
        </p:spPr>
        <p:txBody>
          <a:bodyPr wrap="square" lIns="0" tIns="0" rIns="0" bIns="0" rtlCol="0" anchor="ctr"/>
          <a:lstStyle/>
          <a:p>
            <a:pPr marL="0" indent="0">
              <a:buNone/>
            </a:pPr>
            <a:r>
              <a:rPr lang="en-US" sz="1250" b="1" dirty="0">
                <a:solidFill>
                  <a:srgbClr val="22303C"/>
                </a:solidFill>
                <a:latin typeface="Calibri" pitchFamily="34" charset="0"/>
                <a:ea typeface="Calibri" pitchFamily="34" charset="-122"/>
                <a:cs typeface="Calibri" pitchFamily="34" charset="-120"/>
              </a:rPr>
              <a:t>Interim SG17 plenary (virtual)</a:t>
            </a:r>
            <a:endParaRPr lang="en-US" sz="1250" dirty="0"/>
          </a:p>
        </p:txBody>
      </p:sp>
      <p:sp>
        <p:nvSpPr>
          <p:cNvPr id="45" name="Text 21">
            <a:extLst>
              <a:ext uri="{FF2B5EF4-FFF2-40B4-BE49-F238E27FC236}">
                <a16:creationId xmlns:a16="http://schemas.microsoft.com/office/drawing/2014/main" id="{10E28936-C959-F9A0-BC34-ACB31889DF35}"/>
              </a:ext>
            </a:extLst>
          </p:cNvPr>
          <p:cNvSpPr/>
          <p:nvPr/>
        </p:nvSpPr>
        <p:spPr>
          <a:xfrm>
            <a:off x="8029302" y="3774800"/>
            <a:ext cx="3319272" cy="566928"/>
          </a:xfrm>
          <a:prstGeom prst="rect">
            <a:avLst/>
          </a:prstGeom>
          <a:noFill/>
          <a:ln/>
        </p:spPr>
        <p:txBody>
          <a:bodyPr wrap="square" lIns="0" tIns="0" rIns="0" bIns="0" rtlCol="0" anchor="ctr"/>
          <a:lstStyle/>
          <a:p>
            <a:pPr marL="0" indent="0">
              <a:buNone/>
            </a:pPr>
            <a:r>
              <a:rPr lang="en-US" sz="1150" i="1" dirty="0">
                <a:solidFill>
                  <a:srgbClr val="6B7785"/>
                </a:solidFill>
                <a:latin typeface="Calibri" pitchFamily="34" charset="0"/>
                <a:ea typeface="Calibri" pitchFamily="34" charset="-122"/>
                <a:cs typeface="Calibri" pitchFamily="34" charset="-120"/>
              </a:rPr>
              <a:t>Progress checkpoint</a:t>
            </a:r>
            <a:endParaRPr lang="en-US" sz="1150" dirty="0"/>
          </a:p>
        </p:txBody>
      </p:sp>
      <p:sp>
        <p:nvSpPr>
          <p:cNvPr id="47" name="Shape 22">
            <a:extLst>
              <a:ext uri="{FF2B5EF4-FFF2-40B4-BE49-F238E27FC236}">
                <a16:creationId xmlns:a16="http://schemas.microsoft.com/office/drawing/2014/main" id="{C69DBA3F-3283-5AD0-A8BA-FF1EF830C5EC}"/>
              </a:ext>
            </a:extLst>
          </p:cNvPr>
          <p:cNvSpPr/>
          <p:nvPr/>
        </p:nvSpPr>
        <p:spPr>
          <a:xfrm>
            <a:off x="439782" y="4424024"/>
            <a:ext cx="11091672" cy="566928"/>
          </a:xfrm>
          <a:prstGeom prst="roundRect">
            <a:avLst>
              <a:gd name="adj" fmla="val 8065"/>
            </a:avLst>
          </a:prstGeom>
          <a:solidFill>
            <a:srgbClr val="F3F6FB"/>
          </a:solidFill>
          <a:ln w="6350">
            <a:solidFill>
              <a:srgbClr val="D8E0EC"/>
            </a:solidFill>
            <a:prstDash val="solid"/>
          </a:ln>
        </p:spPr>
        <p:txBody>
          <a:bodyPr/>
          <a:lstStyle/>
          <a:p>
            <a:endParaRPr lang="fr-FR"/>
          </a:p>
        </p:txBody>
      </p:sp>
      <p:sp>
        <p:nvSpPr>
          <p:cNvPr id="49" name="Shape 23">
            <a:extLst>
              <a:ext uri="{FF2B5EF4-FFF2-40B4-BE49-F238E27FC236}">
                <a16:creationId xmlns:a16="http://schemas.microsoft.com/office/drawing/2014/main" id="{267A394E-C68C-C229-FC89-68BF593A23F0}"/>
              </a:ext>
            </a:extLst>
          </p:cNvPr>
          <p:cNvSpPr/>
          <p:nvPr/>
        </p:nvSpPr>
        <p:spPr>
          <a:xfrm>
            <a:off x="640950" y="4625192"/>
            <a:ext cx="164592" cy="164592"/>
          </a:xfrm>
          <a:prstGeom prst="ellipse">
            <a:avLst/>
          </a:prstGeom>
          <a:solidFill>
            <a:srgbClr val="F2A900"/>
          </a:solidFill>
          <a:ln/>
        </p:spPr>
        <p:txBody>
          <a:bodyPr/>
          <a:lstStyle/>
          <a:p>
            <a:endParaRPr lang="fr-FR"/>
          </a:p>
        </p:txBody>
      </p:sp>
      <p:sp>
        <p:nvSpPr>
          <p:cNvPr id="51" name="Text 24">
            <a:extLst>
              <a:ext uri="{FF2B5EF4-FFF2-40B4-BE49-F238E27FC236}">
                <a16:creationId xmlns:a16="http://schemas.microsoft.com/office/drawing/2014/main" id="{54F6896F-3A6E-B74E-5897-DB4989398B6A}"/>
              </a:ext>
            </a:extLst>
          </p:cNvPr>
          <p:cNvSpPr/>
          <p:nvPr/>
        </p:nvSpPr>
        <p:spPr>
          <a:xfrm>
            <a:off x="988422" y="4424024"/>
            <a:ext cx="2286000" cy="566928"/>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25* Jan 2027</a:t>
            </a:r>
            <a:endParaRPr lang="en-US" sz="1300" dirty="0"/>
          </a:p>
        </p:txBody>
      </p:sp>
      <p:sp>
        <p:nvSpPr>
          <p:cNvPr id="53" name="Text 25">
            <a:extLst>
              <a:ext uri="{FF2B5EF4-FFF2-40B4-BE49-F238E27FC236}">
                <a16:creationId xmlns:a16="http://schemas.microsoft.com/office/drawing/2014/main" id="{8F32EBAD-7E47-D111-F01B-547719CF3842}"/>
              </a:ext>
            </a:extLst>
          </p:cNvPr>
          <p:cNvSpPr/>
          <p:nvPr/>
        </p:nvSpPr>
        <p:spPr>
          <a:xfrm>
            <a:off x="3365862" y="4424024"/>
            <a:ext cx="4572000" cy="566928"/>
          </a:xfrm>
          <a:prstGeom prst="rect">
            <a:avLst/>
          </a:prstGeom>
          <a:noFill/>
          <a:ln/>
        </p:spPr>
        <p:txBody>
          <a:bodyPr wrap="square" lIns="0" tIns="0" rIns="0" bIns="0" rtlCol="0" anchor="ctr"/>
          <a:lstStyle/>
          <a:p>
            <a:pPr marL="0" indent="0">
              <a:buNone/>
            </a:pPr>
            <a:r>
              <a:rPr lang="en-US" sz="1250" b="1" dirty="0">
                <a:solidFill>
                  <a:srgbClr val="22303C"/>
                </a:solidFill>
                <a:latin typeface="Calibri" pitchFamily="34" charset="0"/>
                <a:ea typeface="Calibri" pitchFamily="34" charset="-122"/>
                <a:cs typeface="Calibri" pitchFamily="34" charset="-120"/>
              </a:rPr>
              <a:t>SG17 workshop, Geneva</a:t>
            </a:r>
            <a:endParaRPr lang="en-US" sz="1250" dirty="0"/>
          </a:p>
        </p:txBody>
      </p:sp>
      <p:sp>
        <p:nvSpPr>
          <p:cNvPr id="55" name="Text 26">
            <a:extLst>
              <a:ext uri="{FF2B5EF4-FFF2-40B4-BE49-F238E27FC236}">
                <a16:creationId xmlns:a16="http://schemas.microsoft.com/office/drawing/2014/main" id="{A67FF8F3-A2DE-3214-24E7-0E22553C057B}"/>
              </a:ext>
            </a:extLst>
          </p:cNvPr>
          <p:cNvSpPr/>
          <p:nvPr/>
        </p:nvSpPr>
        <p:spPr>
          <a:xfrm>
            <a:off x="8029302" y="4424024"/>
            <a:ext cx="3319272" cy="566928"/>
          </a:xfrm>
          <a:prstGeom prst="rect">
            <a:avLst/>
          </a:prstGeom>
          <a:noFill/>
          <a:ln/>
        </p:spPr>
        <p:txBody>
          <a:bodyPr wrap="square" lIns="0" tIns="0" rIns="0" bIns="0" rtlCol="0" anchor="ctr"/>
          <a:lstStyle/>
          <a:p>
            <a:pPr marL="0" indent="0">
              <a:buNone/>
            </a:pPr>
            <a:r>
              <a:rPr lang="en-US" sz="1150" i="1" dirty="0">
                <a:solidFill>
                  <a:srgbClr val="6B7785"/>
                </a:solidFill>
                <a:latin typeface="Calibri" pitchFamily="34" charset="0"/>
                <a:ea typeface="Calibri" pitchFamily="34" charset="-122"/>
                <a:cs typeface="Calibri" pitchFamily="34" charset="-120"/>
              </a:rPr>
              <a:t>Open to all participants</a:t>
            </a:r>
            <a:endParaRPr lang="en-US" sz="1150" dirty="0"/>
          </a:p>
        </p:txBody>
      </p:sp>
      <p:sp>
        <p:nvSpPr>
          <p:cNvPr id="57" name="Shape 27">
            <a:extLst>
              <a:ext uri="{FF2B5EF4-FFF2-40B4-BE49-F238E27FC236}">
                <a16:creationId xmlns:a16="http://schemas.microsoft.com/office/drawing/2014/main" id="{E18B1274-C100-D0B7-E303-357610829A1F}"/>
              </a:ext>
            </a:extLst>
          </p:cNvPr>
          <p:cNvSpPr/>
          <p:nvPr/>
        </p:nvSpPr>
        <p:spPr>
          <a:xfrm>
            <a:off x="439782" y="5073248"/>
            <a:ext cx="11091672" cy="566928"/>
          </a:xfrm>
          <a:prstGeom prst="roundRect">
            <a:avLst>
              <a:gd name="adj" fmla="val 8065"/>
            </a:avLst>
          </a:prstGeom>
          <a:solidFill>
            <a:schemeClr val="accent2">
              <a:lumMod val="20000"/>
              <a:lumOff val="80000"/>
            </a:schemeClr>
          </a:solidFill>
          <a:ln w="6350">
            <a:solidFill>
              <a:srgbClr val="D8E0EC"/>
            </a:solidFill>
            <a:prstDash val="solid"/>
          </a:ln>
        </p:spPr>
        <p:txBody>
          <a:bodyPr/>
          <a:lstStyle/>
          <a:p>
            <a:endParaRPr lang="fr-FR"/>
          </a:p>
        </p:txBody>
      </p:sp>
      <p:sp>
        <p:nvSpPr>
          <p:cNvPr id="59" name="Shape 28">
            <a:extLst>
              <a:ext uri="{FF2B5EF4-FFF2-40B4-BE49-F238E27FC236}">
                <a16:creationId xmlns:a16="http://schemas.microsoft.com/office/drawing/2014/main" id="{A470D7EC-7EEC-E89A-912C-5C6BB5F4E14A}"/>
              </a:ext>
            </a:extLst>
          </p:cNvPr>
          <p:cNvSpPr/>
          <p:nvPr/>
        </p:nvSpPr>
        <p:spPr>
          <a:xfrm>
            <a:off x="640950" y="5274416"/>
            <a:ext cx="164592" cy="164592"/>
          </a:xfrm>
          <a:prstGeom prst="ellipse">
            <a:avLst/>
          </a:prstGeom>
          <a:solidFill>
            <a:srgbClr val="F2A900"/>
          </a:solidFill>
          <a:ln/>
        </p:spPr>
        <p:txBody>
          <a:bodyPr/>
          <a:lstStyle/>
          <a:p>
            <a:endParaRPr lang="fr-FR"/>
          </a:p>
        </p:txBody>
      </p:sp>
      <p:sp>
        <p:nvSpPr>
          <p:cNvPr id="61" name="Text 29">
            <a:extLst>
              <a:ext uri="{FF2B5EF4-FFF2-40B4-BE49-F238E27FC236}">
                <a16:creationId xmlns:a16="http://schemas.microsoft.com/office/drawing/2014/main" id="{2C1DF504-79B6-EB7C-AFDD-909E243CEB39}"/>
              </a:ext>
            </a:extLst>
          </p:cNvPr>
          <p:cNvSpPr/>
          <p:nvPr/>
        </p:nvSpPr>
        <p:spPr>
          <a:xfrm>
            <a:off x="988422" y="5073248"/>
            <a:ext cx="2286000" cy="566928"/>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26 Jan 2027</a:t>
            </a:r>
            <a:endParaRPr lang="en-US" sz="1300" dirty="0"/>
          </a:p>
        </p:txBody>
      </p:sp>
      <p:sp>
        <p:nvSpPr>
          <p:cNvPr id="63" name="Text 30">
            <a:extLst>
              <a:ext uri="{FF2B5EF4-FFF2-40B4-BE49-F238E27FC236}">
                <a16:creationId xmlns:a16="http://schemas.microsoft.com/office/drawing/2014/main" id="{7C9AFE37-9FEF-7BF2-9A5D-DCB7EE21C6CB}"/>
              </a:ext>
            </a:extLst>
          </p:cNvPr>
          <p:cNvSpPr/>
          <p:nvPr/>
        </p:nvSpPr>
        <p:spPr>
          <a:xfrm>
            <a:off x="3365862" y="5073248"/>
            <a:ext cx="4572000" cy="566928"/>
          </a:xfrm>
          <a:prstGeom prst="rect">
            <a:avLst/>
          </a:prstGeom>
          <a:noFill/>
          <a:ln/>
        </p:spPr>
        <p:txBody>
          <a:bodyPr wrap="square" lIns="0" tIns="0" rIns="0" bIns="0" rtlCol="0" anchor="ctr"/>
          <a:lstStyle/>
          <a:p>
            <a:pPr marL="0" indent="0">
              <a:buNone/>
            </a:pPr>
            <a:r>
              <a:rPr lang="en-US" sz="1250" b="1" dirty="0">
                <a:solidFill>
                  <a:srgbClr val="22303C"/>
                </a:solidFill>
                <a:latin typeface="Calibri" pitchFamily="34" charset="0"/>
                <a:ea typeface="Calibri" pitchFamily="34" charset="-122"/>
                <a:cs typeface="Calibri" pitchFamily="34" charset="-120"/>
              </a:rPr>
              <a:t>FG-TIDA meeting, Geneva</a:t>
            </a:r>
            <a:endParaRPr lang="en-US" sz="1250" dirty="0"/>
          </a:p>
        </p:txBody>
      </p:sp>
      <p:sp>
        <p:nvSpPr>
          <p:cNvPr id="65" name="Text 31">
            <a:extLst>
              <a:ext uri="{FF2B5EF4-FFF2-40B4-BE49-F238E27FC236}">
                <a16:creationId xmlns:a16="http://schemas.microsoft.com/office/drawing/2014/main" id="{0E214368-6F4F-D807-B39A-EA9F5BC27132}"/>
              </a:ext>
            </a:extLst>
          </p:cNvPr>
          <p:cNvSpPr/>
          <p:nvPr/>
        </p:nvSpPr>
        <p:spPr>
          <a:xfrm>
            <a:off x="8029302" y="5073248"/>
            <a:ext cx="3319272" cy="566928"/>
          </a:xfrm>
          <a:prstGeom prst="rect">
            <a:avLst/>
          </a:prstGeom>
          <a:noFill/>
          <a:ln/>
        </p:spPr>
        <p:txBody>
          <a:bodyPr wrap="square" lIns="0" tIns="0" rIns="0" bIns="0" rtlCol="0" anchor="ctr"/>
          <a:lstStyle/>
          <a:p>
            <a:pPr marL="0" indent="0">
              <a:buNone/>
            </a:pPr>
            <a:r>
              <a:rPr lang="en-US" sz="1150" i="1" dirty="0">
                <a:solidFill>
                  <a:srgbClr val="6B7785"/>
                </a:solidFill>
                <a:latin typeface="Calibri" pitchFamily="34" charset="0"/>
                <a:ea typeface="Calibri" pitchFamily="34" charset="-122"/>
                <a:cs typeface="Calibri" pitchFamily="34" charset="-120"/>
              </a:rPr>
              <a:t>Focus Group working session</a:t>
            </a:r>
            <a:endParaRPr lang="en-US" sz="1150" dirty="0"/>
          </a:p>
        </p:txBody>
      </p:sp>
      <p:sp>
        <p:nvSpPr>
          <p:cNvPr id="67" name="Shape 32">
            <a:extLst>
              <a:ext uri="{FF2B5EF4-FFF2-40B4-BE49-F238E27FC236}">
                <a16:creationId xmlns:a16="http://schemas.microsoft.com/office/drawing/2014/main" id="{EDBAA2DE-D854-EEF6-2836-FF9E72192D3A}"/>
              </a:ext>
            </a:extLst>
          </p:cNvPr>
          <p:cNvSpPr/>
          <p:nvPr/>
        </p:nvSpPr>
        <p:spPr>
          <a:xfrm>
            <a:off x="439782" y="5722472"/>
            <a:ext cx="11091672" cy="566928"/>
          </a:xfrm>
          <a:prstGeom prst="roundRect">
            <a:avLst>
              <a:gd name="adj" fmla="val 8065"/>
            </a:avLst>
          </a:prstGeom>
          <a:solidFill>
            <a:srgbClr val="F3F6FB"/>
          </a:solidFill>
          <a:ln w="6350">
            <a:solidFill>
              <a:srgbClr val="D8E0EC"/>
            </a:solidFill>
            <a:prstDash val="solid"/>
          </a:ln>
        </p:spPr>
        <p:txBody>
          <a:bodyPr/>
          <a:lstStyle/>
          <a:p>
            <a:endParaRPr lang="fr-FR"/>
          </a:p>
        </p:txBody>
      </p:sp>
      <p:sp>
        <p:nvSpPr>
          <p:cNvPr id="69" name="Shape 33">
            <a:extLst>
              <a:ext uri="{FF2B5EF4-FFF2-40B4-BE49-F238E27FC236}">
                <a16:creationId xmlns:a16="http://schemas.microsoft.com/office/drawing/2014/main" id="{0D065322-FE13-CF1F-B72F-DD5698B6A99E}"/>
              </a:ext>
            </a:extLst>
          </p:cNvPr>
          <p:cNvSpPr/>
          <p:nvPr/>
        </p:nvSpPr>
        <p:spPr>
          <a:xfrm>
            <a:off x="640950" y="5923640"/>
            <a:ext cx="164592" cy="164592"/>
          </a:xfrm>
          <a:prstGeom prst="ellipse">
            <a:avLst/>
          </a:prstGeom>
          <a:solidFill>
            <a:srgbClr val="F2A900"/>
          </a:solidFill>
          <a:ln/>
        </p:spPr>
        <p:txBody>
          <a:bodyPr/>
          <a:lstStyle/>
          <a:p>
            <a:endParaRPr lang="fr-FR"/>
          </a:p>
        </p:txBody>
      </p:sp>
      <p:sp>
        <p:nvSpPr>
          <p:cNvPr id="71" name="Text 34">
            <a:extLst>
              <a:ext uri="{FF2B5EF4-FFF2-40B4-BE49-F238E27FC236}">
                <a16:creationId xmlns:a16="http://schemas.microsoft.com/office/drawing/2014/main" id="{D847E576-17AC-2B2B-852C-2B9D2FC308BD}"/>
              </a:ext>
            </a:extLst>
          </p:cNvPr>
          <p:cNvSpPr/>
          <p:nvPr/>
        </p:nvSpPr>
        <p:spPr>
          <a:xfrm>
            <a:off x="988422" y="5722472"/>
            <a:ext cx="2286000" cy="566928"/>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18–29* Jan 2027</a:t>
            </a:r>
            <a:endParaRPr lang="en-US" sz="1300" dirty="0"/>
          </a:p>
        </p:txBody>
      </p:sp>
      <p:sp>
        <p:nvSpPr>
          <p:cNvPr id="73" name="Text 35">
            <a:extLst>
              <a:ext uri="{FF2B5EF4-FFF2-40B4-BE49-F238E27FC236}">
                <a16:creationId xmlns:a16="http://schemas.microsoft.com/office/drawing/2014/main" id="{23DEBF8C-2E78-33CA-E74F-3A34A9A87158}"/>
              </a:ext>
            </a:extLst>
          </p:cNvPr>
          <p:cNvSpPr/>
          <p:nvPr/>
        </p:nvSpPr>
        <p:spPr>
          <a:xfrm>
            <a:off x="3365862" y="5722472"/>
            <a:ext cx="4572000" cy="566928"/>
          </a:xfrm>
          <a:prstGeom prst="rect">
            <a:avLst/>
          </a:prstGeom>
          <a:noFill/>
          <a:ln/>
        </p:spPr>
        <p:txBody>
          <a:bodyPr wrap="square" lIns="0" tIns="0" rIns="0" bIns="0" rtlCol="0" anchor="ctr"/>
          <a:lstStyle/>
          <a:p>
            <a:pPr marL="0" indent="0">
              <a:buNone/>
            </a:pPr>
            <a:r>
              <a:rPr lang="en-US" sz="1250" b="1" dirty="0">
                <a:solidFill>
                  <a:srgbClr val="22303C"/>
                </a:solidFill>
                <a:latin typeface="Calibri" pitchFamily="34" charset="0"/>
                <a:ea typeface="Calibri" pitchFamily="34" charset="-122"/>
                <a:cs typeface="Calibri" pitchFamily="34" charset="-120"/>
              </a:rPr>
              <a:t>6th SG17 Plenary, Geneva</a:t>
            </a:r>
            <a:endParaRPr lang="en-US" sz="1250" dirty="0"/>
          </a:p>
        </p:txBody>
      </p:sp>
      <p:sp>
        <p:nvSpPr>
          <p:cNvPr id="75" name="Text 36">
            <a:extLst>
              <a:ext uri="{FF2B5EF4-FFF2-40B4-BE49-F238E27FC236}">
                <a16:creationId xmlns:a16="http://schemas.microsoft.com/office/drawing/2014/main" id="{72F2F963-BC4F-78B9-0775-C8A503A386DB}"/>
              </a:ext>
            </a:extLst>
          </p:cNvPr>
          <p:cNvSpPr/>
          <p:nvPr/>
        </p:nvSpPr>
        <p:spPr>
          <a:xfrm>
            <a:off x="8029302" y="5722472"/>
            <a:ext cx="3319272" cy="566928"/>
          </a:xfrm>
          <a:prstGeom prst="rect">
            <a:avLst/>
          </a:prstGeom>
          <a:noFill/>
          <a:ln/>
        </p:spPr>
        <p:txBody>
          <a:bodyPr wrap="square" lIns="0" tIns="0" rIns="0" bIns="0" rtlCol="0" anchor="ctr"/>
          <a:lstStyle/>
          <a:p>
            <a:pPr marL="0" indent="0">
              <a:buNone/>
            </a:pPr>
            <a:r>
              <a:rPr lang="en-US" sz="1150" i="1" dirty="0">
                <a:solidFill>
                  <a:srgbClr val="6B7785"/>
                </a:solidFill>
                <a:latin typeface="Calibri" pitchFamily="34" charset="0"/>
                <a:ea typeface="Calibri" pitchFamily="34" charset="-122"/>
                <a:cs typeface="Calibri" pitchFamily="34" charset="-120"/>
              </a:rPr>
              <a:t>Next full plenary</a:t>
            </a:r>
            <a:endParaRPr lang="en-US" sz="1150" dirty="0"/>
          </a:p>
        </p:txBody>
      </p:sp>
    </p:spTree>
    <p:extLst>
      <p:ext uri="{BB962C8B-B14F-4D97-AF65-F5344CB8AC3E}">
        <p14:creationId xmlns:p14="http://schemas.microsoft.com/office/powerpoint/2010/main" val="2563496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E4C04-51BD-2D3C-A371-99F8F85984F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72B79E5-A17B-7453-7040-20B46577F5E4}"/>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75C28189-6020-C122-289D-5159822E3BE4}"/>
              </a:ext>
            </a:extLst>
          </p:cNvPr>
          <p:cNvSpPr>
            <a:spLocks noGrp="1"/>
          </p:cNvSpPr>
          <p:nvPr>
            <p:ph type="title"/>
          </p:nvPr>
        </p:nvSpPr>
        <p:spPr>
          <a:xfrm>
            <a:off x="341085" y="219392"/>
            <a:ext cx="10515600" cy="1325563"/>
          </a:xfrm>
        </p:spPr>
        <p:txBody>
          <a:bodyPr/>
          <a:lstStyle/>
          <a:p>
            <a:r>
              <a:rPr lang="en-US" dirty="0">
                <a:solidFill>
                  <a:schemeClr val="bg1"/>
                </a:solidFill>
              </a:rPr>
              <a:t>Our timeline for 2026</a:t>
            </a:r>
          </a:p>
        </p:txBody>
      </p:sp>
      <p:pic>
        <p:nvPicPr>
          <p:cNvPr id="13" name="Picture 12">
            <a:extLst>
              <a:ext uri="{FF2B5EF4-FFF2-40B4-BE49-F238E27FC236}">
                <a16:creationId xmlns:a16="http://schemas.microsoft.com/office/drawing/2014/main" id="{BAB9DBD3-FFDD-3C5A-5A60-C0E9B9E2F095}"/>
              </a:ext>
            </a:extLst>
          </p:cNvPr>
          <p:cNvPicPr>
            <a:picLocks noChangeAspect="1"/>
          </p:cNvPicPr>
          <p:nvPr/>
        </p:nvPicPr>
        <p:blipFill>
          <a:blip r:embed="rId3"/>
          <a:stretch>
            <a:fillRect/>
          </a:stretch>
        </p:blipFill>
        <p:spPr>
          <a:xfrm>
            <a:off x="9958212" y="107366"/>
            <a:ext cx="2064271" cy="696502"/>
          </a:xfrm>
          <a:prstGeom prst="rect">
            <a:avLst/>
          </a:prstGeom>
        </p:spPr>
      </p:pic>
      <p:pic>
        <p:nvPicPr>
          <p:cNvPr id="3" name="Picture 2">
            <a:extLst>
              <a:ext uri="{FF2B5EF4-FFF2-40B4-BE49-F238E27FC236}">
                <a16:creationId xmlns:a16="http://schemas.microsoft.com/office/drawing/2014/main" id="{300BBA04-041F-7C28-D31C-4BF4312E66AF}"/>
              </a:ext>
            </a:extLst>
          </p:cNvPr>
          <p:cNvPicPr>
            <a:picLocks noChangeAspect="1"/>
          </p:cNvPicPr>
          <p:nvPr/>
        </p:nvPicPr>
        <p:blipFill>
          <a:blip r:embed="rId4"/>
          <a:srcRect t="16159"/>
          <a:stretch>
            <a:fillRect/>
          </a:stretch>
        </p:blipFill>
        <p:spPr>
          <a:xfrm>
            <a:off x="1184123" y="1608056"/>
            <a:ext cx="9981181" cy="5249943"/>
          </a:xfrm>
          <a:prstGeom prst="rect">
            <a:avLst/>
          </a:prstGeom>
        </p:spPr>
      </p:pic>
    </p:spTree>
    <p:extLst>
      <p:ext uri="{BB962C8B-B14F-4D97-AF65-F5344CB8AC3E}">
        <p14:creationId xmlns:p14="http://schemas.microsoft.com/office/powerpoint/2010/main" val="40279070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7EC5B-7306-1E42-7349-5E5A73FBE3B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3D298F7-A37F-A111-30EF-FC17DDF96241}"/>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6E024863-7ECA-4C70-2749-410819BCEBAE}"/>
              </a:ext>
            </a:extLst>
          </p:cNvPr>
          <p:cNvSpPr>
            <a:spLocks noGrp="1"/>
          </p:cNvSpPr>
          <p:nvPr>
            <p:ph type="title"/>
          </p:nvPr>
        </p:nvSpPr>
        <p:spPr>
          <a:xfrm>
            <a:off x="341085" y="219392"/>
            <a:ext cx="10515600" cy="1325563"/>
          </a:xfrm>
        </p:spPr>
        <p:txBody>
          <a:bodyPr/>
          <a:lstStyle/>
          <a:p>
            <a:r>
              <a:rPr lang="en-US" noProof="0" dirty="0">
                <a:solidFill>
                  <a:schemeClr val="bg1"/>
                </a:solidFill>
              </a:rPr>
              <a:t>Our Objective for 30</a:t>
            </a:r>
            <a:r>
              <a:rPr lang="en-US" baseline="30000" noProof="0" dirty="0">
                <a:solidFill>
                  <a:schemeClr val="bg1"/>
                </a:solidFill>
              </a:rPr>
              <a:t>th</a:t>
            </a:r>
            <a:r>
              <a:rPr lang="en-US" noProof="0" dirty="0">
                <a:solidFill>
                  <a:schemeClr val="bg1"/>
                </a:solidFill>
              </a:rPr>
              <a:t> Nov </a:t>
            </a:r>
            <a:r>
              <a:rPr lang="en-US" dirty="0">
                <a:solidFill>
                  <a:schemeClr val="bg1"/>
                </a:solidFill>
              </a:rPr>
              <a:t>– 1st Dec meeting</a:t>
            </a:r>
            <a:endParaRPr lang="en-GB" noProof="0" dirty="0">
              <a:solidFill>
                <a:schemeClr val="bg1"/>
              </a:solidFill>
            </a:endParaRPr>
          </a:p>
        </p:txBody>
      </p:sp>
      <p:pic>
        <p:nvPicPr>
          <p:cNvPr id="13" name="Picture 12">
            <a:extLst>
              <a:ext uri="{FF2B5EF4-FFF2-40B4-BE49-F238E27FC236}">
                <a16:creationId xmlns:a16="http://schemas.microsoft.com/office/drawing/2014/main" id="{DE705758-91A9-6116-9E57-987744865942}"/>
              </a:ext>
            </a:extLst>
          </p:cNvPr>
          <p:cNvPicPr>
            <a:picLocks noChangeAspect="1"/>
          </p:cNvPicPr>
          <p:nvPr/>
        </p:nvPicPr>
        <p:blipFill>
          <a:blip r:embed="rId3"/>
          <a:stretch>
            <a:fillRect/>
          </a:stretch>
        </p:blipFill>
        <p:spPr>
          <a:xfrm>
            <a:off x="9958212" y="107366"/>
            <a:ext cx="2064271" cy="696502"/>
          </a:xfrm>
          <a:prstGeom prst="rect">
            <a:avLst/>
          </a:prstGeom>
        </p:spPr>
      </p:pic>
      <p:sp>
        <p:nvSpPr>
          <p:cNvPr id="3" name="TextBox 2">
            <a:extLst>
              <a:ext uri="{FF2B5EF4-FFF2-40B4-BE49-F238E27FC236}">
                <a16:creationId xmlns:a16="http://schemas.microsoft.com/office/drawing/2014/main" id="{7A18F127-71BB-8612-9A11-0ABD08A9DA80}"/>
              </a:ext>
            </a:extLst>
          </p:cNvPr>
          <p:cNvSpPr txBox="1"/>
          <p:nvPr/>
        </p:nvSpPr>
        <p:spPr>
          <a:xfrm>
            <a:off x="784335" y="2844437"/>
            <a:ext cx="10895248" cy="2246769"/>
          </a:xfrm>
          <a:prstGeom prst="rect">
            <a:avLst/>
          </a:prstGeom>
          <a:noFill/>
        </p:spPr>
        <p:txBody>
          <a:bodyPr wrap="square" rtlCol="0">
            <a:spAutoFit/>
          </a:bodyPr>
          <a:lstStyle/>
          <a:p>
            <a:pPr marL="514350" indent="-514350">
              <a:buFont typeface="+mj-lt"/>
              <a:buAutoNum type="arabicPeriod"/>
            </a:pPr>
            <a:r>
              <a:rPr lang="en-US" sz="2800" b="1" dirty="0">
                <a:solidFill>
                  <a:schemeClr val="accent1"/>
                </a:solidFill>
              </a:rPr>
              <a:t>Formally announce the Focus Group's structure and leadership</a:t>
            </a:r>
          </a:p>
          <a:p>
            <a:endParaRPr lang="en-US" sz="2800" b="1" dirty="0">
              <a:solidFill>
                <a:schemeClr val="accent1"/>
              </a:solidFill>
            </a:endParaRPr>
          </a:p>
          <a:p>
            <a:pPr marL="514350" indent="-514350">
              <a:buFont typeface="+mj-lt"/>
              <a:buAutoNum type="arabicPeriod" startAt="2"/>
            </a:pPr>
            <a:r>
              <a:rPr lang="en-US" sz="2800" b="1" dirty="0">
                <a:solidFill>
                  <a:schemeClr val="accent1"/>
                </a:solidFill>
              </a:rPr>
              <a:t>Publish an initial definition of deliverables on GitHub </a:t>
            </a:r>
          </a:p>
          <a:p>
            <a:endParaRPr lang="en-US" sz="2800" b="1" dirty="0">
              <a:solidFill>
                <a:schemeClr val="accent1"/>
              </a:solidFill>
            </a:endParaRPr>
          </a:p>
          <a:p>
            <a:pPr marL="514350" indent="-514350">
              <a:buFont typeface="+mj-lt"/>
              <a:buAutoNum type="arabicPeriod" startAt="3"/>
            </a:pPr>
            <a:r>
              <a:rPr lang="en-US" sz="2800" b="1" dirty="0">
                <a:solidFill>
                  <a:schemeClr val="accent1"/>
                </a:solidFill>
              </a:rPr>
              <a:t>Advance the technical work during the in-person meeting</a:t>
            </a:r>
          </a:p>
        </p:txBody>
      </p:sp>
    </p:spTree>
    <p:extLst>
      <p:ext uri="{BB962C8B-B14F-4D97-AF65-F5344CB8AC3E}">
        <p14:creationId xmlns:p14="http://schemas.microsoft.com/office/powerpoint/2010/main" val="6577836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786D3BF-473E-C208-B715-D0CE618C2DF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13F90BD-BE84-BE44-203A-C528417691DB}"/>
              </a:ext>
            </a:extLst>
          </p:cNvPr>
          <p:cNvSpPr/>
          <p:nvPr/>
        </p:nvSpPr>
        <p:spPr>
          <a:xfrm>
            <a:off x="0" y="0"/>
            <a:ext cx="12192000" cy="1607736"/>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800D5FDB-1E18-8860-BF76-0A34F3EA70E0}"/>
              </a:ext>
            </a:extLst>
          </p:cNvPr>
          <p:cNvSpPr>
            <a:spLocks noGrp="1"/>
          </p:cNvSpPr>
          <p:nvPr>
            <p:ph type="title"/>
          </p:nvPr>
        </p:nvSpPr>
        <p:spPr>
          <a:xfrm>
            <a:off x="341085" y="219392"/>
            <a:ext cx="10515600" cy="1325563"/>
          </a:xfrm>
        </p:spPr>
        <p:txBody>
          <a:bodyPr/>
          <a:lstStyle/>
          <a:p>
            <a:r>
              <a:rPr lang="en-US" noProof="0" dirty="0">
                <a:solidFill>
                  <a:schemeClr val="bg1"/>
                </a:solidFill>
              </a:rPr>
              <a:t>Current TIDA Structure</a:t>
            </a:r>
            <a:endParaRPr lang="en-GB" noProof="0" dirty="0">
              <a:solidFill>
                <a:schemeClr val="bg1"/>
              </a:solidFill>
            </a:endParaRPr>
          </a:p>
        </p:txBody>
      </p:sp>
      <p:pic>
        <p:nvPicPr>
          <p:cNvPr id="13" name="Picture 12">
            <a:extLst>
              <a:ext uri="{FF2B5EF4-FFF2-40B4-BE49-F238E27FC236}">
                <a16:creationId xmlns:a16="http://schemas.microsoft.com/office/drawing/2014/main" id="{E31BC90E-B8E5-AB95-C30E-A8936DAF1A7F}"/>
              </a:ext>
            </a:extLst>
          </p:cNvPr>
          <p:cNvPicPr>
            <a:picLocks noChangeAspect="1"/>
          </p:cNvPicPr>
          <p:nvPr/>
        </p:nvPicPr>
        <p:blipFill>
          <a:blip r:embed="rId2"/>
          <a:stretch>
            <a:fillRect/>
          </a:stretch>
        </p:blipFill>
        <p:spPr>
          <a:xfrm>
            <a:off x="9958212" y="107366"/>
            <a:ext cx="2064271" cy="696502"/>
          </a:xfrm>
          <a:prstGeom prst="rect">
            <a:avLst/>
          </a:prstGeom>
        </p:spPr>
      </p:pic>
      <p:pic>
        <p:nvPicPr>
          <p:cNvPr id="4" name="Graphic 3">
            <a:extLst>
              <a:ext uri="{FF2B5EF4-FFF2-40B4-BE49-F238E27FC236}">
                <a16:creationId xmlns:a16="http://schemas.microsoft.com/office/drawing/2014/main" id="{755E785F-63C4-4119-722A-FC0F9760C2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68353" y="1764347"/>
            <a:ext cx="9655293" cy="4998034"/>
          </a:xfrm>
          <a:prstGeom prst="rect">
            <a:avLst/>
          </a:prstGeom>
        </p:spPr>
      </p:pic>
    </p:spTree>
    <p:extLst>
      <p:ext uri="{BB962C8B-B14F-4D97-AF65-F5344CB8AC3E}">
        <p14:creationId xmlns:p14="http://schemas.microsoft.com/office/powerpoint/2010/main" val="15127584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27620-39F4-A447-F680-C078D95535E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E3567A6-55EA-FA0D-98EF-A5CD4224F0C7}"/>
              </a:ext>
            </a:extLst>
          </p:cNvPr>
          <p:cNvSpPr/>
          <p:nvPr/>
        </p:nvSpPr>
        <p:spPr>
          <a:xfrm>
            <a:off x="0" y="0"/>
            <a:ext cx="12192000" cy="6960870"/>
          </a:xfrm>
          <a:prstGeom prst="rect">
            <a:avLst/>
          </a:prstGeom>
          <a:solidFill>
            <a:srgbClr val="049BD6"/>
          </a:solidFill>
          <a:ln>
            <a:solidFill>
              <a:srgbClr val="009E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Title 6">
            <a:extLst>
              <a:ext uri="{FF2B5EF4-FFF2-40B4-BE49-F238E27FC236}">
                <a16:creationId xmlns:a16="http://schemas.microsoft.com/office/drawing/2014/main" id="{474EF5FF-CC00-D54D-82B2-508A0B4EBA2F}"/>
              </a:ext>
            </a:extLst>
          </p:cNvPr>
          <p:cNvSpPr>
            <a:spLocks noGrp="1"/>
          </p:cNvSpPr>
          <p:nvPr>
            <p:ph type="title"/>
          </p:nvPr>
        </p:nvSpPr>
        <p:spPr>
          <a:xfrm>
            <a:off x="1324065" y="2556805"/>
            <a:ext cx="10515600" cy="1325563"/>
          </a:xfrm>
        </p:spPr>
        <p:txBody>
          <a:bodyPr>
            <a:noAutofit/>
          </a:bodyPr>
          <a:lstStyle/>
          <a:p>
            <a:r>
              <a:rPr lang="en-US" sz="4800" b="1" noProof="0" dirty="0">
                <a:solidFill>
                  <a:schemeClr val="bg1"/>
                </a:solidFill>
              </a:rPr>
              <a:t>Introduction to the </a:t>
            </a:r>
            <a:r>
              <a:rPr lang="en-US" sz="4800" b="1" dirty="0">
                <a:solidFill>
                  <a:srgbClr val="FFC000"/>
                </a:solidFill>
              </a:rPr>
              <a:t>Use Cases </a:t>
            </a:r>
            <a:r>
              <a:rPr lang="en-US" sz="4800" b="1" dirty="0">
                <a:solidFill>
                  <a:schemeClr val="bg1"/>
                </a:solidFill>
              </a:rPr>
              <a:t>work</a:t>
            </a:r>
            <a:endParaRPr lang="en-GB" sz="4800" b="1" dirty="0">
              <a:solidFill>
                <a:schemeClr val="bg1"/>
              </a:solidFill>
            </a:endParaRPr>
          </a:p>
        </p:txBody>
      </p:sp>
      <p:pic>
        <p:nvPicPr>
          <p:cNvPr id="13" name="Picture 12">
            <a:extLst>
              <a:ext uri="{FF2B5EF4-FFF2-40B4-BE49-F238E27FC236}">
                <a16:creationId xmlns:a16="http://schemas.microsoft.com/office/drawing/2014/main" id="{9E3ACBB1-80BF-4CBA-8CE0-8D6FB30AB56D}"/>
              </a:ext>
            </a:extLst>
          </p:cNvPr>
          <p:cNvPicPr>
            <a:picLocks noChangeAspect="1"/>
          </p:cNvPicPr>
          <p:nvPr/>
        </p:nvPicPr>
        <p:blipFill>
          <a:blip r:embed="rId3"/>
          <a:stretch>
            <a:fillRect/>
          </a:stretch>
        </p:blipFill>
        <p:spPr>
          <a:xfrm>
            <a:off x="9958212" y="107366"/>
            <a:ext cx="2064271" cy="696502"/>
          </a:xfrm>
          <a:prstGeom prst="rect">
            <a:avLst/>
          </a:prstGeom>
        </p:spPr>
      </p:pic>
    </p:spTree>
    <p:extLst>
      <p:ext uri="{BB962C8B-B14F-4D97-AF65-F5344CB8AC3E}">
        <p14:creationId xmlns:p14="http://schemas.microsoft.com/office/powerpoint/2010/main" val="41037695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914</Words>
  <Application>Microsoft Office PowerPoint</Application>
  <PresentationFormat>Widescreen</PresentationFormat>
  <Paragraphs>122</Paragraphs>
  <Slides>18</Slides>
  <Notes>7</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Arial</vt:lpstr>
      <vt:lpstr>Calibri</vt:lpstr>
      <vt:lpstr>Wingdings</vt:lpstr>
      <vt:lpstr>Office Theme</vt:lpstr>
      <vt:lpstr>Auto-reporting tools </vt:lpstr>
      <vt:lpstr>Agenda</vt:lpstr>
      <vt:lpstr>NEW! Use Cases WG</vt:lpstr>
      <vt:lpstr>NEW! Use Cases WG</vt:lpstr>
      <vt:lpstr>NEW! Specification Template</vt:lpstr>
      <vt:lpstr>Let us brainstorm together on  ideas for Working Groups</vt:lpstr>
      <vt:lpstr>Selected presentations on proposed themes</vt:lpstr>
      <vt:lpstr>5 virtual meetings from now to 30 Nov -1 Dec</vt:lpstr>
      <vt:lpstr>Engage in our GitHub space!</vt:lpstr>
      <vt:lpstr>PowerPoint Presentation</vt:lpstr>
      <vt:lpstr>Why creating TIDA?</vt:lpstr>
      <vt:lpstr>What is a Focus Group in ITU?</vt:lpstr>
      <vt:lpstr>Pls subscribe to our Mailing List</vt:lpstr>
      <vt:lpstr>What is happening next?</vt:lpstr>
      <vt:lpstr>Our timeline for 2026</vt:lpstr>
      <vt:lpstr>Our Objective for 30th Nov – 1st Dec meeting</vt:lpstr>
      <vt:lpstr>Current TIDA Structure</vt:lpstr>
      <vt:lpstr>Introduction to the Use Cases work</vt:lpstr>
    </vt:vector>
  </TitlesOfParts>
  <Company>Thales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MATIAS Nicolas</dc:creator>
  <cp:lastModifiedBy>COMPARIN Debora</cp:lastModifiedBy>
  <cp:revision>26</cp:revision>
  <dcterms:created xsi:type="dcterms:W3CDTF">2026-05-31T18:20:48Z</dcterms:created>
  <dcterms:modified xsi:type="dcterms:W3CDTF">2026-09-30T11:47:18Z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f20372f-9ab3-4551-9149-9f9b12e2c27e_Enabled">
    <vt:lpwstr>true</vt:lpwstr>
  </property>
  <property fmtid="{D5CDD505-2E9C-101B-9397-08002B2CF9AE}" pid="3" name="MSIP_Label_cf20372f-9ab3-4551-9149-9f9b12e2c27e_SetDate">
    <vt:lpwstr>2026-06-01T08:20:46Z</vt:lpwstr>
  </property>
  <property fmtid="{D5CDD505-2E9C-101B-9397-08002B2CF9AE}" pid="4" name="MSIP_Label_cf20372f-9ab3-4551-9149-9f9b12e2c27e_Method">
    <vt:lpwstr>Privileged</vt:lpwstr>
  </property>
  <property fmtid="{D5CDD505-2E9C-101B-9397-08002B2CF9AE}" pid="5" name="MSIP_Label_cf20372f-9ab3-4551-9149-9f9b12e2c27e_Name">
    <vt:lpwstr>DIS OPEN</vt:lpwstr>
  </property>
  <property fmtid="{D5CDD505-2E9C-101B-9397-08002B2CF9AE}" pid="6" name="MSIP_Label_cf20372f-9ab3-4551-9149-9f9b12e2c27e_SiteId">
    <vt:lpwstr>6e603289-5e46-4e26-ac7c-03a85420a9a5</vt:lpwstr>
  </property>
  <property fmtid="{D5CDD505-2E9C-101B-9397-08002B2CF9AE}" pid="7" name="MSIP_Label_cf20372f-9ab3-4551-9149-9f9b12e2c27e_ActionId">
    <vt:lpwstr>b678ddd5-4db5-4f0c-bf84-7ea5bdd9db4e</vt:lpwstr>
  </property>
  <property fmtid="{D5CDD505-2E9C-101B-9397-08002B2CF9AE}" pid="8" name="MSIP_Label_cf20372f-9ab3-4551-9149-9f9b12e2c27e_ContentBits">
    <vt:lpwstr>0</vt:lpwstr>
  </property>
  <property fmtid="{D5CDD505-2E9C-101B-9397-08002B2CF9AE}" pid="9" name="MSIP_Label_cf20372f-9ab3-4551-9149-9f9b12e2c27e_Tag">
    <vt:lpwstr>10, 0, 1, 1</vt:lpwstr>
  </property>
</Properties>
</file>