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11"/>
  </p:handoutMasterIdLst>
  <p:sldIdLst>
    <p:sldId id="256" r:id="rId3"/>
    <p:sldId id="260" r:id="rId4"/>
    <p:sldId id="257" r:id="rId5"/>
    <p:sldId id="259" r:id="rId7"/>
    <p:sldId id="261" r:id="rId8"/>
    <p:sldId id="258" r:id="rId9"/>
    <p:sldId id="262" r:id="rId10"/>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5" userDrawn="1">
          <p15:clr>
            <a:srgbClr val="A4A3A4"/>
          </p15:clr>
        </p15:guide>
        <p15:guide id="2" pos="38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85"/>
        <p:guide pos="3846"/>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Note: This Issue defines what must be satisfied, not how to implement it. Concrete technical solutions are out of scope.</a:t>
            </a:r>
            <a:endParaRPr lang="en-US" altLang="zh-CN"/>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134745" y="3735070"/>
            <a:ext cx="9144000" cy="2767965"/>
          </a:xfrm>
        </p:spPr>
        <p:txBody>
          <a:bodyPr/>
          <a:p>
            <a:r>
              <a:rPr lang="en-US" altLang="zh-CN" sz="2000">
                <a:solidFill>
                  <a:schemeClr val="tx1"/>
                </a:solidFill>
                <a:latin typeface="+mj-ea"/>
              </a:rPr>
              <a:t>Created at </a:t>
            </a:r>
            <a:r>
              <a:rPr lang="en-US" altLang="zh-CN" sz="2000" u="sng">
                <a:solidFill>
                  <a:schemeClr val="tx1"/>
                </a:solidFill>
                <a:latin typeface="+mj-ea"/>
              </a:rPr>
              <a:t>https://github.com/FG-TIDA/themes/issues/23</a:t>
            </a:r>
            <a:endParaRPr lang="en-US" altLang="zh-CN" sz="2000">
              <a:solidFill>
                <a:schemeClr val="tx1"/>
              </a:solidFill>
              <a:latin typeface="+mj-ea"/>
            </a:endParaRPr>
          </a:p>
          <a:p>
            <a:endParaRPr lang="en-US" altLang="zh-CN" sz="2000">
              <a:solidFill>
                <a:schemeClr val="tx1"/>
              </a:solidFill>
              <a:latin typeface="+mj-ea"/>
            </a:endParaRPr>
          </a:p>
          <a:p>
            <a:r>
              <a:rPr lang="en-US" altLang="zh-CN" sz="2000" b="1">
                <a:solidFill>
                  <a:schemeClr val="tx1"/>
                </a:solidFill>
                <a:latin typeface="+mj-ea"/>
              </a:rPr>
              <a:t>Ye Tao, Ying Wang</a:t>
            </a:r>
            <a:endParaRPr lang="en-US" altLang="zh-CN" sz="2000" b="1">
              <a:solidFill>
                <a:schemeClr val="tx1"/>
              </a:solidFill>
              <a:latin typeface="+mj-ea"/>
            </a:endParaRPr>
          </a:p>
          <a:p>
            <a:r>
              <a:rPr lang="en-US" altLang="zh-CN" sz="2000" b="1">
                <a:solidFill>
                  <a:schemeClr val="tx1"/>
                </a:solidFill>
                <a:latin typeface="+mj-ea"/>
              </a:rPr>
              <a:t>China Unicom</a:t>
            </a:r>
            <a:endParaRPr lang="en-US" altLang="zh-CN" sz="2000" b="1">
              <a:solidFill>
                <a:schemeClr val="tx1"/>
              </a:solidFill>
              <a:latin typeface="+mj-ea"/>
            </a:endParaRPr>
          </a:p>
        </p:txBody>
      </p:sp>
      <p:sp>
        <p:nvSpPr>
          <p:cNvPr id="10" name="Title 8"/>
          <p:cNvSpPr txBox="1"/>
          <p:nvPr/>
        </p:nvSpPr>
        <p:spPr>
          <a:xfrm>
            <a:off x="778828" y="1866265"/>
            <a:ext cx="9855200" cy="1668145"/>
          </a:xfrm>
          <a:prstGeom prst="rect">
            <a:avLst/>
          </a:prstGeom>
        </p:spPr>
        <p:txBody>
          <a:bodyPr vert="horz" wrap="square" lIns="113940" tIns="56970" rIns="113940" bIns="56970" rtlCol="0" anchor="ctr">
            <a:noAutofit/>
          </a:bodyPr>
          <a:lstStyle>
            <a:lvl1pPr marL="0" algn="ctr" defTabSz="914400" rtl="0" eaLnBrk="1" latinLnBrk="0" hangingPunct="1">
              <a:lnSpc>
                <a:spcPct val="90000"/>
              </a:lnSpc>
              <a:spcBef>
                <a:spcPct val="0"/>
              </a:spcBef>
              <a:buNone/>
              <a:defRPr sz="3200" kern="1200">
                <a:solidFill>
                  <a:schemeClr val="tx2"/>
                </a:solidFill>
                <a:latin typeface="+mj-lt"/>
                <a:ea typeface="+mj-ea"/>
                <a:cs typeface="+mj-cs"/>
              </a:defRPr>
            </a:lvl1pPr>
          </a:lstStyle>
          <a:p>
            <a:pPr algn="ctr" fontAlgn="auto">
              <a:lnSpc>
                <a:spcPct val="150000"/>
              </a:lnSpc>
              <a:spcBef>
                <a:spcPts val="0"/>
              </a:spcBef>
              <a:spcAft>
                <a:spcPts val="0"/>
              </a:spcAft>
              <a:defRPr/>
            </a:pPr>
            <a:r>
              <a:rPr lang="en-US" altLang="zh-CN" sz="2400" b="1" dirty="0">
                <a:solidFill>
                  <a:schemeClr val="tx1"/>
                </a:solidFill>
                <a:latin typeface="微软雅黑" panose="020B0503020204020204" charset="-122"/>
                <a:ea typeface="微软雅黑" panose="020B0503020204020204" charset="-122"/>
                <a:sym typeface="+mn-ea"/>
              </a:rPr>
              <a:t>Security framework and requirements for authorization and privilege lifecycle management of AI agents</a:t>
            </a:r>
            <a:endParaRPr lang="en-US" altLang="zh-CN" sz="2400" b="1" dirty="0">
              <a:solidFill>
                <a:schemeClr val="tx1"/>
              </a:solidFill>
              <a:latin typeface="微软雅黑" panose="020B0503020204020204" charset="-122"/>
              <a:ea typeface="微软雅黑" panose="020B0503020204020204" charset="-122"/>
              <a:sym typeface="+mn-ea"/>
            </a:endParaRPr>
          </a:p>
          <a:p>
            <a:pPr algn="ctr" fontAlgn="auto">
              <a:lnSpc>
                <a:spcPct val="150000"/>
              </a:lnSpc>
              <a:spcBef>
                <a:spcPts val="0"/>
              </a:spcBef>
              <a:spcAft>
                <a:spcPts val="0"/>
              </a:spcAft>
              <a:defRPr/>
            </a:pPr>
            <a:endParaRPr lang="en-US" altLang="zh-CN" sz="2400" b="1"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258445"/>
            <a:ext cx="10515600" cy="911860"/>
          </a:xfrm>
        </p:spPr>
        <p:txBody>
          <a:bodyPr/>
          <a:p>
            <a:r>
              <a:rPr lang="en-US" altLang="zh-CN" dirty="0">
                <a:latin typeface="微软雅黑" panose="020B0503020204020204" charset="-122"/>
                <a:ea typeface="微软雅黑" panose="020B0503020204020204" charset="-122"/>
              </a:rPr>
              <a:t>Background &amp; Gap</a:t>
            </a:r>
            <a:endParaRPr lang="en-US" altLang="zh-CN">
              <a:latin typeface="微软雅黑" panose="020B0503020204020204" charset="-122"/>
              <a:ea typeface="微软雅黑" panose="020B0503020204020204" charset="-122"/>
            </a:endParaRPr>
          </a:p>
        </p:txBody>
      </p:sp>
      <p:sp>
        <p:nvSpPr>
          <p:cNvPr id="3" name="内容占位符 2"/>
          <p:cNvSpPr>
            <a:spLocks noGrp="1"/>
          </p:cNvSpPr>
          <p:nvPr>
            <p:ph idx="1"/>
          </p:nvPr>
        </p:nvSpPr>
        <p:spPr>
          <a:xfrm>
            <a:off x="647700" y="1192530"/>
            <a:ext cx="10515600" cy="3204210"/>
          </a:xfrm>
        </p:spPr>
        <p:txBody>
          <a:bodyPr>
            <a:normAutofit fontScale="90000" lnSpcReduction="20000"/>
          </a:bodyPr>
          <a:p>
            <a:pPr marL="0" indent="0" algn="just">
              <a:lnSpc>
                <a:spcPct val="100000"/>
              </a:lnSpc>
              <a:buNone/>
            </a:pPr>
            <a:r>
              <a:rPr lang="en-US" altLang="zh-CN"/>
              <a:t>Background:</a:t>
            </a:r>
            <a:endParaRPr lang="en-US" altLang="zh-CN"/>
          </a:p>
          <a:p>
            <a:pPr algn="just">
              <a:lnSpc>
                <a:spcPct val="100000"/>
              </a:lnSpc>
            </a:pPr>
            <a:r>
              <a:rPr lang="en-US" altLang="zh-CN"/>
              <a:t>AI agents are autonomous, networked software entities acting on behalf of users, services, or organizations. Their privileges are not static but follow a privilege lifecycle: created at initialization, adjusted as tasks evolve, suspended during hibernation, re-validated upon activation, and fully revoked at completion or termination.</a:t>
            </a:r>
            <a:endParaRPr lang="en-US" altLang="zh-CN"/>
          </a:p>
          <a:p>
            <a:pPr algn="just">
              <a:lnSpc>
                <a:spcPct val="100000"/>
              </a:lnSpc>
            </a:pPr>
            <a:endParaRPr lang="en-US" altLang="zh-CN"/>
          </a:p>
          <a:p>
            <a:pPr marL="0" indent="0" algn="just">
              <a:lnSpc>
                <a:spcPct val="100000"/>
              </a:lnSpc>
              <a:buNone/>
            </a:pPr>
            <a:r>
              <a:rPr lang="en-US" altLang="zh-CN"/>
              <a:t>Authorization &amp; Privilege Lifecycle Management:</a:t>
            </a:r>
            <a:endParaRPr lang="en-US" altLang="zh-CN"/>
          </a:p>
          <a:p>
            <a:pPr algn="just">
              <a:lnSpc>
                <a:spcPct val="100000"/>
              </a:lnSpc>
            </a:pPr>
            <a:r>
              <a:rPr lang="en-US" altLang="zh-CN" b="1"/>
              <a:t>Authorization </a:t>
            </a:r>
            <a:r>
              <a:rPr lang="en-US" altLang="zh-CN"/>
              <a:t>decides whether, when, and to what extent an agent may exercise privileges.</a:t>
            </a:r>
            <a:endParaRPr lang="en-US" altLang="zh-CN"/>
          </a:p>
          <a:p>
            <a:pPr algn="just">
              <a:lnSpc>
                <a:spcPct val="100000"/>
              </a:lnSpc>
            </a:pPr>
            <a:r>
              <a:rPr lang="en-US" altLang="zh-CN" b="1"/>
              <a:t>Privilege lifecycle management</a:t>
            </a:r>
            <a:r>
              <a:rPr lang="en-US" altLang="zh-CN"/>
              <a:t> governs the states that privileges pass through.</a:t>
            </a:r>
            <a:endParaRPr lang="en-US" altLang="zh-CN"/>
          </a:p>
          <a:p>
            <a:pPr algn="just">
              <a:lnSpc>
                <a:spcPct val="100000"/>
              </a:lnSpc>
            </a:pPr>
            <a:r>
              <a:rPr lang="en-US" altLang="zh-CN"/>
              <a:t>The two are sequential and tightly coupled, operating within or across trust domains.</a:t>
            </a:r>
            <a:endParaRPr lang="en-US" altLang="zh-CN"/>
          </a:p>
          <a:p>
            <a:pPr marL="0" indent="0" algn="just">
              <a:lnSpc>
                <a:spcPct val="100000"/>
              </a:lnSpc>
              <a:buNone/>
            </a:pPr>
            <a:endParaRPr lang="en-US" altLang="zh-CN"/>
          </a:p>
        </p:txBody>
      </p:sp>
      <p:sp>
        <p:nvSpPr>
          <p:cNvPr id="5" name="文本框 4"/>
          <p:cNvSpPr txBox="1"/>
          <p:nvPr/>
        </p:nvSpPr>
        <p:spPr>
          <a:xfrm>
            <a:off x="647700" y="4761865"/>
            <a:ext cx="10662920" cy="1004570"/>
          </a:xfrm>
          <a:prstGeom prst="rect">
            <a:avLst/>
          </a:prstGeom>
          <a:noFill/>
        </p:spPr>
        <p:txBody>
          <a:bodyPr wrap="square" rtlCol="0">
            <a:spAutoFit/>
          </a:bodyPr>
          <a:p>
            <a:pPr>
              <a:lnSpc>
                <a:spcPct val="110000"/>
              </a:lnSpc>
            </a:pPr>
            <a:r>
              <a:rPr lang="en-US" altLang="zh-CN">
                <a:solidFill>
                  <a:srgbClr val="C00000"/>
                </a:solidFill>
              </a:rPr>
              <a:t>Gap:</a:t>
            </a:r>
            <a:endParaRPr lang="en-US" altLang="zh-CN">
              <a:solidFill>
                <a:srgbClr val="C00000"/>
              </a:solidFill>
            </a:endParaRPr>
          </a:p>
          <a:p>
            <a:pPr>
              <a:lnSpc>
                <a:spcPct val="110000"/>
              </a:lnSpc>
            </a:pPr>
            <a:r>
              <a:rPr lang="en-US" altLang="zh-CN"/>
              <a:t>Each p</a:t>
            </a:r>
            <a:r>
              <a:rPr lang="en-US" altLang="zh-CN">
                <a:sym typeface="+mn-ea"/>
              </a:rPr>
              <a:t>rivilege </a:t>
            </a:r>
            <a:r>
              <a:rPr lang="en-US" altLang="zh-CN"/>
              <a:t>lifecycle phase and each authorization dimension introduces unique security challenges, and existing mechanisms do not yet provide a coherent, end-to-end approach to addressing them.</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258445"/>
            <a:ext cx="10515600" cy="918845"/>
          </a:xfrm>
        </p:spPr>
        <p:txBody>
          <a:bodyPr/>
          <a:p>
            <a:r>
              <a:rPr lang="en-US" altLang="zh-CN"/>
              <a:t>Issue</a:t>
            </a:r>
            <a:endParaRPr lang="en-US" altLang="zh-CN"/>
          </a:p>
        </p:txBody>
      </p:sp>
      <p:sp>
        <p:nvSpPr>
          <p:cNvPr id="3" name="内容占位符 2"/>
          <p:cNvSpPr>
            <a:spLocks noGrp="1"/>
          </p:cNvSpPr>
          <p:nvPr>
            <p:ph idx="1"/>
          </p:nvPr>
        </p:nvSpPr>
        <p:spPr>
          <a:xfrm>
            <a:off x="647700" y="1299845"/>
            <a:ext cx="10515600" cy="4351338"/>
          </a:xfrm>
        </p:spPr>
        <p:txBody>
          <a:bodyPr>
            <a:normAutofit/>
          </a:bodyPr>
          <a:p>
            <a:pPr algn="just"/>
            <a:r>
              <a:rPr lang="en-US" altLang="zh-CN"/>
              <a:t>Issue Description:</a:t>
            </a:r>
            <a:endParaRPr lang="en-US" altLang="zh-CN"/>
          </a:p>
          <a:p>
            <a:pPr marL="0" indent="0" algn="just">
              <a:buNone/>
            </a:pPr>
            <a:r>
              <a:rPr lang="en-US" altLang="zh-CN"/>
              <a:t>Define an authorization framework and a set of security requirements for AI agents, so that they hold only the necessary privileges, exercise them at the necessary time in a controlled and auditable manner, and cover end-to-end security from authorization decisions to privilege granting, change, hibernation, activation, revocation, and recovery.</a:t>
            </a:r>
            <a:endParaRPr lang="en-US" altLang="zh-CN"/>
          </a:p>
          <a:p>
            <a:pPr algn="just"/>
            <a:endParaRPr lang="en-US" altLang="zh-CN"/>
          </a:p>
          <a:p>
            <a:pPr algn="just"/>
            <a:r>
              <a:rPr lang="en-US" altLang="zh-CN"/>
              <a:t>Expected Output:</a:t>
            </a:r>
            <a:endParaRPr lang="en-US" altLang="zh-CN"/>
          </a:p>
          <a:p>
            <a:pPr marL="457200" lvl="1" indent="0" algn="just">
              <a:buNone/>
            </a:pPr>
            <a:r>
              <a:rPr lang="en-US" altLang="zh-CN"/>
              <a:t>- An authorization framework covering the identified security dimensions.</a:t>
            </a:r>
            <a:endParaRPr lang="en-US" altLang="zh-CN"/>
          </a:p>
          <a:p>
            <a:pPr marL="457200" lvl="1" indent="0" algn="just">
              <a:buNone/>
            </a:pPr>
            <a:r>
              <a:rPr lang="en-US" altLang="zh-CN"/>
              <a:t>- Security requirements for each phase of the privilege lifecycle.</a:t>
            </a:r>
            <a:endParaRPr lang="en-US" altLang="zh-CN"/>
          </a:p>
          <a:p>
            <a:pPr marL="457200" lvl="1" indent="0" algn="just">
              <a:buNone/>
            </a:pPr>
            <a:r>
              <a:rPr lang="en-US" altLang="zh-CN"/>
              <a:t>- Cross-cutting governance requirements across all phases.</a:t>
            </a:r>
            <a:endParaRPr lang="en-US" altLang="zh-CN"/>
          </a:p>
          <a:p>
            <a:pPr marL="0" indent="0" algn="just">
              <a:buNone/>
            </a:pPr>
            <a:endParaRPr lang="en-US" altLang="zh-CN"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123190"/>
            <a:ext cx="10627995" cy="399415"/>
          </a:xfrm>
        </p:spPr>
        <p:txBody>
          <a:bodyPr>
            <a:noAutofit/>
          </a:bodyPr>
          <a:p>
            <a:r>
              <a:rPr lang="en-US" altLang="zh-CN" sz="1800">
                <a:sym typeface="+mn-ea"/>
              </a:rPr>
              <a:t>Figure 1. Sequential Diagram of the Authorization Process for AI Agents</a:t>
            </a:r>
            <a:endParaRPr lang="en-US" altLang="zh-CN" sz="1800">
              <a:sym typeface="+mn-ea"/>
            </a:endParaRPr>
          </a:p>
        </p:txBody>
      </p:sp>
      <p:pic>
        <p:nvPicPr>
          <p:cNvPr id="4" name="图片 2" descr="图片2-授权流"/>
          <p:cNvPicPr>
            <a:picLocks noChangeAspect="1"/>
          </p:cNvPicPr>
          <p:nvPr/>
        </p:nvPicPr>
        <p:blipFill>
          <a:blip r:embed="rId1"/>
          <a:stretch>
            <a:fillRect/>
          </a:stretch>
        </p:blipFill>
        <p:spPr>
          <a:xfrm>
            <a:off x="2440940" y="671195"/>
            <a:ext cx="7017385" cy="61766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135890"/>
            <a:ext cx="10515600" cy="713740"/>
          </a:xfrm>
        </p:spPr>
        <p:txBody>
          <a:bodyPr>
            <a:normAutofit/>
          </a:bodyPr>
          <a:p>
            <a:r>
              <a:rPr lang="en-US" altLang="zh-CN"/>
              <a:t>AI Agent Privilege Lifecycle Management</a:t>
            </a:r>
            <a:endParaRPr lang="en-US" altLang="zh-CN"/>
          </a:p>
        </p:txBody>
      </p:sp>
      <p:sp>
        <p:nvSpPr>
          <p:cNvPr id="3" name="内容占位符 2"/>
          <p:cNvSpPr>
            <a:spLocks noGrp="1"/>
          </p:cNvSpPr>
          <p:nvPr>
            <p:ph idx="1"/>
          </p:nvPr>
        </p:nvSpPr>
        <p:spPr>
          <a:xfrm>
            <a:off x="1843405" y="6233795"/>
            <a:ext cx="4289425" cy="292100"/>
          </a:xfrm>
        </p:spPr>
        <p:txBody>
          <a:bodyPr>
            <a:normAutofit fontScale="60000"/>
          </a:bodyPr>
          <a:p>
            <a:pPr marL="0" indent="0">
              <a:buNone/>
            </a:pPr>
            <a:r>
              <a:rPr lang="en-US" altLang="zh-CN"/>
              <a:t>Figure 2. AI Agent Privilege Lifecycle Model</a:t>
            </a:r>
            <a:endParaRPr lang="en-US" altLang="zh-CN"/>
          </a:p>
        </p:txBody>
      </p:sp>
      <p:sp>
        <p:nvSpPr>
          <p:cNvPr id="5" name="文本框 4"/>
          <p:cNvSpPr txBox="1"/>
          <p:nvPr/>
        </p:nvSpPr>
        <p:spPr>
          <a:xfrm>
            <a:off x="6347460" y="1807210"/>
            <a:ext cx="5340350" cy="3322955"/>
          </a:xfrm>
          <a:prstGeom prst="rect">
            <a:avLst/>
          </a:prstGeom>
          <a:noFill/>
        </p:spPr>
        <p:txBody>
          <a:bodyPr wrap="square" rtlCol="0">
            <a:spAutoFit/>
          </a:bodyPr>
          <a:p>
            <a:r>
              <a:rPr lang="en-US" altLang="zh-CN" sz="1400"/>
              <a:t>The privilege lifecycle describes the complete sequence of state transitions that a set of privileges undergoes during the lifetime of an AI agent. Five Key Lifecycle Phases:</a:t>
            </a:r>
            <a:endParaRPr lang="en-US" altLang="zh-CN" sz="1400"/>
          </a:p>
          <a:p>
            <a:endParaRPr lang="en-US" altLang="zh-CN" sz="1400"/>
          </a:p>
          <a:p>
            <a:pPr marL="285750" indent="-285750">
              <a:buFont typeface="Wingdings" panose="05000000000000000000" charset="0"/>
              <a:buChar char="l"/>
            </a:pPr>
            <a:r>
              <a:rPr lang="en-US" altLang="zh-CN" sz="1400" b="1"/>
              <a:t>Initialization </a:t>
            </a:r>
            <a:r>
              <a:rPr lang="en-US" altLang="zh-CN" sz="1400"/>
              <a:t>– least-privilege assignment bound to verifiable identity</a:t>
            </a:r>
            <a:endParaRPr lang="en-US" altLang="zh-CN" sz="1400"/>
          </a:p>
          <a:p>
            <a:pPr marL="285750" indent="-285750">
              <a:buFont typeface="Wingdings" panose="05000000000000000000" charset="0"/>
              <a:buChar char="l"/>
            </a:pPr>
            <a:endParaRPr lang="en-US" altLang="zh-CN" sz="1400"/>
          </a:p>
          <a:p>
            <a:pPr marL="285750" indent="-285750">
              <a:buFont typeface="Wingdings" panose="05000000000000000000" charset="0"/>
              <a:buChar char="l"/>
            </a:pPr>
            <a:r>
              <a:rPr lang="en-US" altLang="zh-CN" sz="1400" b="1"/>
              <a:t>Change </a:t>
            </a:r>
            <a:r>
              <a:rPr lang="en-US" altLang="zh-CN" sz="1400"/>
              <a:t>– real-time evaluation of any privilege modification</a:t>
            </a:r>
            <a:endParaRPr lang="en-US" altLang="zh-CN" sz="1400"/>
          </a:p>
          <a:p>
            <a:pPr marL="285750" indent="-285750">
              <a:buFont typeface="Wingdings" panose="05000000000000000000" charset="0"/>
              <a:buChar char="l"/>
            </a:pPr>
            <a:endParaRPr lang="en-US" altLang="zh-CN" sz="1400"/>
          </a:p>
          <a:p>
            <a:pPr marL="285750" indent="-285750">
              <a:buFont typeface="Wingdings" panose="05000000000000000000" charset="0"/>
              <a:buChar char="l"/>
            </a:pPr>
            <a:r>
              <a:rPr lang="en-US" altLang="zh-CN" sz="1400" b="1"/>
              <a:t>Hibernation </a:t>
            </a:r>
            <a:r>
              <a:rPr lang="en-US" altLang="zh-CN" sz="1400"/>
              <a:t>– suspension and cryptographic isolation</a:t>
            </a:r>
            <a:endParaRPr lang="en-US" altLang="zh-CN" sz="1400"/>
          </a:p>
          <a:p>
            <a:pPr marL="285750" indent="-285750">
              <a:buFont typeface="Wingdings" panose="05000000000000000000" charset="0"/>
              <a:buChar char="l"/>
            </a:pPr>
            <a:endParaRPr lang="en-US" altLang="zh-CN" sz="1400"/>
          </a:p>
          <a:p>
            <a:pPr marL="285750" indent="-285750">
              <a:buFont typeface="Wingdings" panose="05000000000000000000" charset="0"/>
              <a:buChar char="l"/>
            </a:pPr>
            <a:r>
              <a:rPr lang="en-US" altLang="zh-CN" sz="1400" b="1"/>
              <a:t>Activation </a:t>
            </a:r>
            <a:r>
              <a:rPr lang="en-US" altLang="zh-CN" sz="1400"/>
              <a:t>– mandatory re-assessment before restoration</a:t>
            </a:r>
            <a:endParaRPr lang="en-US" altLang="zh-CN" sz="1400"/>
          </a:p>
          <a:p>
            <a:pPr marL="285750" indent="-285750">
              <a:buFont typeface="Wingdings" panose="05000000000000000000" charset="0"/>
              <a:buChar char="l"/>
            </a:pPr>
            <a:endParaRPr lang="en-US" altLang="zh-CN" sz="1400"/>
          </a:p>
          <a:p>
            <a:pPr marL="285750" indent="-285750">
              <a:buFont typeface="Wingdings" panose="05000000000000000000" charset="0"/>
              <a:buChar char="l"/>
            </a:pPr>
            <a:r>
              <a:rPr lang="en-US" altLang="zh-CN" sz="1400" b="1"/>
              <a:t>Revocation &amp; Recovery</a:t>
            </a:r>
            <a:r>
              <a:rPr lang="en-US" altLang="zh-CN" sz="1400"/>
              <a:t> – irreversible revocation with cascading cleanup</a:t>
            </a:r>
            <a:endParaRPr lang="en-US" altLang="zh-CN" sz="1400"/>
          </a:p>
        </p:txBody>
      </p:sp>
      <p:pic>
        <p:nvPicPr>
          <p:cNvPr id="14" name="图片 13" descr="figure2"/>
          <p:cNvPicPr>
            <a:picLocks noChangeAspect="1"/>
          </p:cNvPicPr>
          <p:nvPr/>
        </p:nvPicPr>
        <p:blipFill>
          <a:blip r:embed="rId1"/>
          <a:stretch>
            <a:fillRect/>
          </a:stretch>
        </p:blipFill>
        <p:spPr>
          <a:xfrm>
            <a:off x="1129030" y="826135"/>
            <a:ext cx="4819015" cy="54044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258445"/>
            <a:ext cx="10515600" cy="1021715"/>
          </a:xfrm>
        </p:spPr>
        <p:txBody>
          <a:bodyPr/>
          <a:p>
            <a:r>
              <a:rPr lang="en-US" altLang="zh-CN">
                <a:sym typeface="+mn-ea"/>
              </a:rPr>
              <a:t>Draft </a:t>
            </a:r>
            <a:r>
              <a:rPr lang="en-US" altLang="zh-CN"/>
              <a:t>Scope</a:t>
            </a:r>
            <a:endParaRPr lang="en-US" altLang="zh-CN"/>
          </a:p>
        </p:txBody>
      </p:sp>
      <p:sp>
        <p:nvSpPr>
          <p:cNvPr id="3" name="内容占位符 2"/>
          <p:cNvSpPr>
            <a:spLocks noGrp="1"/>
          </p:cNvSpPr>
          <p:nvPr>
            <p:ph idx="1"/>
          </p:nvPr>
        </p:nvSpPr>
        <p:spPr>
          <a:xfrm>
            <a:off x="647700" y="1336040"/>
            <a:ext cx="10619105" cy="4351655"/>
          </a:xfrm>
        </p:spPr>
        <p:txBody>
          <a:bodyPr/>
          <a:p>
            <a:pPr marL="0" indent="0" algn="just">
              <a:lnSpc>
                <a:spcPct val="120000"/>
              </a:lnSpc>
              <a:buNone/>
            </a:pPr>
            <a:r>
              <a:rPr lang="en-US" altLang="zh-CN" sz="1600"/>
              <a:t>The draft specifies a security framework and security requirements for authorization and privilege lifecycle management of AI agents. In this framework, authorization enables AI agents to obtain the privileges they need under controlled and auditable conditions; privilege lifecycle management governs the full state transitions of those privileges from grant to revocation. This </a:t>
            </a:r>
            <a:r>
              <a:rPr lang="en-US" altLang="zh-CN" sz="1600">
                <a:sym typeface="+mn-ea"/>
              </a:rPr>
              <a:t>draft </a:t>
            </a:r>
            <a:r>
              <a:rPr lang="en-US" altLang="zh-CN" sz="1600"/>
              <a:t>also identifies relevant security threats, and specifies the security requirements.</a:t>
            </a:r>
            <a:endParaRPr lang="en-US" altLang="zh-CN" sz="1600"/>
          </a:p>
          <a:p>
            <a:pPr marL="0" indent="0" algn="just">
              <a:lnSpc>
                <a:spcPct val="120000"/>
              </a:lnSpc>
              <a:buNone/>
            </a:pPr>
            <a:r>
              <a:rPr lang="en-US" altLang="zh-CN" sz="1600"/>
              <a:t>The scope of this draft includes:</a:t>
            </a:r>
            <a:endParaRPr lang="en-US" altLang="zh-CN" sz="1600"/>
          </a:p>
          <a:p>
            <a:pPr algn="just">
              <a:lnSpc>
                <a:spcPct val="120000"/>
              </a:lnSpc>
            </a:pPr>
            <a:r>
              <a:rPr lang="en-US" altLang="zh-CN" sz="1600"/>
              <a:t>Security threats for authorization of AI agents, and the corresponding security framework and security requirements;</a:t>
            </a:r>
            <a:endParaRPr lang="en-US" altLang="zh-CN" sz="1600"/>
          </a:p>
          <a:p>
            <a:pPr algn="just">
              <a:lnSpc>
                <a:spcPct val="120000"/>
              </a:lnSpc>
            </a:pPr>
            <a:r>
              <a:rPr lang="en-US" altLang="zh-CN" sz="1600"/>
              <a:t>Security threats for privilege lifecycle management (including initialization, change, hibernation, activation, revocation and recovery, and full-lifecycle governance) of AI agents, and the corresponding security requirements.</a:t>
            </a:r>
            <a:endParaRPr lang="en-US" altLang="zh-CN" sz="1600"/>
          </a:p>
          <a:p>
            <a:pPr marL="0" indent="0" algn="just">
              <a:lnSpc>
                <a:spcPct val="120000"/>
              </a:lnSpc>
              <a:buNone/>
            </a:pPr>
            <a:r>
              <a:rPr lang="en-US" altLang="zh-CN" sz="1200"/>
              <a:t>NOTE – The underlying authorization protocols and infrastructure such as OAuth, GNAP, X.1250-series IdM systems, are outside the scope.</a:t>
            </a:r>
            <a:endParaRPr lang="en-US" altLang="zh-CN"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015865" y="2344420"/>
            <a:ext cx="2814955" cy="1084580"/>
          </a:xfrm>
        </p:spPr>
        <p:txBody>
          <a:bodyPr/>
          <a:p>
            <a:r>
              <a:rPr lang="en-US" altLang="zh-CN" sz="2800"/>
              <a:t>Tkank you!</a:t>
            </a:r>
            <a:endParaRPr lang="en-US" altLang="zh-CN" sz="280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3266</Words>
  <Application>WPS 演示</Application>
  <PresentationFormat>宽屏</PresentationFormat>
  <Paragraphs>61</Paragraphs>
  <Slides>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宋体</vt:lpstr>
      <vt:lpstr>Wingdings</vt:lpstr>
      <vt:lpstr>微软雅黑</vt:lpstr>
      <vt:lpstr>Wingdings</vt:lpstr>
      <vt:lpstr>Arial Unicode MS</vt:lpstr>
      <vt:lpstr>Arial Black</vt:lpstr>
      <vt:lpstr>黑体</vt:lpstr>
      <vt:lpstr>Times New Roman</vt:lpstr>
      <vt:lpstr>Recursive Variable</vt:lpstr>
      <vt:lpstr>Segoe Print</vt:lpstr>
      <vt:lpstr>WPS​​</vt:lpstr>
      <vt:lpstr>PowerPoint 演示文稿</vt:lpstr>
      <vt:lpstr>Background &amp; Gap</vt:lpstr>
      <vt:lpstr>Issue</vt:lpstr>
      <vt:lpstr>Figure 1. Sequential Diagram of the Authorization Process for AI Agents</vt:lpstr>
      <vt:lpstr>Sequence of the privilege state transitions</vt:lpstr>
      <vt:lpstr>Draft Scope</vt:lpstr>
      <vt:lpstr>Tkank you!</vt:lpstr>
    </vt:vector>
  </TitlesOfParts>
  <Company>中国联通研究院</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creator>
  <cp:lastModifiedBy> </cp:lastModifiedBy>
  <cp:revision>20</cp:revision>
  <dcterms:created xsi:type="dcterms:W3CDTF">2023-07-11T07:43:00Z</dcterms:created>
  <dcterms:modified xsi:type="dcterms:W3CDTF">2026-09-30T12:36:35Z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16E60B495D0F45EFB0C05A5D7F9C1CF9_11</vt:lpwstr>
  </property>
</Properties>
</file>