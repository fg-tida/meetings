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B2D2A8-023B-4FD3-8F6A-45F317DFC44D}" v="2" dt="2026-09-29T08:39:18.8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16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45 sec
Agentic AI creates a new child-safety gap. Today, age-related protections are often platform-specific. My proposal is to study a privacy-preserving delegated identity model in which a trusted identity can communicate only the child-related attributes needed by an AI agent, together with parental authority and policy constraints.
[Sources]
- &lt;File&gt;SG17_Q10_TDxx_1st Revised baseline text_XSTR.ATHENA_June2026.docx&lt;/File&gt; (internal Vodafone source; ATHENA framework).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 1 min 15 sec
The problem is not simply age verification at one login. A child may interact with multiple agents across services. If the age or parental context is not portable, protections become inconsistent, repeated verification increases data exposure, and revocation is difficult. The theme should look at an interoperable identity signal, not a new AI product.
[Sources]
- ICO, "Age assurance – estimating or verifying the age of service users" (age assurance methods, privacy and children’s rights): https://ico.org.uk/for-organisations/uk-gdpr-guidance-and-resources/childrens-information/childrens-code-guidance-and-resources/how-to-use-our-guidance-for-standard-one-best-interests-of-the-child/best-interests-framework/age-assurance/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 1 min 40 sec
The model starts from an accountable root, for example a telco-grade identity associated with a subscriber or household. A guardian delegates a constrained child profile. The AI service receives a minimal verifiable assertion, such as an age band or protection class, together with permitted actions and consent requirements. The identity authority retains lifecycle control, so the delegation can expire, change or be revoked. This is consistent with ATHENA’s root-bound identity, constrained delegation, lifecycle governance and enforcement model, but applies it to child profiles.
[Sources]
- &lt;File&gt;C423 - TR.athena v1.3-xy revision.docx&lt;/File&gt; (internal Vodafone source; root authority, delegation, lifecycle and policy enforcement).
- &lt;File&gt;Telco_Hosted_Identity_Authority_Updated_Claims_with_Comments.docx&lt;/File&gt; (internal Vodafone source; scoped authority and time-limited credentials).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 1 min 20 sec
Consider a parent who sets a child profile once. The telco identity authority produces a scoped delegated credential. An AI tutor can verify the child protection level without learning the child’s full identity. If a shopping agent is later invoked, it can inherit spending or consent constraints. When the guardian changes the policy, the trusted authority can update or revoke the delegation. This is an illustrative workflow for discussion, not a prescribed implementation.
[Sources]
- &lt;File&gt;Agentic AI Identity Patent Family - copilot research.docx&lt;/File&gt; (internal Vodafone source; delegation constraints including permissions, time limits, data scopes and budgets).
- &lt;File&gt;SG17_Q10_TDxx_1st Revised baseline text_XSTR.ATHENA_June2026.docx&lt;/File&gt; (internal Vodafone source; subscriber-delegated agents and enforcement points).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 1 min 20 sec
The theme must be framed as child protection by design, not identity expansion. The credential should disclose the minimum information needed. Guardian authority must be constrained and auditable, but the model should also recognise the child’s rights, correction mechanisms and human escalation. Most importantly, this should not create a universal child identifier or a new mechanism for tracking children across services.
[Sources]
- ICO, "Age assurance – estimating or verifying the age of service users" (privacy, non-discrimination, correction and children’s rights): https://ico.org.uk/for-organisations/uk-gdpr-guidance-and-resources/childrens-information/childrens-code-guidance-and-resources/how-to-use-our-guidance-for-standard-one-best-interests-of-the-child/best-interests-framework/age-assurance/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 1 min 20 sec
TIDA does not need to choose a single implementation. The useful output would be a common vocabulary, requirements, trust model and reference architecture. This should cover the identity chain, delegated authority, privacy properties, lifecycle controls, interoperability and the interfaces to policy enforcement and human oversight.
[Sources]
- &lt;File&gt;1-TD236-NWI XSTR.athena.docx&lt;/File&gt; (internal Vodafone source; architectural foundation and future interoperability work).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1 min
My request is to open this as a dedicated TIDA theme and refine it with experts in identity, child rights, age assurance, telecom trust and AI governance. The theme is narrow enough to be actionable and broad enough to connect existing TIDA work. The defining question is simple: how can an AI agent reliably protect a child without needing to know who the child is?
[Sources]
- &lt;File&gt;C423 - TR.athena v1.3-xy revision.docx&lt;/File&gt; (internal Vodafone source; telco-grade identity and governance framework).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60000"/>
          </a:solidFill>
          <a:ln w="12700">
            <a:solidFill>
              <a:srgbClr val="E60000"/>
            </a:solidFill>
            <a:prstDash val="solid"/>
          </a:ln>
        </p:spPr>
        <p:txBody>
          <a:bodyPr/>
          <a:lstStyle/>
          <a:p>
            <a:endParaRPr lang="en-US"/>
          </a:p>
        </p:txBody>
      </p:sp>
      <p:sp>
        <p:nvSpPr>
          <p:cNvPr id="3" name="Text 1"/>
          <p:cNvSpPr/>
          <p:nvPr/>
        </p:nvSpPr>
        <p:spPr>
          <a:xfrm>
            <a:off x="502920" y="6510528"/>
            <a:ext cx="2194560" cy="164592"/>
          </a:xfrm>
          <a:prstGeom prst="rect">
            <a:avLst/>
          </a:prstGeom>
          <a:noFill/>
          <a:ln/>
        </p:spPr>
        <p:txBody>
          <a:bodyPr wrap="square" lIns="0" tIns="0" rIns="0" bIns="0" rtlCol="0" anchor="ctr"/>
          <a:lstStyle/>
          <a:p>
            <a:pPr marL="0" indent="0">
              <a:buNone/>
            </a:pPr>
            <a:r>
              <a:rPr lang="en-US" sz="900">
                <a:solidFill>
                  <a:srgbClr val="657184"/>
                </a:solidFill>
                <a:latin typeface="Aptos" pitchFamily="34" charset="0"/>
                <a:ea typeface="Aptos" pitchFamily="34" charset="-122"/>
                <a:cs typeface="Aptos" pitchFamily="34" charset="-120"/>
              </a:rPr>
              <a:t>TIDA Theme Proposal</a:t>
            </a:r>
            <a:endParaRPr lang="en-US" sz="900"/>
          </a:p>
        </p:txBody>
      </p:sp>
      <p:sp>
        <p:nvSpPr>
          <p:cNvPr id="4" name="Text 2"/>
          <p:cNvSpPr/>
          <p:nvPr/>
        </p:nvSpPr>
        <p:spPr>
          <a:xfrm>
            <a:off x="8275320" y="6510528"/>
            <a:ext cx="3383280" cy="164592"/>
          </a:xfrm>
          <a:prstGeom prst="rect">
            <a:avLst/>
          </a:prstGeom>
          <a:noFill/>
          <a:ln/>
        </p:spPr>
        <p:txBody>
          <a:bodyPr wrap="square" lIns="0" tIns="0" rIns="0" bIns="0" rtlCol="0" anchor="ctr"/>
          <a:lstStyle/>
          <a:p>
            <a:pPr marL="0" indent="0" algn="r">
              <a:buNone/>
            </a:pPr>
            <a:r>
              <a:rPr lang="en-US" sz="900">
                <a:solidFill>
                  <a:srgbClr val="657184"/>
                </a:solidFill>
                <a:latin typeface="Aptos" pitchFamily="34" charset="0"/>
                <a:ea typeface="Aptos" pitchFamily="34" charset="-122"/>
                <a:cs typeface="Aptos" pitchFamily="34" charset="-120"/>
              </a:rPr>
              <a:t>Gianpaolo Angelo Scalone • Vodafone</a:t>
            </a:r>
            <a:endParaRPr lang="en-US" sz="900"/>
          </a:p>
        </p:txBody>
      </p:sp>
      <p:sp>
        <p:nvSpPr>
          <p:cNvPr id="25" name="Slide Number Placeholder 0"/>
          <p:cNvSpPr>
            <a:spLocks noGrp="1"/>
          </p:cNvSpPr>
          <p:nvPr>
            <p:ph type="sldNum" sz="quarter" idx="4294967295"/>
          </p:nvPr>
        </p:nvSpPr>
        <p:spPr>
          <a:xfrm>
            <a:off x="1177747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657184"/>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7747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65718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13D"/>
        </a:solidFill>
        <a:effectLst/>
      </p:bgPr>
    </p:bg>
    <p:spTree>
      <p:nvGrpSpPr>
        <p:cNvPr id="1" name=""/>
        <p:cNvGrpSpPr/>
        <p:nvPr/>
      </p:nvGrpSpPr>
      <p:grpSpPr>
        <a:xfrm>
          <a:off x="0" y="0"/>
          <a:ext cx="1" cy="1"/>
          <a:chOff x="0" y="0"/>
          <a:chExt cx="1" cy="1"/>
        </a:xfrm>
      </p:grpSpPr>
      <p:sp>
        <p:nvSpPr>
          <p:cNvPr id="2" name="Shape 0"/>
          <p:cNvSpPr/>
          <p:nvPr/>
        </p:nvSpPr>
        <p:spPr>
          <a:xfrm>
            <a:off x="0" y="0"/>
            <a:ext cx="12191695" cy="6858000"/>
          </a:xfrm>
          <a:prstGeom prst="rect">
            <a:avLst/>
          </a:prstGeom>
          <a:solidFill>
            <a:srgbClr val="10213D"/>
          </a:solidFill>
          <a:ln w="12700">
            <a:solidFill>
              <a:srgbClr val="10213D"/>
            </a:solidFill>
            <a:prstDash val="solid"/>
          </a:ln>
        </p:spPr>
        <p:txBody>
          <a:bodyPr/>
          <a:lstStyle/>
          <a:p>
            <a:endParaRPr lang="en-US"/>
          </a:p>
        </p:txBody>
      </p:sp>
      <p:sp>
        <p:nvSpPr>
          <p:cNvPr id="5" name="Text 3"/>
          <p:cNvSpPr/>
          <p:nvPr/>
        </p:nvSpPr>
        <p:spPr>
          <a:xfrm>
            <a:off x="8202168" y="2990088"/>
            <a:ext cx="1572768" cy="457200"/>
          </a:xfrm>
          <a:prstGeom prst="rect">
            <a:avLst/>
          </a:prstGeom>
          <a:noFill/>
          <a:ln/>
        </p:spPr>
        <p:txBody>
          <a:bodyPr wrap="square" lIns="0" tIns="0" rIns="0" bIns="0" rtlCol="0" anchor="ctr">
            <a:normAutofit/>
          </a:bodyPr>
          <a:lstStyle/>
          <a:p>
            <a:pPr marL="0" indent="0" algn="ctr">
              <a:buNone/>
            </a:pPr>
            <a:r>
              <a:rPr lang="en-US" sz="1300" b="1" dirty="0">
                <a:solidFill>
                  <a:srgbClr val="14213D"/>
                </a:solidFill>
              </a:rPr>
              <a:t>Parent / guardian</a:t>
            </a:r>
            <a:endParaRPr lang="en-US" sz="1300" dirty="0"/>
          </a:p>
        </p:txBody>
      </p:sp>
      <p:sp>
        <p:nvSpPr>
          <p:cNvPr id="8" name="Text 6"/>
          <p:cNvSpPr/>
          <p:nvPr/>
        </p:nvSpPr>
        <p:spPr>
          <a:xfrm>
            <a:off x="9848088" y="2990088"/>
            <a:ext cx="1572768" cy="457200"/>
          </a:xfrm>
          <a:prstGeom prst="rect">
            <a:avLst/>
          </a:prstGeom>
          <a:noFill/>
          <a:ln/>
        </p:spPr>
        <p:txBody>
          <a:bodyPr wrap="square" lIns="0" tIns="0" rIns="0" bIns="0" rtlCol="0" anchor="ctr">
            <a:normAutofit/>
          </a:bodyPr>
          <a:lstStyle/>
          <a:p>
            <a:pPr marL="0" indent="0" algn="ctr">
              <a:buNone/>
            </a:pPr>
            <a:r>
              <a:rPr lang="en-US" sz="1300" b="1" dirty="0">
                <a:solidFill>
                  <a:srgbClr val="14213D"/>
                </a:solidFill>
              </a:rPr>
              <a:t>Child profile</a:t>
            </a:r>
            <a:endParaRPr lang="en-US" sz="1300" dirty="0"/>
          </a:p>
        </p:txBody>
      </p:sp>
      <p:sp>
        <p:nvSpPr>
          <p:cNvPr id="11" name="Text 9"/>
          <p:cNvSpPr/>
          <p:nvPr/>
        </p:nvSpPr>
        <p:spPr>
          <a:xfrm>
            <a:off x="9025128" y="4818888"/>
            <a:ext cx="1572768" cy="457200"/>
          </a:xfrm>
          <a:prstGeom prst="rect">
            <a:avLst/>
          </a:prstGeom>
          <a:noFill/>
          <a:ln/>
        </p:spPr>
        <p:txBody>
          <a:bodyPr wrap="square" lIns="0" tIns="0" rIns="0" bIns="0" rtlCol="0" anchor="ctr">
            <a:normAutofit/>
          </a:bodyPr>
          <a:lstStyle/>
          <a:p>
            <a:pPr marL="0" indent="0" algn="ctr">
              <a:buNone/>
            </a:pPr>
            <a:r>
              <a:rPr lang="en-US" sz="1300" b="1" dirty="0">
                <a:solidFill>
                  <a:srgbClr val="14213D"/>
                </a:solidFill>
              </a:rPr>
              <a:t>AI agent</a:t>
            </a:r>
            <a:endParaRPr lang="en-US" sz="1300" dirty="0"/>
          </a:p>
        </p:txBody>
      </p:sp>
      <p:sp>
        <p:nvSpPr>
          <p:cNvPr id="14" name="Text 12"/>
          <p:cNvSpPr/>
          <p:nvPr/>
        </p:nvSpPr>
        <p:spPr>
          <a:xfrm>
            <a:off x="658368" y="1051560"/>
            <a:ext cx="6949440" cy="1417320"/>
          </a:xfrm>
          <a:prstGeom prst="rect">
            <a:avLst/>
          </a:prstGeom>
          <a:noFill/>
          <a:ln/>
        </p:spPr>
        <p:txBody>
          <a:bodyPr wrap="square" lIns="0" tIns="0" rIns="0" bIns="0" rtlCol="0" anchor="ctr">
            <a:normAutofit/>
          </a:bodyPr>
          <a:lstStyle/>
          <a:p>
            <a:pPr marL="0" indent="0">
              <a:buNone/>
            </a:pPr>
            <a:r>
              <a:rPr lang="en-US" sz="3600" b="1" dirty="0">
                <a:solidFill>
                  <a:srgbClr val="FFFFFF"/>
                </a:solidFill>
              </a:rPr>
              <a:t>Child-Aware Delegated Identity</a:t>
            </a:r>
            <a:endParaRPr lang="en-US" sz="3600" dirty="0"/>
          </a:p>
          <a:p>
            <a:pPr marL="0" indent="0">
              <a:buNone/>
            </a:pPr>
            <a:r>
              <a:rPr lang="en-US" sz="3600" b="1" dirty="0">
                <a:solidFill>
                  <a:srgbClr val="FFFFFF"/>
                </a:solidFill>
              </a:rPr>
              <a:t>for Agentic AI</a:t>
            </a:r>
            <a:endParaRPr lang="en-US" sz="3600" dirty="0"/>
          </a:p>
        </p:txBody>
      </p:sp>
      <p:sp>
        <p:nvSpPr>
          <p:cNvPr id="15" name="Text 13"/>
          <p:cNvSpPr/>
          <p:nvPr/>
        </p:nvSpPr>
        <p:spPr>
          <a:xfrm>
            <a:off x="685800" y="2788920"/>
            <a:ext cx="6309360" cy="914400"/>
          </a:xfrm>
          <a:prstGeom prst="rect">
            <a:avLst/>
          </a:prstGeom>
          <a:noFill/>
          <a:ln/>
        </p:spPr>
        <p:txBody>
          <a:bodyPr wrap="square" lIns="0" tIns="0" rIns="0" bIns="0" rtlCol="0" anchor="ctr"/>
          <a:lstStyle/>
          <a:p>
            <a:pPr marL="0" indent="0">
              <a:buNone/>
            </a:pPr>
            <a:r>
              <a:rPr lang="en-US" sz="2000" dirty="0">
                <a:solidFill>
                  <a:srgbClr val="D9E6FA"/>
                </a:solidFill>
              </a:rPr>
              <a:t>Privacy-preserving, age-aware AI agents</a:t>
            </a:r>
            <a:endParaRPr lang="en-US" sz="2000" dirty="0"/>
          </a:p>
        </p:txBody>
      </p:sp>
      <p:sp>
        <p:nvSpPr>
          <p:cNvPr id="17" name="Text 15"/>
          <p:cNvSpPr/>
          <p:nvPr/>
        </p:nvSpPr>
        <p:spPr>
          <a:xfrm>
            <a:off x="685800" y="4736592"/>
            <a:ext cx="5303520" cy="365760"/>
          </a:xfrm>
          <a:prstGeom prst="rect">
            <a:avLst/>
          </a:prstGeom>
          <a:noFill/>
          <a:ln/>
        </p:spPr>
        <p:txBody>
          <a:bodyPr wrap="square" lIns="0" tIns="0" rIns="0" bIns="0" rtlCol="0" anchor="ctr"/>
          <a:lstStyle/>
          <a:p>
            <a:pPr marL="0" indent="0">
              <a:buNone/>
            </a:pPr>
            <a:r>
              <a:rPr lang="en-US" sz="1600" b="1" dirty="0">
                <a:solidFill>
                  <a:srgbClr val="FFFFFF"/>
                </a:solidFill>
              </a:rPr>
              <a:t>Gianpaolo Angelo Scalone  |  Vodafone</a:t>
            </a:r>
            <a:endParaRPr lang="en-US" sz="1600" dirty="0"/>
          </a:p>
        </p:txBody>
      </p:sp>
      <p:sp>
        <p:nvSpPr>
          <p:cNvPr id="18" name="Text 16"/>
          <p:cNvSpPr/>
          <p:nvPr/>
        </p:nvSpPr>
        <p:spPr>
          <a:xfrm>
            <a:off x="685800" y="5513832"/>
            <a:ext cx="7086600" cy="640080"/>
          </a:xfrm>
          <a:prstGeom prst="rect">
            <a:avLst/>
          </a:prstGeom>
          <a:noFill/>
          <a:ln/>
        </p:spPr>
        <p:txBody>
          <a:bodyPr wrap="square" lIns="0" tIns="0" rIns="0" bIns="0" rtlCol="0" anchor="ctr"/>
          <a:lstStyle/>
          <a:p>
            <a:pPr marL="0" indent="0">
              <a:buNone/>
            </a:pPr>
            <a:r>
              <a:rPr lang="en-US" sz="1600" i="1" dirty="0">
                <a:solidFill>
                  <a:srgbClr val="BBD0ED"/>
                </a:solidFill>
              </a:rPr>
              <a:t>Core question: How can an AI agent know that it represents a child, and safely preserve that protection across services?</a:t>
            </a:r>
            <a:endParaRPr lang="en-US" sz="1600" dirty="0"/>
          </a:p>
        </p:txBody>
      </p:sp>
      <p:sp>
        <p:nvSpPr>
          <p:cNvPr id="25" name="Slide Number Placeholder 0"/>
          <p:cNvSpPr>
            <a:spLocks noGrp="1"/>
          </p:cNvSpPr>
          <p:nvPr>
            <p:ph type="sldNum" sz="quarter" idx="4294967295"/>
          </p:nvPr>
        </p:nvSpPr>
        <p:spPr>
          <a:xfrm>
            <a:off x="1177747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657184"/>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66928" y="347472"/>
            <a:ext cx="4572000" cy="228600"/>
          </a:xfrm>
          <a:prstGeom prst="rect">
            <a:avLst/>
          </a:prstGeom>
          <a:noFill/>
          <a:ln/>
        </p:spPr>
        <p:txBody>
          <a:bodyPr wrap="square" lIns="0" tIns="0" rIns="0" bIns="0" rtlCol="0" anchor="ctr"/>
          <a:lstStyle/>
          <a:p>
            <a:pPr marL="0" indent="0">
              <a:buNone/>
            </a:pPr>
            <a:r>
              <a:rPr lang="en-US" sz="1100" b="1" kern="0" spc="160" dirty="0">
                <a:solidFill>
                  <a:srgbClr val="E60000"/>
                </a:solidFill>
              </a:rPr>
              <a:t>WHY NOW</a:t>
            </a:r>
            <a:endParaRPr lang="en-US" sz="1100" dirty="0"/>
          </a:p>
        </p:txBody>
      </p:sp>
      <p:sp>
        <p:nvSpPr>
          <p:cNvPr id="3" name="Text 1"/>
          <p:cNvSpPr/>
          <p:nvPr/>
        </p:nvSpPr>
        <p:spPr>
          <a:xfrm>
            <a:off x="566928" y="658368"/>
            <a:ext cx="10972800" cy="512064"/>
          </a:xfrm>
          <a:prstGeom prst="rect">
            <a:avLst/>
          </a:prstGeom>
          <a:noFill/>
          <a:ln/>
        </p:spPr>
        <p:txBody>
          <a:bodyPr wrap="square" lIns="0" tIns="0" rIns="0" bIns="0" rtlCol="0" anchor="ctr">
            <a:normAutofit/>
          </a:bodyPr>
          <a:lstStyle/>
          <a:p>
            <a:pPr marL="0" indent="0">
              <a:buNone/>
            </a:pPr>
            <a:r>
              <a:rPr lang="en-US" sz="2700" b="1" dirty="0">
                <a:solidFill>
                  <a:srgbClr val="10213D"/>
                </a:solidFill>
              </a:rPr>
              <a:t>The protection gap moves with the child, but identity does not</a:t>
            </a:r>
            <a:endParaRPr lang="en-US" sz="2700" dirty="0"/>
          </a:p>
        </p:txBody>
      </p:sp>
      <p:sp>
        <p:nvSpPr>
          <p:cNvPr id="4" name="Text 2"/>
          <p:cNvSpPr/>
          <p:nvPr/>
        </p:nvSpPr>
        <p:spPr>
          <a:xfrm>
            <a:off x="594360" y="1298448"/>
            <a:ext cx="6446520" cy="731520"/>
          </a:xfrm>
          <a:prstGeom prst="rect">
            <a:avLst/>
          </a:prstGeom>
          <a:noFill/>
          <a:ln/>
        </p:spPr>
        <p:txBody>
          <a:bodyPr wrap="square" lIns="0" tIns="0" rIns="0" bIns="0" rtlCol="0" anchor="ctr"/>
          <a:lstStyle/>
          <a:p>
            <a:pPr marL="0" indent="0">
              <a:buNone/>
            </a:pPr>
            <a:r>
              <a:rPr lang="en-US" sz="2000" dirty="0">
                <a:solidFill>
                  <a:srgbClr val="334155"/>
                </a:solidFill>
              </a:rPr>
              <a:t>A child can move across devices, AI agents and services while each interaction starts again as an unknown or generic user.</a:t>
            </a:r>
            <a:endParaRPr lang="en-US" sz="2000" dirty="0"/>
          </a:p>
        </p:txBody>
      </p:sp>
      <p:sp>
        <p:nvSpPr>
          <p:cNvPr id="5" name="Shape 3"/>
          <p:cNvSpPr/>
          <p:nvPr/>
        </p:nvSpPr>
        <p:spPr>
          <a:xfrm>
            <a:off x="731520" y="2331720"/>
            <a:ext cx="1234440" cy="1051560"/>
          </a:xfrm>
          <a:prstGeom prst="roundRect">
            <a:avLst>
              <a:gd name="adj" fmla="val 12174"/>
            </a:avLst>
          </a:prstGeom>
          <a:solidFill>
            <a:srgbClr val="FFFFFF"/>
          </a:solidFill>
          <a:ln w="12700">
            <a:solidFill>
              <a:srgbClr val="D9E2EF"/>
            </a:solidFill>
            <a:prstDash val="solid"/>
          </a:ln>
          <a:effectLst/>
        </p:spPr>
        <p:txBody>
          <a:bodyPr/>
          <a:lstStyle/>
          <a:p>
            <a:endParaRPr lang="en-US"/>
          </a:p>
        </p:txBody>
      </p:sp>
      <p:sp>
        <p:nvSpPr>
          <p:cNvPr id="6" name="Text 4"/>
          <p:cNvSpPr/>
          <p:nvPr/>
        </p:nvSpPr>
        <p:spPr>
          <a:xfrm>
            <a:off x="1115568" y="2523744"/>
            <a:ext cx="457200" cy="329184"/>
          </a:xfrm>
          <a:prstGeom prst="rect">
            <a:avLst/>
          </a:prstGeom>
          <a:noFill/>
          <a:ln/>
        </p:spPr>
        <p:txBody>
          <a:bodyPr wrap="square" lIns="0" tIns="0" rIns="0" bIns="0" rtlCol="0" anchor="ctr"/>
          <a:lstStyle/>
          <a:p>
            <a:pPr marL="0" indent="0" algn="ctr">
              <a:buNone/>
            </a:pPr>
            <a:r>
              <a:rPr lang="en-US" sz="2200" b="1" dirty="0">
                <a:solidFill>
                  <a:srgbClr val="1677FF"/>
                </a:solidFill>
              </a:rPr>
              <a:t>AI</a:t>
            </a:r>
            <a:endParaRPr lang="en-US" sz="2200" dirty="0"/>
          </a:p>
        </p:txBody>
      </p:sp>
      <p:sp>
        <p:nvSpPr>
          <p:cNvPr id="7" name="Text 5"/>
          <p:cNvSpPr/>
          <p:nvPr/>
        </p:nvSpPr>
        <p:spPr>
          <a:xfrm>
            <a:off x="685800" y="3584448"/>
            <a:ext cx="1325880" cy="365760"/>
          </a:xfrm>
          <a:prstGeom prst="rect">
            <a:avLst/>
          </a:prstGeom>
          <a:noFill/>
          <a:ln/>
        </p:spPr>
        <p:txBody>
          <a:bodyPr wrap="square" lIns="0" tIns="0" rIns="0" bIns="0" rtlCol="0" anchor="ctr"/>
          <a:lstStyle/>
          <a:p>
            <a:pPr marL="0" indent="0" algn="ctr">
              <a:buNone/>
            </a:pPr>
            <a:r>
              <a:rPr lang="en-US" sz="1200" b="1" dirty="0">
                <a:solidFill>
                  <a:srgbClr val="14213D"/>
                </a:solidFill>
              </a:rPr>
              <a:t>AI tutor</a:t>
            </a:r>
            <a:endParaRPr lang="en-US" sz="1200" dirty="0"/>
          </a:p>
        </p:txBody>
      </p:sp>
      <p:sp>
        <p:nvSpPr>
          <p:cNvPr id="8" name="Shape 6"/>
          <p:cNvSpPr/>
          <p:nvPr/>
        </p:nvSpPr>
        <p:spPr>
          <a:xfrm>
            <a:off x="2331720" y="2331720"/>
            <a:ext cx="1234440" cy="1051560"/>
          </a:xfrm>
          <a:prstGeom prst="roundRect">
            <a:avLst>
              <a:gd name="adj" fmla="val 12174"/>
            </a:avLst>
          </a:prstGeom>
          <a:solidFill>
            <a:srgbClr val="FFFFFF"/>
          </a:solidFill>
          <a:ln w="12700">
            <a:solidFill>
              <a:srgbClr val="D9E2EF"/>
            </a:solidFill>
            <a:prstDash val="solid"/>
          </a:ln>
          <a:effectLst/>
        </p:spPr>
        <p:txBody>
          <a:bodyPr/>
          <a:lstStyle/>
          <a:p>
            <a:endParaRPr lang="en-US"/>
          </a:p>
        </p:txBody>
      </p:sp>
      <p:sp>
        <p:nvSpPr>
          <p:cNvPr id="9" name="Text 7"/>
          <p:cNvSpPr/>
          <p:nvPr/>
        </p:nvSpPr>
        <p:spPr>
          <a:xfrm>
            <a:off x="2715768" y="2523744"/>
            <a:ext cx="457200" cy="329184"/>
          </a:xfrm>
          <a:prstGeom prst="rect">
            <a:avLst/>
          </a:prstGeom>
          <a:noFill/>
          <a:ln/>
        </p:spPr>
        <p:txBody>
          <a:bodyPr wrap="square" lIns="0" tIns="0" rIns="0" bIns="0" rtlCol="0" anchor="ctr"/>
          <a:lstStyle/>
          <a:p>
            <a:pPr marL="0" indent="0" algn="ctr">
              <a:buNone/>
            </a:pPr>
            <a:r>
              <a:rPr lang="en-US" sz="2200" b="1" dirty="0">
                <a:solidFill>
                  <a:srgbClr val="34C6D3"/>
                </a:solidFill>
              </a:rPr>
              <a:t>AI</a:t>
            </a:r>
            <a:endParaRPr lang="en-US" sz="2200" dirty="0"/>
          </a:p>
        </p:txBody>
      </p:sp>
      <p:sp>
        <p:nvSpPr>
          <p:cNvPr id="10" name="Text 8"/>
          <p:cNvSpPr/>
          <p:nvPr/>
        </p:nvSpPr>
        <p:spPr>
          <a:xfrm>
            <a:off x="2286000" y="3584448"/>
            <a:ext cx="1325880" cy="365760"/>
          </a:xfrm>
          <a:prstGeom prst="rect">
            <a:avLst/>
          </a:prstGeom>
          <a:noFill/>
          <a:ln/>
        </p:spPr>
        <p:txBody>
          <a:bodyPr wrap="square" lIns="0" tIns="0" rIns="0" bIns="0" rtlCol="0" anchor="ctr"/>
          <a:lstStyle/>
          <a:p>
            <a:pPr marL="0" indent="0" algn="ctr">
              <a:buNone/>
            </a:pPr>
            <a:r>
              <a:rPr lang="en-US" sz="1200" b="1" dirty="0">
                <a:solidFill>
                  <a:srgbClr val="14213D"/>
                </a:solidFill>
              </a:rPr>
              <a:t>Game agent</a:t>
            </a:r>
            <a:endParaRPr lang="en-US" sz="1200" dirty="0"/>
          </a:p>
        </p:txBody>
      </p:sp>
      <p:sp>
        <p:nvSpPr>
          <p:cNvPr id="11" name="Shape 9"/>
          <p:cNvSpPr/>
          <p:nvPr/>
        </p:nvSpPr>
        <p:spPr>
          <a:xfrm>
            <a:off x="3931920" y="2331720"/>
            <a:ext cx="1234440" cy="1051560"/>
          </a:xfrm>
          <a:prstGeom prst="roundRect">
            <a:avLst>
              <a:gd name="adj" fmla="val 12174"/>
            </a:avLst>
          </a:prstGeom>
          <a:solidFill>
            <a:srgbClr val="FFFFFF"/>
          </a:solidFill>
          <a:ln w="12700">
            <a:solidFill>
              <a:srgbClr val="D9E2EF"/>
            </a:solidFill>
            <a:prstDash val="solid"/>
          </a:ln>
          <a:effectLst/>
        </p:spPr>
        <p:txBody>
          <a:bodyPr/>
          <a:lstStyle/>
          <a:p>
            <a:endParaRPr lang="en-US"/>
          </a:p>
        </p:txBody>
      </p:sp>
      <p:sp>
        <p:nvSpPr>
          <p:cNvPr id="12" name="Text 10"/>
          <p:cNvSpPr/>
          <p:nvPr/>
        </p:nvSpPr>
        <p:spPr>
          <a:xfrm>
            <a:off x="4315968" y="2523744"/>
            <a:ext cx="457200" cy="329184"/>
          </a:xfrm>
          <a:prstGeom prst="rect">
            <a:avLst/>
          </a:prstGeom>
          <a:noFill/>
          <a:ln/>
        </p:spPr>
        <p:txBody>
          <a:bodyPr wrap="square" lIns="0" tIns="0" rIns="0" bIns="0" rtlCol="0" anchor="ctr"/>
          <a:lstStyle/>
          <a:p>
            <a:pPr marL="0" indent="0" algn="ctr">
              <a:buNone/>
            </a:pPr>
            <a:r>
              <a:rPr lang="en-US" sz="2200" b="1" dirty="0">
                <a:solidFill>
                  <a:srgbClr val="FF6B5E"/>
                </a:solidFill>
              </a:rPr>
              <a:t>AI</a:t>
            </a:r>
            <a:endParaRPr lang="en-US" sz="2200" dirty="0"/>
          </a:p>
        </p:txBody>
      </p:sp>
      <p:sp>
        <p:nvSpPr>
          <p:cNvPr id="13" name="Text 11"/>
          <p:cNvSpPr/>
          <p:nvPr/>
        </p:nvSpPr>
        <p:spPr>
          <a:xfrm>
            <a:off x="3886200" y="3584448"/>
            <a:ext cx="1325880" cy="365760"/>
          </a:xfrm>
          <a:prstGeom prst="rect">
            <a:avLst/>
          </a:prstGeom>
          <a:noFill/>
          <a:ln/>
        </p:spPr>
        <p:txBody>
          <a:bodyPr wrap="square" lIns="0" tIns="0" rIns="0" bIns="0" rtlCol="0" anchor="ctr"/>
          <a:lstStyle/>
          <a:p>
            <a:pPr marL="0" indent="0" algn="ctr">
              <a:buNone/>
            </a:pPr>
            <a:r>
              <a:rPr lang="en-US" sz="1200" b="1" dirty="0">
                <a:solidFill>
                  <a:srgbClr val="14213D"/>
                </a:solidFill>
              </a:rPr>
              <a:t>Shopping agent</a:t>
            </a:r>
            <a:endParaRPr lang="en-US" sz="1200" dirty="0"/>
          </a:p>
        </p:txBody>
      </p:sp>
      <p:sp>
        <p:nvSpPr>
          <p:cNvPr id="14" name="Shape 12"/>
          <p:cNvSpPr/>
          <p:nvPr/>
        </p:nvSpPr>
        <p:spPr>
          <a:xfrm>
            <a:off x="5532120" y="2331720"/>
            <a:ext cx="1234440" cy="1051560"/>
          </a:xfrm>
          <a:prstGeom prst="roundRect">
            <a:avLst>
              <a:gd name="adj" fmla="val 12174"/>
            </a:avLst>
          </a:prstGeom>
          <a:solidFill>
            <a:srgbClr val="FFFFFF"/>
          </a:solidFill>
          <a:ln w="12700">
            <a:solidFill>
              <a:srgbClr val="D9E2EF"/>
            </a:solidFill>
            <a:prstDash val="solid"/>
          </a:ln>
          <a:effectLst/>
        </p:spPr>
        <p:txBody>
          <a:bodyPr/>
          <a:lstStyle/>
          <a:p>
            <a:endParaRPr lang="en-US"/>
          </a:p>
        </p:txBody>
      </p:sp>
      <p:sp>
        <p:nvSpPr>
          <p:cNvPr id="15" name="Text 13"/>
          <p:cNvSpPr/>
          <p:nvPr/>
        </p:nvSpPr>
        <p:spPr>
          <a:xfrm>
            <a:off x="5916168" y="2523744"/>
            <a:ext cx="457200" cy="329184"/>
          </a:xfrm>
          <a:prstGeom prst="rect">
            <a:avLst/>
          </a:prstGeom>
          <a:noFill/>
          <a:ln/>
        </p:spPr>
        <p:txBody>
          <a:bodyPr wrap="square" lIns="0" tIns="0" rIns="0" bIns="0" rtlCol="0" anchor="ctr"/>
          <a:lstStyle/>
          <a:p>
            <a:pPr marL="0" indent="0" algn="ctr">
              <a:buNone/>
            </a:pPr>
            <a:r>
              <a:rPr lang="en-US" sz="2200" b="1" dirty="0">
                <a:solidFill>
                  <a:srgbClr val="F2A93B"/>
                </a:solidFill>
              </a:rPr>
              <a:t>AI</a:t>
            </a:r>
            <a:endParaRPr lang="en-US" sz="2200" dirty="0"/>
          </a:p>
        </p:txBody>
      </p:sp>
      <p:sp>
        <p:nvSpPr>
          <p:cNvPr id="16" name="Text 14"/>
          <p:cNvSpPr/>
          <p:nvPr/>
        </p:nvSpPr>
        <p:spPr>
          <a:xfrm>
            <a:off x="5486400" y="3584448"/>
            <a:ext cx="1325880" cy="365760"/>
          </a:xfrm>
          <a:prstGeom prst="rect">
            <a:avLst/>
          </a:prstGeom>
          <a:noFill/>
          <a:ln/>
        </p:spPr>
        <p:txBody>
          <a:bodyPr wrap="square" lIns="0" tIns="0" rIns="0" bIns="0" rtlCol="0" anchor="ctr"/>
          <a:lstStyle/>
          <a:p>
            <a:pPr marL="0" indent="0" algn="ctr">
              <a:buNone/>
            </a:pPr>
            <a:r>
              <a:rPr lang="en-US" sz="1200" b="1" dirty="0">
                <a:solidFill>
                  <a:srgbClr val="14213D"/>
                </a:solidFill>
              </a:rPr>
              <a:t>Companion</a:t>
            </a:r>
            <a:endParaRPr lang="en-US" sz="1200" dirty="0"/>
          </a:p>
        </p:txBody>
      </p:sp>
      <p:sp>
        <p:nvSpPr>
          <p:cNvPr id="17" name="Shape 15"/>
          <p:cNvSpPr/>
          <p:nvPr/>
        </p:nvSpPr>
        <p:spPr>
          <a:xfrm>
            <a:off x="896112" y="4251960"/>
            <a:ext cx="6035040" cy="1"/>
          </a:xfrm>
          <a:prstGeom prst="line">
            <a:avLst/>
          </a:prstGeom>
          <a:noFill/>
          <a:ln w="25400">
            <a:solidFill>
              <a:srgbClr val="E60000"/>
            </a:solidFill>
            <a:prstDash val="solid"/>
          </a:ln>
        </p:spPr>
        <p:txBody>
          <a:bodyPr/>
          <a:lstStyle/>
          <a:p>
            <a:endParaRPr lang="en-US"/>
          </a:p>
        </p:txBody>
      </p:sp>
      <p:sp>
        <p:nvSpPr>
          <p:cNvPr id="18" name="Text 16"/>
          <p:cNvSpPr/>
          <p:nvPr/>
        </p:nvSpPr>
        <p:spPr>
          <a:xfrm>
            <a:off x="566928" y="4498848"/>
            <a:ext cx="1417320" cy="530352"/>
          </a:xfrm>
          <a:prstGeom prst="rect">
            <a:avLst/>
          </a:prstGeom>
          <a:noFill/>
          <a:ln/>
        </p:spPr>
        <p:txBody>
          <a:bodyPr wrap="square" lIns="381" tIns="381" rIns="381" bIns="381" rtlCol="0" anchor="ctr">
            <a:normAutofit/>
          </a:bodyPr>
          <a:lstStyle/>
          <a:p>
            <a:pPr marL="0" indent="0" algn="ctr">
              <a:buNone/>
            </a:pPr>
            <a:r>
              <a:rPr lang="en-US" sz="1300" b="1" dirty="0">
                <a:solidFill>
                  <a:srgbClr val="E60000"/>
                </a:solidFill>
              </a:rPr>
              <a:t>Age repeated</a:t>
            </a:r>
            <a:endParaRPr lang="en-US" sz="1300" dirty="0"/>
          </a:p>
        </p:txBody>
      </p:sp>
      <p:sp>
        <p:nvSpPr>
          <p:cNvPr id="19" name="Text 17"/>
          <p:cNvSpPr/>
          <p:nvPr/>
        </p:nvSpPr>
        <p:spPr>
          <a:xfrm>
            <a:off x="2167128" y="4498848"/>
            <a:ext cx="1417320" cy="530352"/>
          </a:xfrm>
          <a:prstGeom prst="rect">
            <a:avLst/>
          </a:prstGeom>
          <a:noFill/>
          <a:ln/>
        </p:spPr>
        <p:txBody>
          <a:bodyPr wrap="square" lIns="381" tIns="381" rIns="381" bIns="381" rtlCol="0" anchor="ctr">
            <a:normAutofit/>
          </a:bodyPr>
          <a:lstStyle/>
          <a:p>
            <a:pPr marL="0" indent="0" algn="ctr">
              <a:buNone/>
            </a:pPr>
            <a:r>
              <a:rPr lang="en-US" sz="1300" b="1" dirty="0">
                <a:solidFill>
                  <a:srgbClr val="E60000"/>
                </a:solidFill>
              </a:rPr>
              <a:t>Consent fragmented</a:t>
            </a:r>
            <a:endParaRPr lang="en-US" sz="1300" dirty="0"/>
          </a:p>
        </p:txBody>
      </p:sp>
      <p:sp>
        <p:nvSpPr>
          <p:cNvPr id="20" name="Text 18"/>
          <p:cNvSpPr/>
          <p:nvPr/>
        </p:nvSpPr>
        <p:spPr>
          <a:xfrm>
            <a:off x="3767328" y="4498848"/>
            <a:ext cx="1417320" cy="530352"/>
          </a:xfrm>
          <a:prstGeom prst="rect">
            <a:avLst/>
          </a:prstGeom>
          <a:noFill/>
          <a:ln/>
        </p:spPr>
        <p:txBody>
          <a:bodyPr wrap="square" lIns="381" tIns="381" rIns="381" bIns="381" rtlCol="0" anchor="ctr">
            <a:normAutofit/>
          </a:bodyPr>
          <a:lstStyle/>
          <a:p>
            <a:pPr marL="0" indent="0" algn="ctr">
              <a:buNone/>
            </a:pPr>
            <a:r>
              <a:rPr lang="en-US" sz="1300" b="1" dirty="0">
                <a:solidFill>
                  <a:srgbClr val="E60000"/>
                </a:solidFill>
              </a:rPr>
              <a:t>Rules inconsistent</a:t>
            </a:r>
            <a:endParaRPr lang="en-US" sz="1300" dirty="0"/>
          </a:p>
        </p:txBody>
      </p:sp>
      <p:sp>
        <p:nvSpPr>
          <p:cNvPr id="21" name="Text 19"/>
          <p:cNvSpPr/>
          <p:nvPr/>
        </p:nvSpPr>
        <p:spPr>
          <a:xfrm>
            <a:off x="5367528" y="4498848"/>
            <a:ext cx="1417320" cy="530352"/>
          </a:xfrm>
          <a:prstGeom prst="rect">
            <a:avLst/>
          </a:prstGeom>
          <a:noFill/>
          <a:ln/>
        </p:spPr>
        <p:txBody>
          <a:bodyPr wrap="square" lIns="381" tIns="381" rIns="381" bIns="381" rtlCol="0" anchor="ctr">
            <a:normAutofit/>
          </a:bodyPr>
          <a:lstStyle/>
          <a:p>
            <a:pPr marL="0" indent="0" algn="ctr">
              <a:buNone/>
            </a:pPr>
            <a:r>
              <a:rPr lang="en-US" sz="1300" b="1" dirty="0">
                <a:solidFill>
                  <a:srgbClr val="E60000"/>
                </a:solidFill>
              </a:rPr>
              <a:t>No portable revocation</a:t>
            </a:r>
            <a:endParaRPr lang="en-US" sz="1300" dirty="0"/>
          </a:p>
        </p:txBody>
      </p:sp>
      <p:sp>
        <p:nvSpPr>
          <p:cNvPr id="22" name="Shape 20"/>
          <p:cNvSpPr/>
          <p:nvPr/>
        </p:nvSpPr>
        <p:spPr>
          <a:xfrm>
            <a:off x="7543800" y="1417320"/>
            <a:ext cx="3794760" cy="4251960"/>
          </a:xfrm>
          <a:prstGeom prst="roundRect">
            <a:avLst>
              <a:gd name="adj" fmla="val 3614"/>
            </a:avLst>
          </a:prstGeom>
          <a:solidFill>
            <a:srgbClr val="10213D"/>
          </a:solidFill>
          <a:ln w="12700">
            <a:solidFill>
              <a:srgbClr val="10213D"/>
            </a:solidFill>
            <a:prstDash val="solid"/>
          </a:ln>
          <a:effectLst/>
        </p:spPr>
        <p:txBody>
          <a:bodyPr/>
          <a:lstStyle/>
          <a:p>
            <a:endParaRPr lang="en-US"/>
          </a:p>
        </p:txBody>
      </p:sp>
      <p:sp>
        <p:nvSpPr>
          <p:cNvPr id="23" name="Text 21"/>
          <p:cNvSpPr/>
          <p:nvPr/>
        </p:nvSpPr>
        <p:spPr>
          <a:xfrm>
            <a:off x="7909560" y="1810512"/>
            <a:ext cx="3063240" cy="402336"/>
          </a:xfrm>
          <a:prstGeom prst="rect">
            <a:avLst/>
          </a:prstGeom>
          <a:noFill/>
          <a:ln/>
        </p:spPr>
        <p:txBody>
          <a:bodyPr wrap="square" lIns="0" tIns="0" rIns="0" bIns="0" rtlCol="0" anchor="ctr"/>
          <a:lstStyle/>
          <a:p>
            <a:pPr marL="0" indent="0" algn="ctr">
              <a:buNone/>
            </a:pPr>
            <a:r>
              <a:rPr lang="en-US" sz="2300" b="1" dirty="0">
                <a:solidFill>
                  <a:srgbClr val="FFFFFF"/>
                </a:solidFill>
              </a:rPr>
              <a:t>The missing capability</a:t>
            </a:r>
            <a:endParaRPr lang="en-US" sz="2300" dirty="0"/>
          </a:p>
        </p:txBody>
      </p:sp>
      <p:sp>
        <p:nvSpPr>
          <p:cNvPr id="24" name="Shape 22"/>
          <p:cNvSpPr/>
          <p:nvPr/>
        </p:nvSpPr>
        <p:spPr>
          <a:xfrm>
            <a:off x="7973568" y="2542032"/>
            <a:ext cx="237744" cy="237744"/>
          </a:xfrm>
          <a:prstGeom prst="ellipse">
            <a:avLst/>
          </a:prstGeom>
          <a:solidFill>
            <a:srgbClr val="FF6B5E"/>
          </a:solidFill>
          <a:ln w="12700">
            <a:solidFill>
              <a:srgbClr val="FF6B5E"/>
            </a:solidFill>
            <a:prstDash val="solid"/>
          </a:ln>
        </p:spPr>
        <p:txBody>
          <a:bodyPr/>
          <a:lstStyle/>
          <a:p>
            <a:endParaRPr lang="en-US"/>
          </a:p>
        </p:txBody>
      </p:sp>
      <p:sp>
        <p:nvSpPr>
          <p:cNvPr id="25" name="Text 23"/>
          <p:cNvSpPr/>
          <p:nvPr/>
        </p:nvSpPr>
        <p:spPr>
          <a:xfrm>
            <a:off x="8339328" y="2459736"/>
            <a:ext cx="2514600" cy="365760"/>
          </a:xfrm>
          <a:prstGeom prst="rect">
            <a:avLst/>
          </a:prstGeom>
          <a:noFill/>
          <a:ln/>
        </p:spPr>
        <p:txBody>
          <a:bodyPr wrap="square" lIns="0" tIns="0" rIns="0" bIns="0" rtlCol="0" anchor="ctr"/>
          <a:lstStyle/>
          <a:p>
            <a:pPr marL="0" indent="0">
              <a:buNone/>
            </a:pPr>
            <a:r>
              <a:rPr lang="en-US" sz="1500" dirty="0">
                <a:solidFill>
                  <a:srgbClr val="FFFFFF"/>
                </a:solidFill>
              </a:rPr>
              <a:t>Recognise a child profile</a:t>
            </a:r>
            <a:endParaRPr lang="en-US" sz="1500" dirty="0"/>
          </a:p>
        </p:txBody>
      </p:sp>
      <p:sp>
        <p:nvSpPr>
          <p:cNvPr id="26" name="Shape 24"/>
          <p:cNvSpPr/>
          <p:nvPr/>
        </p:nvSpPr>
        <p:spPr>
          <a:xfrm>
            <a:off x="7973568" y="3099816"/>
            <a:ext cx="237744" cy="237744"/>
          </a:xfrm>
          <a:prstGeom prst="ellipse">
            <a:avLst/>
          </a:prstGeom>
          <a:solidFill>
            <a:srgbClr val="FF6B5E"/>
          </a:solidFill>
          <a:ln w="12700">
            <a:solidFill>
              <a:srgbClr val="FF6B5E"/>
            </a:solidFill>
            <a:prstDash val="solid"/>
          </a:ln>
        </p:spPr>
        <p:txBody>
          <a:bodyPr/>
          <a:lstStyle/>
          <a:p>
            <a:endParaRPr lang="en-US"/>
          </a:p>
        </p:txBody>
      </p:sp>
      <p:sp>
        <p:nvSpPr>
          <p:cNvPr id="27" name="Text 25"/>
          <p:cNvSpPr/>
          <p:nvPr/>
        </p:nvSpPr>
        <p:spPr>
          <a:xfrm>
            <a:off x="8339328" y="3017520"/>
            <a:ext cx="2514600" cy="365760"/>
          </a:xfrm>
          <a:prstGeom prst="rect">
            <a:avLst/>
          </a:prstGeom>
          <a:noFill/>
          <a:ln/>
        </p:spPr>
        <p:txBody>
          <a:bodyPr wrap="square" lIns="0" tIns="0" rIns="0" bIns="0" rtlCol="0" anchor="ctr"/>
          <a:lstStyle/>
          <a:p>
            <a:pPr marL="0" indent="0">
              <a:buNone/>
            </a:pPr>
            <a:r>
              <a:rPr lang="en-US" sz="1500" dirty="0">
                <a:solidFill>
                  <a:srgbClr val="FFFFFF"/>
                </a:solidFill>
              </a:rPr>
              <a:t>Carry parental authority</a:t>
            </a:r>
            <a:endParaRPr lang="en-US" sz="1500" dirty="0"/>
          </a:p>
        </p:txBody>
      </p:sp>
      <p:sp>
        <p:nvSpPr>
          <p:cNvPr id="28" name="Shape 26"/>
          <p:cNvSpPr/>
          <p:nvPr/>
        </p:nvSpPr>
        <p:spPr>
          <a:xfrm>
            <a:off x="7973568" y="3657600"/>
            <a:ext cx="237744" cy="237744"/>
          </a:xfrm>
          <a:prstGeom prst="ellipse">
            <a:avLst/>
          </a:prstGeom>
          <a:solidFill>
            <a:srgbClr val="34C6D3"/>
          </a:solidFill>
          <a:ln w="12700">
            <a:solidFill>
              <a:srgbClr val="34C6D3"/>
            </a:solidFill>
            <a:prstDash val="solid"/>
          </a:ln>
        </p:spPr>
        <p:txBody>
          <a:bodyPr/>
          <a:lstStyle/>
          <a:p>
            <a:endParaRPr lang="en-US"/>
          </a:p>
        </p:txBody>
      </p:sp>
      <p:sp>
        <p:nvSpPr>
          <p:cNvPr id="29" name="Text 27"/>
          <p:cNvSpPr/>
          <p:nvPr/>
        </p:nvSpPr>
        <p:spPr>
          <a:xfrm>
            <a:off x="8339328" y="3575304"/>
            <a:ext cx="2514600" cy="365760"/>
          </a:xfrm>
          <a:prstGeom prst="rect">
            <a:avLst/>
          </a:prstGeom>
          <a:noFill/>
          <a:ln/>
        </p:spPr>
        <p:txBody>
          <a:bodyPr wrap="square" lIns="0" tIns="0" rIns="0" bIns="0" rtlCol="0" anchor="ctr"/>
          <a:lstStyle/>
          <a:p>
            <a:pPr marL="0" indent="0">
              <a:buNone/>
            </a:pPr>
            <a:r>
              <a:rPr lang="en-US" sz="1500" dirty="0">
                <a:solidFill>
                  <a:srgbClr val="FFFFFF"/>
                </a:solidFill>
              </a:rPr>
              <a:t>Minimise data disclosure</a:t>
            </a:r>
            <a:endParaRPr lang="en-US" sz="1500" dirty="0"/>
          </a:p>
        </p:txBody>
      </p:sp>
      <p:sp>
        <p:nvSpPr>
          <p:cNvPr id="30" name="Shape 28"/>
          <p:cNvSpPr/>
          <p:nvPr/>
        </p:nvSpPr>
        <p:spPr>
          <a:xfrm>
            <a:off x="7973568" y="4215384"/>
            <a:ext cx="237744" cy="237744"/>
          </a:xfrm>
          <a:prstGeom prst="ellipse">
            <a:avLst/>
          </a:prstGeom>
          <a:solidFill>
            <a:srgbClr val="34C6D3"/>
          </a:solidFill>
          <a:ln w="12700">
            <a:solidFill>
              <a:srgbClr val="34C6D3"/>
            </a:solidFill>
            <a:prstDash val="solid"/>
          </a:ln>
        </p:spPr>
        <p:txBody>
          <a:bodyPr/>
          <a:lstStyle/>
          <a:p>
            <a:endParaRPr lang="en-US"/>
          </a:p>
        </p:txBody>
      </p:sp>
      <p:sp>
        <p:nvSpPr>
          <p:cNvPr id="31" name="Text 29"/>
          <p:cNvSpPr/>
          <p:nvPr/>
        </p:nvSpPr>
        <p:spPr>
          <a:xfrm>
            <a:off x="8339328" y="4133088"/>
            <a:ext cx="2514600" cy="365760"/>
          </a:xfrm>
          <a:prstGeom prst="rect">
            <a:avLst/>
          </a:prstGeom>
          <a:noFill/>
          <a:ln/>
        </p:spPr>
        <p:txBody>
          <a:bodyPr wrap="square" lIns="0" tIns="0" rIns="0" bIns="0" rtlCol="0" anchor="ctr"/>
          <a:lstStyle/>
          <a:p>
            <a:pPr marL="0" indent="0">
              <a:buNone/>
            </a:pPr>
            <a:r>
              <a:rPr lang="en-US" sz="1500" dirty="0">
                <a:solidFill>
                  <a:srgbClr val="FFFFFF"/>
                </a:solidFill>
              </a:rPr>
              <a:t>Apply age-appropriate policy</a:t>
            </a:r>
            <a:endParaRPr lang="en-US" sz="1500" dirty="0"/>
          </a:p>
        </p:txBody>
      </p:sp>
      <p:sp>
        <p:nvSpPr>
          <p:cNvPr id="32" name="Shape 30"/>
          <p:cNvSpPr/>
          <p:nvPr/>
        </p:nvSpPr>
        <p:spPr>
          <a:xfrm>
            <a:off x="7973568" y="4773168"/>
            <a:ext cx="237744" cy="237744"/>
          </a:xfrm>
          <a:prstGeom prst="ellipse">
            <a:avLst/>
          </a:prstGeom>
          <a:solidFill>
            <a:srgbClr val="34C6D3"/>
          </a:solidFill>
          <a:ln w="12700">
            <a:solidFill>
              <a:srgbClr val="34C6D3"/>
            </a:solidFill>
            <a:prstDash val="solid"/>
          </a:ln>
        </p:spPr>
        <p:txBody>
          <a:bodyPr/>
          <a:lstStyle/>
          <a:p>
            <a:endParaRPr lang="en-US"/>
          </a:p>
        </p:txBody>
      </p:sp>
      <p:sp>
        <p:nvSpPr>
          <p:cNvPr id="33" name="Text 31"/>
          <p:cNvSpPr/>
          <p:nvPr/>
        </p:nvSpPr>
        <p:spPr>
          <a:xfrm>
            <a:off x="8339328" y="4690872"/>
            <a:ext cx="2514600" cy="365760"/>
          </a:xfrm>
          <a:prstGeom prst="rect">
            <a:avLst/>
          </a:prstGeom>
          <a:noFill/>
          <a:ln/>
        </p:spPr>
        <p:txBody>
          <a:bodyPr wrap="square" lIns="0" tIns="0" rIns="0" bIns="0" rtlCol="0" anchor="ctr"/>
          <a:lstStyle/>
          <a:p>
            <a:pPr marL="0" indent="0">
              <a:buNone/>
            </a:pPr>
            <a:r>
              <a:rPr lang="en-US" sz="1500" dirty="0">
                <a:solidFill>
                  <a:srgbClr val="FFFFFF"/>
                </a:solidFill>
              </a:rPr>
              <a:t>Revoke or update centrally</a:t>
            </a:r>
            <a:endParaRPr lang="en-US" sz="1500" dirty="0"/>
          </a:p>
        </p:txBody>
      </p:sp>
      <p:sp>
        <p:nvSpPr>
          <p:cNvPr id="34" name="Slide Number Placeholder 0"/>
          <p:cNvSpPr>
            <a:spLocks noGrp="1"/>
          </p:cNvSpPr>
          <p:nvPr>
            <p:ph type="sldNum" sz="quarter" idx="4294967295"/>
          </p:nvPr>
        </p:nvSpPr>
        <p:spPr>
          <a:xfrm>
            <a:off x="1177747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657184"/>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66928" y="347472"/>
            <a:ext cx="4572000" cy="228600"/>
          </a:xfrm>
          <a:prstGeom prst="rect">
            <a:avLst/>
          </a:prstGeom>
          <a:noFill/>
          <a:ln/>
        </p:spPr>
        <p:txBody>
          <a:bodyPr wrap="square" lIns="0" tIns="0" rIns="0" bIns="0" rtlCol="0" anchor="ctr"/>
          <a:lstStyle/>
          <a:p>
            <a:pPr marL="0" indent="0">
              <a:buNone/>
            </a:pPr>
            <a:r>
              <a:rPr lang="en-US" sz="1100" b="1" kern="0" spc="160" dirty="0">
                <a:solidFill>
                  <a:srgbClr val="E60000"/>
                </a:solidFill>
              </a:rPr>
              <a:t>PROPOSED TRUST MODEL</a:t>
            </a:r>
            <a:endParaRPr lang="en-US" sz="1100" dirty="0"/>
          </a:p>
        </p:txBody>
      </p:sp>
      <p:sp>
        <p:nvSpPr>
          <p:cNvPr id="3" name="Text 1"/>
          <p:cNvSpPr/>
          <p:nvPr/>
        </p:nvSpPr>
        <p:spPr>
          <a:xfrm>
            <a:off x="566928" y="658368"/>
            <a:ext cx="10972800" cy="512064"/>
          </a:xfrm>
          <a:prstGeom prst="rect">
            <a:avLst/>
          </a:prstGeom>
          <a:noFill/>
          <a:ln/>
        </p:spPr>
        <p:txBody>
          <a:bodyPr wrap="square" lIns="0" tIns="0" rIns="0" bIns="0" rtlCol="0" anchor="ctr">
            <a:normAutofit/>
          </a:bodyPr>
          <a:lstStyle/>
          <a:p>
            <a:pPr marL="0" indent="0">
              <a:buNone/>
            </a:pPr>
            <a:r>
              <a:rPr lang="en-US" sz="2700" b="1" dirty="0">
                <a:solidFill>
                  <a:srgbClr val="10213D"/>
                </a:solidFill>
              </a:rPr>
              <a:t>The concept: delegate protection, not personal data</a:t>
            </a:r>
            <a:endParaRPr lang="en-US" sz="2700" dirty="0"/>
          </a:p>
        </p:txBody>
      </p:sp>
      <p:sp>
        <p:nvSpPr>
          <p:cNvPr id="4" name="Text 2"/>
          <p:cNvSpPr/>
          <p:nvPr/>
        </p:nvSpPr>
        <p:spPr>
          <a:xfrm>
            <a:off x="594360" y="1243584"/>
            <a:ext cx="10607040" cy="502920"/>
          </a:xfrm>
          <a:prstGeom prst="rect">
            <a:avLst/>
          </a:prstGeom>
          <a:noFill/>
          <a:ln/>
        </p:spPr>
        <p:txBody>
          <a:bodyPr wrap="square" lIns="0" tIns="0" rIns="0" bIns="0" rtlCol="0" anchor="ctr"/>
          <a:lstStyle/>
          <a:p>
            <a:pPr marL="0" indent="0">
              <a:buNone/>
            </a:pPr>
            <a:r>
              <a:rPr lang="en-US" sz="1900" dirty="0">
                <a:solidFill>
                  <a:srgbClr val="334155"/>
                </a:solidFill>
              </a:rPr>
              <a:t>A trusted root issues a scoped, privacy-preserving child-profile credential that an agent can verify and enforce.</a:t>
            </a:r>
            <a:endParaRPr lang="en-US" sz="1900" dirty="0"/>
          </a:p>
        </p:txBody>
      </p:sp>
      <p:sp>
        <p:nvSpPr>
          <p:cNvPr id="5" name="Shape 3"/>
          <p:cNvSpPr/>
          <p:nvPr/>
        </p:nvSpPr>
        <p:spPr>
          <a:xfrm>
            <a:off x="502920" y="2057400"/>
            <a:ext cx="1828800" cy="2240280"/>
          </a:xfrm>
          <a:prstGeom prst="roundRect">
            <a:avLst>
              <a:gd name="adj" fmla="val 7000"/>
            </a:avLst>
          </a:prstGeom>
          <a:solidFill>
            <a:srgbClr val="FFFFFF"/>
          </a:solidFill>
          <a:ln w="25400">
            <a:solidFill>
              <a:srgbClr val="10213D"/>
            </a:solidFill>
            <a:prstDash val="solid"/>
          </a:ln>
          <a:effectLst/>
        </p:spPr>
        <p:txBody>
          <a:bodyPr/>
          <a:lstStyle/>
          <a:p>
            <a:endParaRPr lang="en-US"/>
          </a:p>
        </p:txBody>
      </p:sp>
      <p:sp>
        <p:nvSpPr>
          <p:cNvPr id="6" name="Shape 4"/>
          <p:cNvSpPr/>
          <p:nvPr/>
        </p:nvSpPr>
        <p:spPr>
          <a:xfrm>
            <a:off x="502920" y="2057400"/>
            <a:ext cx="1828800" cy="475488"/>
          </a:xfrm>
          <a:prstGeom prst="rect">
            <a:avLst/>
          </a:prstGeom>
          <a:solidFill>
            <a:srgbClr val="10213D"/>
          </a:solidFill>
          <a:ln w="12700">
            <a:solidFill>
              <a:srgbClr val="10213D"/>
            </a:solidFill>
            <a:prstDash val="solid"/>
          </a:ln>
        </p:spPr>
        <p:txBody>
          <a:bodyPr/>
          <a:lstStyle/>
          <a:p>
            <a:endParaRPr lang="en-US"/>
          </a:p>
        </p:txBody>
      </p:sp>
      <p:sp>
        <p:nvSpPr>
          <p:cNvPr id="7" name="Text 5"/>
          <p:cNvSpPr/>
          <p:nvPr/>
        </p:nvSpPr>
        <p:spPr>
          <a:xfrm>
            <a:off x="594360" y="2167128"/>
            <a:ext cx="164592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rPr>
              <a:t>1  Trusted root</a:t>
            </a:r>
            <a:endParaRPr lang="en-US" sz="1400" dirty="0"/>
          </a:p>
        </p:txBody>
      </p:sp>
      <p:sp>
        <p:nvSpPr>
          <p:cNvPr id="8" name="Text 6"/>
          <p:cNvSpPr/>
          <p:nvPr/>
        </p:nvSpPr>
        <p:spPr>
          <a:xfrm>
            <a:off x="649224" y="2788920"/>
            <a:ext cx="1536192" cy="1051560"/>
          </a:xfrm>
          <a:prstGeom prst="rect">
            <a:avLst/>
          </a:prstGeom>
          <a:noFill/>
          <a:ln/>
        </p:spPr>
        <p:txBody>
          <a:bodyPr wrap="square" lIns="508" tIns="508" rIns="508" bIns="508" rtlCol="0" anchor="ctr">
            <a:normAutofit/>
          </a:bodyPr>
          <a:lstStyle/>
          <a:p>
            <a:pPr marL="0" indent="0" algn="ctr">
              <a:buNone/>
            </a:pPr>
            <a:r>
              <a:rPr lang="en-US" sz="1500" b="1" dirty="0">
                <a:solidFill>
                  <a:srgbClr val="14213D"/>
                </a:solidFill>
              </a:rPr>
              <a:t>Telco identity + accountable guardian</a:t>
            </a:r>
            <a:endParaRPr lang="en-US" sz="1500" dirty="0"/>
          </a:p>
        </p:txBody>
      </p:sp>
      <p:sp>
        <p:nvSpPr>
          <p:cNvPr id="9" name="Shape 7"/>
          <p:cNvSpPr/>
          <p:nvPr/>
        </p:nvSpPr>
        <p:spPr>
          <a:xfrm>
            <a:off x="2478024" y="2926080"/>
            <a:ext cx="201168" cy="384048"/>
          </a:xfrm>
          <a:prstGeom prst="chevron">
            <a:avLst/>
          </a:prstGeom>
          <a:solidFill>
            <a:srgbClr val="10213D"/>
          </a:solidFill>
          <a:ln w="12700">
            <a:solidFill>
              <a:srgbClr val="10213D"/>
            </a:solidFill>
            <a:prstDash val="solid"/>
          </a:ln>
        </p:spPr>
        <p:txBody>
          <a:bodyPr/>
          <a:lstStyle/>
          <a:p>
            <a:endParaRPr lang="en-US"/>
          </a:p>
        </p:txBody>
      </p:sp>
      <p:sp>
        <p:nvSpPr>
          <p:cNvPr id="10" name="Shape 8"/>
          <p:cNvSpPr/>
          <p:nvPr/>
        </p:nvSpPr>
        <p:spPr>
          <a:xfrm>
            <a:off x="2788920" y="2057400"/>
            <a:ext cx="1965960" cy="2240280"/>
          </a:xfrm>
          <a:prstGeom prst="roundRect">
            <a:avLst>
              <a:gd name="adj" fmla="val 6512"/>
            </a:avLst>
          </a:prstGeom>
          <a:solidFill>
            <a:srgbClr val="FFFFFF"/>
          </a:solidFill>
          <a:ln w="25400">
            <a:solidFill>
              <a:srgbClr val="1677FF"/>
            </a:solidFill>
            <a:prstDash val="solid"/>
          </a:ln>
          <a:effectLst/>
        </p:spPr>
        <p:txBody>
          <a:bodyPr/>
          <a:lstStyle/>
          <a:p>
            <a:endParaRPr lang="en-US"/>
          </a:p>
        </p:txBody>
      </p:sp>
      <p:sp>
        <p:nvSpPr>
          <p:cNvPr id="11" name="Shape 9"/>
          <p:cNvSpPr/>
          <p:nvPr/>
        </p:nvSpPr>
        <p:spPr>
          <a:xfrm>
            <a:off x="2788920" y="2057400"/>
            <a:ext cx="1965960" cy="475488"/>
          </a:xfrm>
          <a:prstGeom prst="rect">
            <a:avLst/>
          </a:prstGeom>
          <a:solidFill>
            <a:srgbClr val="1677FF"/>
          </a:solidFill>
          <a:ln w="12700">
            <a:solidFill>
              <a:srgbClr val="1677FF"/>
            </a:solidFill>
            <a:prstDash val="solid"/>
          </a:ln>
        </p:spPr>
        <p:txBody>
          <a:bodyPr/>
          <a:lstStyle/>
          <a:p>
            <a:endParaRPr lang="en-US"/>
          </a:p>
        </p:txBody>
      </p:sp>
      <p:sp>
        <p:nvSpPr>
          <p:cNvPr id="12" name="Text 10"/>
          <p:cNvSpPr/>
          <p:nvPr/>
        </p:nvSpPr>
        <p:spPr>
          <a:xfrm>
            <a:off x="2880360" y="2167128"/>
            <a:ext cx="17830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rPr>
              <a:t>2  Delegation</a:t>
            </a:r>
            <a:endParaRPr lang="en-US" sz="1400" dirty="0"/>
          </a:p>
        </p:txBody>
      </p:sp>
      <p:sp>
        <p:nvSpPr>
          <p:cNvPr id="13" name="Text 11"/>
          <p:cNvSpPr/>
          <p:nvPr/>
        </p:nvSpPr>
        <p:spPr>
          <a:xfrm>
            <a:off x="2935224" y="2788920"/>
            <a:ext cx="1673352" cy="1051560"/>
          </a:xfrm>
          <a:prstGeom prst="rect">
            <a:avLst/>
          </a:prstGeom>
          <a:noFill/>
          <a:ln/>
        </p:spPr>
        <p:txBody>
          <a:bodyPr wrap="square" lIns="508" tIns="508" rIns="508" bIns="508" rtlCol="0" anchor="ctr">
            <a:normAutofit/>
          </a:bodyPr>
          <a:lstStyle/>
          <a:p>
            <a:pPr marL="0" indent="0" algn="ctr">
              <a:buNone/>
            </a:pPr>
            <a:r>
              <a:rPr lang="en-US" sz="1500" b="1" dirty="0">
                <a:solidFill>
                  <a:srgbClr val="14213D"/>
                </a:solidFill>
              </a:rPr>
              <a:t>Child profile + parental authority + scope</a:t>
            </a:r>
            <a:endParaRPr lang="en-US" sz="1500" dirty="0"/>
          </a:p>
        </p:txBody>
      </p:sp>
      <p:sp>
        <p:nvSpPr>
          <p:cNvPr id="14" name="Shape 12"/>
          <p:cNvSpPr/>
          <p:nvPr/>
        </p:nvSpPr>
        <p:spPr>
          <a:xfrm>
            <a:off x="4901184" y="2926080"/>
            <a:ext cx="201168" cy="384048"/>
          </a:xfrm>
          <a:prstGeom prst="chevron">
            <a:avLst/>
          </a:prstGeom>
          <a:solidFill>
            <a:srgbClr val="1677FF"/>
          </a:solidFill>
          <a:ln w="12700">
            <a:solidFill>
              <a:srgbClr val="1677FF"/>
            </a:solidFill>
            <a:prstDash val="solid"/>
          </a:ln>
        </p:spPr>
        <p:txBody>
          <a:bodyPr/>
          <a:lstStyle/>
          <a:p>
            <a:endParaRPr lang="en-US"/>
          </a:p>
        </p:txBody>
      </p:sp>
      <p:sp>
        <p:nvSpPr>
          <p:cNvPr id="15" name="Shape 13"/>
          <p:cNvSpPr/>
          <p:nvPr/>
        </p:nvSpPr>
        <p:spPr>
          <a:xfrm>
            <a:off x="5440680" y="2057400"/>
            <a:ext cx="1965960" cy="2240280"/>
          </a:xfrm>
          <a:prstGeom prst="roundRect">
            <a:avLst>
              <a:gd name="adj" fmla="val 6512"/>
            </a:avLst>
          </a:prstGeom>
          <a:solidFill>
            <a:srgbClr val="FFFFFF"/>
          </a:solidFill>
          <a:ln w="25400">
            <a:solidFill>
              <a:srgbClr val="34C6D3"/>
            </a:solidFill>
            <a:prstDash val="solid"/>
          </a:ln>
          <a:effectLst/>
        </p:spPr>
        <p:txBody>
          <a:bodyPr/>
          <a:lstStyle/>
          <a:p>
            <a:endParaRPr lang="en-US"/>
          </a:p>
        </p:txBody>
      </p:sp>
      <p:sp>
        <p:nvSpPr>
          <p:cNvPr id="16" name="Shape 14"/>
          <p:cNvSpPr/>
          <p:nvPr/>
        </p:nvSpPr>
        <p:spPr>
          <a:xfrm>
            <a:off x="5440680" y="2057400"/>
            <a:ext cx="1965960" cy="475488"/>
          </a:xfrm>
          <a:prstGeom prst="rect">
            <a:avLst/>
          </a:prstGeom>
          <a:solidFill>
            <a:srgbClr val="34C6D3"/>
          </a:solidFill>
          <a:ln w="12700">
            <a:solidFill>
              <a:srgbClr val="34C6D3"/>
            </a:solidFill>
            <a:prstDash val="solid"/>
          </a:ln>
        </p:spPr>
        <p:txBody>
          <a:bodyPr/>
          <a:lstStyle/>
          <a:p>
            <a:endParaRPr lang="en-US"/>
          </a:p>
        </p:txBody>
      </p:sp>
      <p:sp>
        <p:nvSpPr>
          <p:cNvPr id="17" name="Text 15"/>
          <p:cNvSpPr/>
          <p:nvPr/>
        </p:nvSpPr>
        <p:spPr>
          <a:xfrm>
            <a:off x="5532120" y="2167128"/>
            <a:ext cx="17830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rPr>
              <a:t>3  Minimal proof</a:t>
            </a:r>
            <a:endParaRPr lang="en-US" sz="1400" dirty="0"/>
          </a:p>
        </p:txBody>
      </p:sp>
      <p:sp>
        <p:nvSpPr>
          <p:cNvPr id="18" name="Text 16"/>
          <p:cNvSpPr/>
          <p:nvPr/>
        </p:nvSpPr>
        <p:spPr>
          <a:xfrm>
            <a:off x="5586984" y="2788920"/>
            <a:ext cx="1673352" cy="1051560"/>
          </a:xfrm>
          <a:prstGeom prst="rect">
            <a:avLst/>
          </a:prstGeom>
          <a:noFill/>
          <a:ln/>
        </p:spPr>
        <p:txBody>
          <a:bodyPr wrap="square" lIns="508" tIns="508" rIns="508" bIns="508" rtlCol="0" anchor="ctr">
            <a:normAutofit/>
          </a:bodyPr>
          <a:lstStyle/>
          <a:p>
            <a:pPr marL="0" indent="0" algn="ctr">
              <a:buNone/>
            </a:pPr>
            <a:r>
              <a:rPr lang="en-US" sz="1500" b="1" dirty="0">
                <a:solidFill>
                  <a:srgbClr val="14213D"/>
                </a:solidFill>
              </a:rPr>
              <a:t>Age band / protection class, not full identity</a:t>
            </a:r>
            <a:endParaRPr lang="en-US" sz="1500" dirty="0"/>
          </a:p>
        </p:txBody>
      </p:sp>
      <p:sp>
        <p:nvSpPr>
          <p:cNvPr id="19" name="Shape 17"/>
          <p:cNvSpPr/>
          <p:nvPr/>
        </p:nvSpPr>
        <p:spPr>
          <a:xfrm>
            <a:off x="7552944" y="2926080"/>
            <a:ext cx="201168" cy="384048"/>
          </a:xfrm>
          <a:prstGeom prst="chevron">
            <a:avLst/>
          </a:prstGeom>
          <a:solidFill>
            <a:srgbClr val="34C6D3"/>
          </a:solidFill>
          <a:ln w="12700">
            <a:solidFill>
              <a:srgbClr val="34C6D3"/>
            </a:solidFill>
            <a:prstDash val="solid"/>
          </a:ln>
        </p:spPr>
        <p:txBody>
          <a:bodyPr/>
          <a:lstStyle/>
          <a:p>
            <a:endParaRPr lang="en-US"/>
          </a:p>
        </p:txBody>
      </p:sp>
      <p:sp>
        <p:nvSpPr>
          <p:cNvPr id="20" name="Shape 18"/>
          <p:cNvSpPr/>
          <p:nvPr/>
        </p:nvSpPr>
        <p:spPr>
          <a:xfrm>
            <a:off x="8092440" y="2057400"/>
            <a:ext cx="1828800" cy="2240280"/>
          </a:xfrm>
          <a:prstGeom prst="roundRect">
            <a:avLst>
              <a:gd name="adj" fmla="val 7000"/>
            </a:avLst>
          </a:prstGeom>
          <a:solidFill>
            <a:srgbClr val="FFFFFF"/>
          </a:solidFill>
          <a:ln w="25400">
            <a:solidFill>
              <a:srgbClr val="FF6B5E"/>
            </a:solidFill>
            <a:prstDash val="solid"/>
          </a:ln>
          <a:effectLst/>
        </p:spPr>
        <p:txBody>
          <a:bodyPr/>
          <a:lstStyle/>
          <a:p>
            <a:endParaRPr lang="en-US"/>
          </a:p>
        </p:txBody>
      </p:sp>
      <p:sp>
        <p:nvSpPr>
          <p:cNvPr id="21" name="Shape 19"/>
          <p:cNvSpPr/>
          <p:nvPr/>
        </p:nvSpPr>
        <p:spPr>
          <a:xfrm>
            <a:off x="8092440" y="2057400"/>
            <a:ext cx="1828800" cy="475488"/>
          </a:xfrm>
          <a:prstGeom prst="rect">
            <a:avLst/>
          </a:prstGeom>
          <a:solidFill>
            <a:srgbClr val="FF6B5E"/>
          </a:solidFill>
          <a:ln w="12700">
            <a:solidFill>
              <a:srgbClr val="FF6B5E"/>
            </a:solidFill>
            <a:prstDash val="solid"/>
          </a:ln>
        </p:spPr>
        <p:txBody>
          <a:bodyPr/>
          <a:lstStyle/>
          <a:p>
            <a:endParaRPr lang="en-US"/>
          </a:p>
        </p:txBody>
      </p:sp>
      <p:sp>
        <p:nvSpPr>
          <p:cNvPr id="22" name="Text 20"/>
          <p:cNvSpPr/>
          <p:nvPr/>
        </p:nvSpPr>
        <p:spPr>
          <a:xfrm>
            <a:off x="8183880" y="2167128"/>
            <a:ext cx="164592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rPr>
              <a:t>4  Agent policy</a:t>
            </a:r>
            <a:endParaRPr lang="en-US" sz="1400" dirty="0"/>
          </a:p>
        </p:txBody>
      </p:sp>
      <p:sp>
        <p:nvSpPr>
          <p:cNvPr id="23" name="Text 21"/>
          <p:cNvSpPr/>
          <p:nvPr/>
        </p:nvSpPr>
        <p:spPr>
          <a:xfrm>
            <a:off x="8238744" y="2788920"/>
            <a:ext cx="1536192" cy="1051560"/>
          </a:xfrm>
          <a:prstGeom prst="rect">
            <a:avLst/>
          </a:prstGeom>
          <a:noFill/>
          <a:ln/>
        </p:spPr>
        <p:txBody>
          <a:bodyPr wrap="square" lIns="508" tIns="508" rIns="508" bIns="508" rtlCol="0" anchor="ctr">
            <a:normAutofit/>
          </a:bodyPr>
          <a:lstStyle/>
          <a:p>
            <a:pPr marL="0" indent="0" algn="ctr">
              <a:buNone/>
            </a:pPr>
            <a:r>
              <a:rPr lang="en-US" sz="1500" b="1" dirty="0">
                <a:solidFill>
                  <a:srgbClr val="14213D"/>
                </a:solidFill>
              </a:rPr>
              <a:t>Age-appropriate rules and permissions</a:t>
            </a:r>
            <a:endParaRPr lang="en-US" sz="1500" dirty="0"/>
          </a:p>
        </p:txBody>
      </p:sp>
      <p:sp>
        <p:nvSpPr>
          <p:cNvPr id="24" name="Shape 22"/>
          <p:cNvSpPr/>
          <p:nvPr/>
        </p:nvSpPr>
        <p:spPr>
          <a:xfrm>
            <a:off x="10067544" y="2926080"/>
            <a:ext cx="201168" cy="384048"/>
          </a:xfrm>
          <a:prstGeom prst="chevron">
            <a:avLst/>
          </a:prstGeom>
          <a:solidFill>
            <a:srgbClr val="FF6B5E"/>
          </a:solidFill>
          <a:ln w="12700">
            <a:solidFill>
              <a:srgbClr val="FF6B5E"/>
            </a:solidFill>
            <a:prstDash val="solid"/>
          </a:ln>
        </p:spPr>
        <p:txBody>
          <a:bodyPr/>
          <a:lstStyle/>
          <a:p>
            <a:endParaRPr lang="en-US"/>
          </a:p>
        </p:txBody>
      </p:sp>
      <p:sp>
        <p:nvSpPr>
          <p:cNvPr id="25" name="Shape 23"/>
          <p:cNvSpPr/>
          <p:nvPr/>
        </p:nvSpPr>
        <p:spPr>
          <a:xfrm>
            <a:off x="10378440" y="2057400"/>
            <a:ext cx="1234440" cy="2240280"/>
          </a:xfrm>
          <a:prstGeom prst="roundRect">
            <a:avLst>
              <a:gd name="adj" fmla="val 10370"/>
            </a:avLst>
          </a:prstGeom>
          <a:solidFill>
            <a:srgbClr val="FFFFFF"/>
          </a:solidFill>
          <a:ln w="25400">
            <a:solidFill>
              <a:srgbClr val="18A66A"/>
            </a:solidFill>
            <a:prstDash val="solid"/>
          </a:ln>
          <a:effectLst/>
        </p:spPr>
        <p:txBody>
          <a:bodyPr/>
          <a:lstStyle/>
          <a:p>
            <a:endParaRPr lang="en-US"/>
          </a:p>
        </p:txBody>
      </p:sp>
      <p:sp>
        <p:nvSpPr>
          <p:cNvPr id="26" name="Shape 24"/>
          <p:cNvSpPr/>
          <p:nvPr/>
        </p:nvSpPr>
        <p:spPr>
          <a:xfrm>
            <a:off x="10378440" y="2057400"/>
            <a:ext cx="1234440" cy="475488"/>
          </a:xfrm>
          <a:prstGeom prst="rect">
            <a:avLst/>
          </a:prstGeom>
          <a:solidFill>
            <a:srgbClr val="18A66A"/>
          </a:solidFill>
          <a:ln w="12700">
            <a:solidFill>
              <a:srgbClr val="18A66A"/>
            </a:solidFill>
            <a:prstDash val="solid"/>
          </a:ln>
        </p:spPr>
        <p:txBody>
          <a:bodyPr/>
          <a:lstStyle/>
          <a:p>
            <a:endParaRPr lang="en-US"/>
          </a:p>
        </p:txBody>
      </p:sp>
      <p:sp>
        <p:nvSpPr>
          <p:cNvPr id="27" name="Text 25"/>
          <p:cNvSpPr/>
          <p:nvPr/>
        </p:nvSpPr>
        <p:spPr>
          <a:xfrm>
            <a:off x="10469880" y="2167128"/>
            <a:ext cx="105156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rPr>
              <a:t>5  Control</a:t>
            </a:r>
            <a:endParaRPr lang="en-US" sz="1400" dirty="0"/>
          </a:p>
        </p:txBody>
      </p:sp>
      <p:sp>
        <p:nvSpPr>
          <p:cNvPr id="28" name="Text 26"/>
          <p:cNvSpPr/>
          <p:nvPr/>
        </p:nvSpPr>
        <p:spPr>
          <a:xfrm>
            <a:off x="10524744" y="2788920"/>
            <a:ext cx="941832" cy="1051560"/>
          </a:xfrm>
          <a:prstGeom prst="rect">
            <a:avLst/>
          </a:prstGeom>
          <a:noFill/>
          <a:ln/>
        </p:spPr>
        <p:txBody>
          <a:bodyPr wrap="square" lIns="508" tIns="508" rIns="508" bIns="508" rtlCol="0" anchor="ctr">
            <a:normAutofit/>
          </a:bodyPr>
          <a:lstStyle/>
          <a:p>
            <a:pPr marL="0" indent="0" algn="ctr">
              <a:buNone/>
            </a:pPr>
            <a:r>
              <a:rPr lang="en-US" sz="1500" b="1" dirty="0">
                <a:solidFill>
                  <a:srgbClr val="14213D"/>
                </a:solidFill>
              </a:rPr>
              <a:t>Audit, update, revoke</a:t>
            </a:r>
            <a:endParaRPr lang="en-US" sz="1500" dirty="0"/>
          </a:p>
        </p:txBody>
      </p:sp>
      <p:sp>
        <p:nvSpPr>
          <p:cNvPr id="29" name="Shape 27"/>
          <p:cNvSpPr/>
          <p:nvPr/>
        </p:nvSpPr>
        <p:spPr>
          <a:xfrm flipH="1">
            <a:off x="6670430" y="4608576"/>
            <a:ext cx="0" cy="557784"/>
          </a:xfrm>
          <a:prstGeom prst="line">
            <a:avLst/>
          </a:prstGeom>
          <a:noFill/>
          <a:ln w="25400">
            <a:solidFill>
              <a:srgbClr val="18A66A"/>
            </a:solidFill>
            <a:prstDash val="solid"/>
            <a:headEnd type="none"/>
            <a:tailEnd type="triangle"/>
          </a:ln>
        </p:spPr>
        <p:txBody>
          <a:bodyPr/>
          <a:lstStyle/>
          <a:p>
            <a:endParaRPr lang="en-US"/>
          </a:p>
        </p:txBody>
      </p:sp>
      <p:sp>
        <p:nvSpPr>
          <p:cNvPr id="30" name="Text 28"/>
          <p:cNvSpPr/>
          <p:nvPr/>
        </p:nvSpPr>
        <p:spPr>
          <a:xfrm>
            <a:off x="3931920" y="5166360"/>
            <a:ext cx="4937760" cy="384048"/>
          </a:xfrm>
          <a:prstGeom prst="rect">
            <a:avLst/>
          </a:prstGeom>
          <a:noFill/>
          <a:ln/>
        </p:spPr>
        <p:txBody>
          <a:bodyPr wrap="square" lIns="0" tIns="0" rIns="0" bIns="0" rtlCol="0" anchor="ctr"/>
          <a:lstStyle/>
          <a:p>
            <a:pPr marL="0" indent="0" algn="ctr">
              <a:buNone/>
            </a:pPr>
            <a:r>
              <a:rPr lang="en-US" sz="1400" b="1" dirty="0">
                <a:solidFill>
                  <a:srgbClr val="18A66A"/>
                </a:solidFill>
              </a:rPr>
              <a:t>Lifecycle feedback: update • suspend • revoke • evidence</a:t>
            </a:r>
            <a:endParaRPr lang="en-US" sz="1400" dirty="0"/>
          </a:p>
        </p:txBody>
      </p:sp>
      <p:sp>
        <p:nvSpPr>
          <p:cNvPr id="31" name="Text 29"/>
          <p:cNvSpPr/>
          <p:nvPr/>
        </p:nvSpPr>
        <p:spPr>
          <a:xfrm>
            <a:off x="2331720" y="5806440"/>
            <a:ext cx="7498080" cy="438912"/>
          </a:xfrm>
          <a:prstGeom prst="rect">
            <a:avLst/>
          </a:prstGeom>
          <a:noFill/>
          <a:ln/>
        </p:spPr>
        <p:txBody>
          <a:bodyPr wrap="square" lIns="0" tIns="0" rIns="0" bIns="0" rtlCol="0" anchor="ctr"/>
          <a:lstStyle/>
          <a:p>
            <a:pPr marL="0" indent="0" algn="ctr">
              <a:buNone/>
            </a:pPr>
            <a:r>
              <a:rPr lang="en-US" sz="2000" b="1" dirty="0">
                <a:solidFill>
                  <a:srgbClr val="10213D"/>
                </a:solidFill>
              </a:rPr>
              <a:t>The agent receives only what it needs to behave correctly.</a:t>
            </a:r>
            <a:endParaRPr lang="en-US" sz="2000" dirty="0"/>
          </a:p>
        </p:txBody>
      </p:sp>
      <p:sp>
        <p:nvSpPr>
          <p:cNvPr id="32" name="Slide Number Placeholder 0"/>
          <p:cNvSpPr>
            <a:spLocks noGrp="1"/>
          </p:cNvSpPr>
          <p:nvPr>
            <p:ph type="sldNum" sz="quarter" idx="4294967295"/>
          </p:nvPr>
        </p:nvSpPr>
        <p:spPr>
          <a:xfrm>
            <a:off x="1177747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657184"/>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66928" y="347472"/>
            <a:ext cx="4572000" cy="228600"/>
          </a:xfrm>
          <a:prstGeom prst="rect">
            <a:avLst/>
          </a:prstGeom>
          <a:noFill/>
          <a:ln/>
        </p:spPr>
        <p:txBody>
          <a:bodyPr wrap="square" lIns="0" tIns="0" rIns="0" bIns="0" rtlCol="0" anchor="ctr"/>
          <a:lstStyle/>
          <a:p>
            <a:pPr marL="0" indent="0">
              <a:buNone/>
            </a:pPr>
            <a:r>
              <a:rPr lang="en-US" sz="1100" b="1" kern="0" spc="160" dirty="0">
                <a:solidFill>
                  <a:srgbClr val="E60000"/>
                </a:solidFill>
              </a:rPr>
              <a:t>ILLUSTRATIVE USE CASE</a:t>
            </a:r>
            <a:endParaRPr lang="en-US" sz="1100" dirty="0"/>
          </a:p>
        </p:txBody>
      </p:sp>
      <p:sp>
        <p:nvSpPr>
          <p:cNvPr id="3" name="Text 1"/>
          <p:cNvSpPr/>
          <p:nvPr/>
        </p:nvSpPr>
        <p:spPr>
          <a:xfrm>
            <a:off x="566928" y="658368"/>
            <a:ext cx="10972800" cy="512064"/>
          </a:xfrm>
          <a:prstGeom prst="rect">
            <a:avLst/>
          </a:prstGeom>
          <a:noFill/>
          <a:ln/>
        </p:spPr>
        <p:txBody>
          <a:bodyPr wrap="square" lIns="0" tIns="0" rIns="0" bIns="0" rtlCol="0" anchor="ctr">
            <a:normAutofit/>
          </a:bodyPr>
          <a:lstStyle/>
          <a:p>
            <a:pPr marL="0" indent="0">
              <a:buNone/>
            </a:pPr>
            <a:r>
              <a:rPr lang="en-US" sz="2700" b="1" dirty="0">
                <a:solidFill>
                  <a:srgbClr val="10213D"/>
                </a:solidFill>
              </a:rPr>
              <a:t>One profile, consistent protection across an AI journey</a:t>
            </a:r>
            <a:endParaRPr lang="en-US" sz="2700" dirty="0"/>
          </a:p>
        </p:txBody>
      </p:sp>
      <p:sp>
        <p:nvSpPr>
          <p:cNvPr id="4" name="Shape 2"/>
          <p:cNvSpPr/>
          <p:nvPr/>
        </p:nvSpPr>
        <p:spPr>
          <a:xfrm>
            <a:off x="978408" y="1965960"/>
            <a:ext cx="658368" cy="658368"/>
          </a:xfrm>
          <a:prstGeom prst="ellipse">
            <a:avLst/>
          </a:prstGeom>
          <a:solidFill>
            <a:srgbClr val="10213D"/>
          </a:solidFill>
          <a:ln w="12700">
            <a:solidFill>
              <a:srgbClr val="10213D"/>
            </a:solidFill>
            <a:prstDash val="solid"/>
          </a:ln>
          <a:effectLst/>
        </p:spPr>
        <p:txBody>
          <a:bodyPr/>
          <a:lstStyle/>
          <a:p>
            <a:endParaRPr lang="en-US"/>
          </a:p>
        </p:txBody>
      </p:sp>
      <p:sp>
        <p:nvSpPr>
          <p:cNvPr id="5" name="Text 3"/>
          <p:cNvSpPr/>
          <p:nvPr/>
        </p:nvSpPr>
        <p:spPr>
          <a:xfrm>
            <a:off x="1097280" y="2112264"/>
            <a:ext cx="420624" cy="237744"/>
          </a:xfrm>
          <a:prstGeom prst="rect">
            <a:avLst/>
          </a:prstGeom>
          <a:noFill/>
          <a:ln/>
        </p:spPr>
        <p:txBody>
          <a:bodyPr wrap="square" lIns="0" tIns="0" rIns="0" bIns="0" rtlCol="0" anchor="ctr"/>
          <a:lstStyle/>
          <a:p>
            <a:pPr marL="0" indent="0" algn="ctr">
              <a:buNone/>
            </a:pPr>
            <a:r>
              <a:rPr lang="en-US" sz="1700" b="1" dirty="0">
                <a:solidFill>
                  <a:srgbClr val="FFFFFF"/>
                </a:solidFill>
              </a:rPr>
              <a:t>1</a:t>
            </a:r>
            <a:endParaRPr lang="en-US" sz="1700" dirty="0"/>
          </a:p>
        </p:txBody>
      </p:sp>
      <p:sp>
        <p:nvSpPr>
          <p:cNvPr id="6" name="Text 4"/>
          <p:cNvSpPr/>
          <p:nvPr/>
        </p:nvSpPr>
        <p:spPr>
          <a:xfrm>
            <a:off x="594360" y="2788920"/>
            <a:ext cx="1508760" cy="685800"/>
          </a:xfrm>
          <a:prstGeom prst="rect">
            <a:avLst/>
          </a:prstGeom>
          <a:noFill/>
          <a:ln/>
        </p:spPr>
        <p:txBody>
          <a:bodyPr wrap="square" lIns="254" tIns="254" rIns="254" bIns="254" rtlCol="0" anchor="ctr">
            <a:normAutofit/>
          </a:bodyPr>
          <a:lstStyle/>
          <a:p>
            <a:pPr marL="0" indent="0" algn="ctr">
              <a:buNone/>
            </a:pPr>
            <a:r>
              <a:rPr lang="en-US" sz="1500" b="1" dirty="0">
                <a:solidFill>
                  <a:srgbClr val="14213D"/>
                </a:solidFill>
              </a:rPr>
              <a:t>Parent sets a child profile</a:t>
            </a:r>
            <a:endParaRPr lang="en-US" sz="1500" dirty="0"/>
          </a:p>
        </p:txBody>
      </p:sp>
      <p:sp>
        <p:nvSpPr>
          <p:cNvPr id="7" name="Text 5"/>
          <p:cNvSpPr/>
          <p:nvPr/>
        </p:nvSpPr>
        <p:spPr>
          <a:xfrm>
            <a:off x="548640" y="3611880"/>
            <a:ext cx="1600200" cy="1051560"/>
          </a:xfrm>
          <a:prstGeom prst="rect">
            <a:avLst/>
          </a:prstGeom>
          <a:noFill/>
          <a:ln/>
        </p:spPr>
        <p:txBody>
          <a:bodyPr wrap="square" lIns="381" tIns="381" rIns="381" bIns="381" rtlCol="0" anchor="ctr">
            <a:normAutofit/>
          </a:bodyPr>
          <a:lstStyle/>
          <a:p>
            <a:pPr marL="0" indent="0" algn="ctr">
              <a:buNone/>
            </a:pPr>
            <a:r>
              <a:rPr lang="en-US" sz="1250" dirty="0">
                <a:solidFill>
                  <a:srgbClr val="334155"/>
                </a:solidFill>
              </a:rPr>
              <a:t>Age band, permissions, spending and content limits</a:t>
            </a:r>
            <a:endParaRPr lang="en-US" sz="1250" dirty="0"/>
          </a:p>
        </p:txBody>
      </p:sp>
      <p:sp>
        <p:nvSpPr>
          <p:cNvPr id="8" name="Shape 6"/>
          <p:cNvSpPr/>
          <p:nvPr/>
        </p:nvSpPr>
        <p:spPr>
          <a:xfrm>
            <a:off x="1709928" y="2295144"/>
            <a:ext cx="1261872" cy="1"/>
          </a:xfrm>
          <a:prstGeom prst="line">
            <a:avLst/>
          </a:prstGeom>
          <a:noFill/>
          <a:ln w="50800">
            <a:solidFill>
              <a:srgbClr val="D9E2EF"/>
            </a:solidFill>
            <a:prstDash val="solid"/>
            <a:tailEnd type="triangle"/>
          </a:ln>
        </p:spPr>
        <p:txBody>
          <a:bodyPr/>
          <a:lstStyle/>
          <a:p>
            <a:endParaRPr lang="en-US"/>
          </a:p>
        </p:txBody>
      </p:sp>
      <p:sp>
        <p:nvSpPr>
          <p:cNvPr id="9" name="Shape 7"/>
          <p:cNvSpPr/>
          <p:nvPr/>
        </p:nvSpPr>
        <p:spPr>
          <a:xfrm>
            <a:off x="3355848" y="1965960"/>
            <a:ext cx="658368" cy="658368"/>
          </a:xfrm>
          <a:prstGeom prst="ellipse">
            <a:avLst/>
          </a:prstGeom>
          <a:solidFill>
            <a:srgbClr val="1677FF"/>
          </a:solidFill>
          <a:ln w="12700">
            <a:solidFill>
              <a:srgbClr val="1677FF"/>
            </a:solidFill>
            <a:prstDash val="solid"/>
          </a:ln>
          <a:effectLst/>
        </p:spPr>
        <p:txBody>
          <a:bodyPr/>
          <a:lstStyle/>
          <a:p>
            <a:endParaRPr lang="en-US"/>
          </a:p>
        </p:txBody>
      </p:sp>
      <p:sp>
        <p:nvSpPr>
          <p:cNvPr id="10" name="Text 8"/>
          <p:cNvSpPr/>
          <p:nvPr/>
        </p:nvSpPr>
        <p:spPr>
          <a:xfrm>
            <a:off x="3474720" y="2112264"/>
            <a:ext cx="420624" cy="237744"/>
          </a:xfrm>
          <a:prstGeom prst="rect">
            <a:avLst/>
          </a:prstGeom>
          <a:noFill/>
          <a:ln/>
        </p:spPr>
        <p:txBody>
          <a:bodyPr wrap="square" lIns="0" tIns="0" rIns="0" bIns="0" rtlCol="0" anchor="ctr"/>
          <a:lstStyle/>
          <a:p>
            <a:pPr marL="0" indent="0" algn="ctr">
              <a:buNone/>
            </a:pPr>
            <a:r>
              <a:rPr lang="en-US" sz="1700" b="1" dirty="0">
                <a:solidFill>
                  <a:srgbClr val="FFFFFF"/>
                </a:solidFill>
              </a:rPr>
              <a:t>2</a:t>
            </a:r>
            <a:endParaRPr lang="en-US" sz="1700" dirty="0"/>
          </a:p>
        </p:txBody>
      </p:sp>
      <p:sp>
        <p:nvSpPr>
          <p:cNvPr id="11" name="Text 9"/>
          <p:cNvSpPr/>
          <p:nvPr/>
        </p:nvSpPr>
        <p:spPr>
          <a:xfrm>
            <a:off x="2971800" y="2788920"/>
            <a:ext cx="1508760" cy="685800"/>
          </a:xfrm>
          <a:prstGeom prst="rect">
            <a:avLst/>
          </a:prstGeom>
          <a:noFill/>
          <a:ln/>
        </p:spPr>
        <p:txBody>
          <a:bodyPr wrap="square" lIns="254" tIns="254" rIns="254" bIns="254" rtlCol="0" anchor="ctr">
            <a:normAutofit/>
          </a:bodyPr>
          <a:lstStyle/>
          <a:p>
            <a:pPr marL="0" indent="0" algn="ctr">
              <a:buNone/>
            </a:pPr>
            <a:r>
              <a:rPr lang="en-US" sz="1500" b="1" dirty="0">
                <a:solidFill>
                  <a:srgbClr val="14213D"/>
                </a:solidFill>
              </a:rPr>
              <a:t>Telco identity delegates</a:t>
            </a:r>
            <a:endParaRPr lang="en-US" sz="1500" dirty="0"/>
          </a:p>
        </p:txBody>
      </p:sp>
      <p:sp>
        <p:nvSpPr>
          <p:cNvPr id="12" name="Text 10"/>
          <p:cNvSpPr/>
          <p:nvPr/>
        </p:nvSpPr>
        <p:spPr>
          <a:xfrm>
            <a:off x="2926080" y="3611880"/>
            <a:ext cx="1600200" cy="1051560"/>
          </a:xfrm>
          <a:prstGeom prst="rect">
            <a:avLst/>
          </a:prstGeom>
          <a:noFill/>
          <a:ln/>
        </p:spPr>
        <p:txBody>
          <a:bodyPr wrap="square" lIns="381" tIns="381" rIns="381" bIns="381" rtlCol="0" anchor="ctr">
            <a:normAutofit/>
          </a:bodyPr>
          <a:lstStyle/>
          <a:p>
            <a:pPr marL="0" indent="0" algn="ctr">
              <a:buNone/>
            </a:pPr>
            <a:r>
              <a:rPr lang="en-US" sz="1250" dirty="0">
                <a:solidFill>
                  <a:srgbClr val="334155"/>
                </a:solidFill>
              </a:rPr>
              <a:t>Signed, scoped and privacy-preserving credential</a:t>
            </a:r>
            <a:endParaRPr lang="en-US" sz="1250" dirty="0"/>
          </a:p>
        </p:txBody>
      </p:sp>
      <p:sp>
        <p:nvSpPr>
          <p:cNvPr id="13" name="Shape 11"/>
          <p:cNvSpPr/>
          <p:nvPr/>
        </p:nvSpPr>
        <p:spPr>
          <a:xfrm>
            <a:off x="4087368" y="2295144"/>
            <a:ext cx="1261872" cy="1"/>
          </a:xfrm>
          <a:prstGeom prst="line">
            <a:avLst/>
          </a:prstGeom>
          <a:noFill/>
          <a:ln w="50800">
            <a:solidFill>
              <a:srgbClr val="D9E2EF"/>
            </a:solidFill>
            <a:prstDash val="solid"/>
            <a:tailEnd type="triangle"/>
          </a:ln>
        </p:spPr>
        <p:txBody>
          <a:bodyPr/>
          <a:lstStyle/>
          <a:p>
            <a:endParaRPr lang="en-US"/>
          </a:p>
        </p:txBody>
      </p:sp>
      <p:sp>
        <p:nvSpPr>
          <p:cNvPr id="14" name="Shape 12"/>
          <p:cNvSpPr/>
          <p:nvPr/>
        </p:nvSpPr>
        <p:spPr>
          <a:xfrm>
            <a:off x="5733288" y="1965960"/>
            <a:ext cx="658368" cy="658368"/>
          </a:xfrm>
          <a:prstGeom prst="ellipse">
            <a:avLst/>
          </a:prstGeom>
          <a:solidFill>
            <a:srgbClr val="34C6D3"/>
          </a:solidFill>
          <a:ln w="12700">
            <a:solidFill>
              <a:srgbClr val="34C6D3"/>
            </a:solidFill>
            <a:prstDash val="solid"/>
          </a:ln>
          <a:effectLst/>
        </p:spPr>
        <p:txBody>
          <a:bodyPr/>
          <a:lstStyle/>
          <a:p>
            <a:endParaRPr lang="en-US"/>
          </a:p>
        </p:txBody>
      </p:sp>
      <p:sp>
        <p:nvSpPr>
          <p:cNvPr id="15" name="Text 13"/>
          <p:cNvSpPr/>
          <p:nvPr/>
        </p:nvSpPr>
        <p:spPr>
          <a:xfrm>
            <a:off x="5852160" y="2112264"/>
            <a:ext cx="420624" cy="237744"/>
          </a:xfrm>
          <a:prstGeom prst="rect">
            <a:avLst/>
          </a:prstGeom>
          <a:noFill/>
          <a:ln/>
        </p:spPr>
        <p:txBody>
          <a:bodyPr wrap="square" lIns="0" tIns="0" rIns="0" bIns="0" rtlCol="0" anchor="ctr"/>
          <a:lstStyle/>
          <a:p>
            <a:pPr marL="0" indent="0" algn="ctr">
              <a:buNone/>
            </a:pPr>
            <a:r>
              <a:rPr lang="en-US" sz="1700" b="1" dirty="0">
                <a:solidFill>
                  <a:srgbClr val="FFFFFF"/>
                </a:solidFill>
              </a:rPr>
              <a:t>3</a:t>
            </a:r>
            <a:endParaRPr lang="en-US" sz="1700" dirty="0"/>
          </a:p>
        </p:txBody>
      </p:sp>
      <p:sp>
        <p:nvSpPr>
          <p:cNvPr id="16" name="Text 14"/>
          <p:cNvSpPr/>
          <p:nvPr/>
        </p:nvSpPr>
        <p:spPr>
          <a:xfrm>
            <a:off x="5349240" y="2788920"/>
            <a:ext cx="1508760" cy="685800"/>
          </a:xfrm>
          <a:prstGeom prst="rect">
            <a:avLst/>
          </a:prstGeom>
          <a:noFill/>
          <a:ln/>
        </p:spPr>
        <p:txBody>
          <a:bodyPr wrap="square" lIns="254" tIns="254" rIns="254" bIns="254" rtlCol="0" anchor="ctr">
            <a:normAutofit/>
          </a:bodyPr>
          <a:lstStyle/>
          <a:p>
            <a:pPr marL="0" indent="0" algn="ctr">
              <a:buNone/>
            </a:pPr>
            <a:r>
              <a:rPr lang="en-US" sz="1500" b="1" dirty="0">
                <a:solidFill>
                  <a:srgbClr val="14213D"/>
                </a:solidFill>
              </a:rPr>
              <a:t>AI tutor verifies</a:t>
            </a:r>
            <a:endParaRPr lang="en-US" sz="1500" dirty="0"/>
          </a:p>
        </p:txBody>
      </p:sp>
      <p:sp>
        <p:nvSpPr>
          <p:cNvPr id="17" name="Text 15"/>
          <p:cNvSpPr/>
          <p:nvPr/>
        </p:nvSpPr>
        <p:spPr>
          <a:xfrm>
            <a:off x="5303520" y="3611880"/>
            <a:ext cx="1600200" cy="1051560"/>
          </a:xfrm>
          <a:prstGeom prst="rect">
            <a:avLst/>
          </a:prstGeom>
          <a:noFill/>
          <a:ln/>
        </p:spPr>
        <p:txBody>
          <a:bodyPr wrap="square" lIns="381" tIns="381" rIns="381" bIns="381" rtlCol="0" anchor="ctr">
            <a:normAutofit/>
          </a:bodyPr>
          <a:lstStyle/>
          <a:p>
            <a:pPr marL="0" indent="0" algn="ctr">
              <a:buNone/>
            </a:pPr>
            <a:r>
              <a:rPr lang="en-US" sz="1250" dirty="0">
                <a:solidFill>
                  <a:srgbClr val="334155"/>
                </a:solidFill>
              </a:rPr>
              <a:t>Applies age-appropriate interaction and data rules</a:t>
            </a:r>
            <a:endParaRPr lang="en-US" sz="1250" dirty="0"/>
          </a:p>
        </p:txBody>
      </p:sp>
      <p:sp>
        <p:nvSpPr>
          <p:cNvPr id="18" name="Shape 16"/>
          <p:cNvSpPr/>
          <p:nvPr/>
        </p:nvSpPr>
        <p:spPr>
          <a:xfrm>
            <a:off x="6464808" y="2295144"/>
            <a:ext cx="1261872" cy="1"/>
          </a:xfrm>
          <a:prstGeom prst="line">
            <a:avLst/>
          </a:prstGeom>
          <a:noFill/>
          <a:ln w="50800">
            <a:solidFill>
              <a:srgbClr val="D9E2EF"/>
            </a:solidFill>
            <a:prstDash val="solid"/>
            <a:tailEnd type="triangle"/>
          </a:ln>
        </p:spPr>
        <p:txBody>
          <a:bodyPr/>
          <a:lstStyle/>
          <a:p>
            <a:endParaRPr lang="en-US"/>
          </a:p>
        </p:txBody>
      </p:sp>
      <p:sp>
        <p:nvSpPr>
          <p:cNvPr id="19" name="Shape 17"/>
          <p:cNvSpPr/>
          <p:nvPr/>
        </p:nvSpPr>
        <p:spPr>
          <a:xfrm>
            <a:off x="8110728" y="1965960"/>
            <a:ext cx="658368" cy="658368"/>
          </a:xfrm>
          <a:prstGeom prst="ellipse">
            <a:avLst/>
          </a:prstGeom>
          <a:solidFill>
            <a:srgbClr val="FF6B5E"/>
          </a:solidFill>
          <a:ln w="12700">
            <a:solidFill>
              <a:srgbClr val="FF6B5E"/>
            </a:solidFill>
            <a:prstDash val="solid"/>
          </a:ln>
          <a:effectLst/>
        </p:spPr>
        <p:txBody>
          <a:bodyPr/>
          <a:lstStyle/>
          <a:p>
            <a:endParaRPr lang="en-US"/>
          </a:p>
        </p:txBody>
      </p:sp>
      <p:sp>
        <p:nvSpPr>
          <p:cNvPr id="20" name="Text 18"/>
          <p:cNvSpPr/>
          <p:nvPr/>
        </p:nvSpPr>
        <p:spPr>
          <a:xfrm>
            <a:off x="8229600" y="2112264"/>
            <a:ext cx="420624" cy="237744"/>
          </a:xfrm>
          <a:prstGeom prst="rect">
            <a:avLst/>
          </a:prstGeom>
          <a:noFill/>
          <a:ln/>
        </p:spPr>
        <p:txBody>
          <a:bodyPr wrap="square" lIns="0" tIns="0" rIns="0" bIns="0" rtlCol="0" anchor="ctr"/>
          <a:lstStyle/>
          <a:p>
            <a:pPr marL="0" indent="0" algn="ctr">
              <a:buNone/>
            </a:pPr>
            <a:r>
              <a:rPr lang="en-US" sz="1700" b="1" dirty="0">
                <a:solidFill>
                  <a:srgbClr val="FFFFFF"/>
                </a:solidFill>
              </a:rPr>
              <a:t>4</a:t>
            </a:r>
            <a:endParaRPr lang="en-US" sz="1700" dirty="0"/>
          </a:p>
        </p:txBody>
      </p:sp>
      <p:sp>
        <p:nvSpPr>
          <p:cNvPr id="21" name="Text 19"/>
          <p:cNvSpPr/>
          <p:nvPr/>
        </p:nvSpPr>
        <p:spPr>
          <a:xfrm>
            <a:off x="7726680" y="2788920"/>
            <a:ext cx="1508760" cy="685800"/>
          </a:xfrm>
          <a:prstGeom prst="rect">
            <a:avLst/>
          </a:prstGeom>
          <a:noFill/>
          <a:ln/>
        </p:spPr>
        <p:txBody>
          <a:bodyPr wrap="square" lIns="254" tIns="254" rIns="254" bIns="254" rtlCol="0" anchor="ctr">
            <a:normAutofit/>
          </a:bodyPr>
          <a:lstStyle/>
          <a:p>
            <a:pPr marL="0" indent="0" algn="ctr">
              <a:buNone/>
            </a:pPr>
            <a:r>
              <a:rPr lang="en-US" sz="1500" b="1" dirty="0">
                <a:solidFill>
                  <a:srgbClr val="14213D"/>
                </a:solidFill>
              </a:rPr>
              <a:t>Shopping agent inherits limits</a:t>
            </a:r>
            <a:endParaRPr lang="en-US" sz="1500" dirty="0"/>
          </a:p>
        </p:txBody>
      </p:sp>
      <p:sp>
        <p:nvSpPr>
          <p:cNvPr id="22" name="Text 20"/>
          <p:cNvSpPr/>
          <p:nvPr/>
        </p:nvSpPr>
        <p:spPr>
          <a:xfrm>
            <a:off x="7680960" y="3611880"/>
            <a:ext cx="1600200" cy="1051560"/>
          </a:xfrm>
          <a:prstGeom prst="rect">
            <a:avLst/>
          </a:prstGeom>
          <a:noFill/>
          <a:ln/>
        </p:spPr>
        <p:txBody>
          <a:bodyPr wrap="square" lIns="381" tIns="381" rIns="381" bIns="381" rtlCol="0" anchor="ctr">
            <a:normAutofit/>
          </a:bodyPr>
          <a:lstStyle/>
          <a:p>
            <a:pPr marL="0" indent="0" algn="ctr">
              <a:buNone/>
            </a:pPr>
            <a:r>
              <a:rPr lang="en-US" sz="1250" dirty="0">
                <a:solidFill>
                  <a:srgbClr val="334155"/>
                </a:solidFill>
              </a:rPr>
              <a:t>No independent re-collection of full identity</a:t>
            </a:r>
            <a:endParaRPr lang="en-US" sz="1250" dirty="0"/>
          </a:p>
        </p:txBody>
      </p:sp>
      <p:sp>
        <p:nvSpPr>
          <p:cNvPr id="23" name="Shape 21"/>
          <p:cNvSpPr/>
          <p:nvPr/>
        </p:nvSpPr>
        <p:spPr>
          <a:xfrm>
            <a:off x="8842248" y="2295144"/>
            <a:ext cx="1261872" cy="1"/>
          </a:xfrm>
          <a:prstGeom prst="line">
            <a:avLst/>
          </a:prstGeom>
          <a:noFill/>
          <a:ln w="50800">
            <a:solidFill>
              <a:srgbClr val="D9E2EF"/>
            </a:solidFill>
            <a:prstDash val="solid"/>
            <a:tailEnd type="triangle"/>
          </a:ln>
        </p:spPr>
        <p:txBody>
          <a:bodyPr/>
          <a:lstStyle/>
          <a:p>
            <a:endParaRPr lang="en-US"/>
          </a:p>
        </p:txBody>
      </p:sp>
      <p:sp>
        <p:nvSpPr>
          <p:cNvPr id="24" name="Shape 22"/>
          <p:cNvSpPr/>
          <p:nvPr/>
        </p:nvSpPr>
        <p:spPr>
          <a:xfrm>
            <a:off x="10488168" y="1965960"/>
            <a:ext cx="658368" cy="658368"/>
          </a:xfrm>
          <a:prstGeom prst="ellipse">
            <a:avLst/>
          </a:prstGeom>
          <a:solidFill>
            <a:srgbClr val="18A66A"/>
          </a:solidFill>
          <a:ln w="12700">
            <a:solidFill>
              <a:srgbClr val="18A66A"/>
            </a:solidFill>
            <a:prstDash val="solid"/>
          </a:ln>
          <a:effectLst/>
        </p:spPr>
        <p:txBody>
          <a:bodyPr/>
          <a:lstStyle/>
          <a:p>
            <a:endParaRPr lang="en-US"/>
          </a:p>
        </p:txBody>
      </p:sp>
      <p:sp>
        <p:nvSpPr>
          <p:cNvPr id="25" name="Text 23"/>
          <p:cNvSpPr/>
          <p:nvPr/>
        </p:nvSpPr>
        <p:spPr>
          <a:xfrm>
            <a:off x="10607040" y="2112264"/>
            <a:ext cx="420624" cy="237744"/>
          </a:xfrm>
          <a:prstGeom prst="rect">
            <a:avLst/>
          </a:prstGeom>
          <a:noFill/>
          <a:ln/>
        </p:spPr>
        <p:txBody>
          <a:bodyPr wrap="square" lIns="0" tIns="0" rIns="0" bIns="0" rtlCol="0" anchor="ctr"/>
          <a:lstStyle/>
          <a:p>
            <a:pPr marL="0" indent="0" algn="ctr">
              <a:buNone/>
            </a:pPr>
            <a:r>
              <a:rPr lang="en-US" sz="1700" b="1" dirty="0">
                <a:solidFill>
                  <a:srgbClr val="FFFFFF"/>
                </a:solidFill>
              </a:rPr>
              <a:t>5</a:t>
            </a:r>
            <a:endParaRPr lang="en-US" sz="1700" dirty="0"/>
          </a:p>
        </p:txBody>
      </p:sp>
      <p:sp>
        <p:nvSpPr>
          <p:cNvPr id="26" name="Text 24"/>
          <p:cNvSpPr/>
          <p:nvPr/>
        </p:nvSpPr>
        <p:spPr>
          <a:xfrm>
            <a:off x="10104120" y="2788920"/>
            <a:ext cx="1508760" cy="685800"/>
          </a:xfrm>
          <a:prstGeom prst="rect">
            <a:avLst/>
          </a:prstGeom>
          <a:noFill/>
          <a:ln/>
        </p:spPr>
        <p:txBody>
          <a:bodyPr wrap="square" lIns="254" tIns="254" rIns="254" bIns="254" rtlCol="0" anchor="ctr">
            <a:normAutofit/>
          </a:bodyPr>
          <a:lstStyle/>
          <a:p>
            <a:pPr marL="0" indent="0" algn="ctr">
              <a:buNone/>
            </a:pPr>
            <a:r>
              <a:rPr lang="en-US" sz="1500" b="1" dirty="0">
                <a:solidFill>
                  <a:srgbClr val="14213D"/>
                </a:solidFill>
              </a:rPr>
              <a:t>Guardian changes policy</a:t>
            </a:r>
            <a:endParaRPr lang="en-US" sz="1500" dirty="0"/>
          </a:p>
        </p:txBody>
      </p:sp>
      <p:sp>
        <p:nvSpPr>
          <p:cNvPr id="27" name="Text 25"/>
          <p:cNvSpPr/>
          <p:nvPr/>
        </p:nvSpPr>
        <p:spPr>
          <a:xfrm>
            <a:off x="10058400" y="3611880"/>
            <a:ext cx="1600200" cy="1051560"/>
          </a:xfrm>
          <a:prstGeom prst="rect">
            <a:avLst/>
          </a:prstGeom>
          <a:noFill/>
          <a:ln/>
        </p:spPr>
        <p:txBody>
          <a:bodyPr wrap="square" lIns="381" tIns="381" rIns="381" bIns="381" rtlCol="0" anchor="ctr">
            <a:normAutofit/>
          </a:bodyPr>
          <a:lstStyle/>
          <a:p>
            <a:pPr marL="0" indent="0" algn="ctr">
              <a:buNone/>
            </a:pPr>
            <a:r>
              <a:rPr lang="en-US" sz="1250" dirty="0">
                <a:solidFill>
                  <a:srgbClr val="334155"/>
                </a:solidFill>
              </a:rPr>
              <a:t>Update or revocation propagates</a:t>
            </a:r>
            <a:endParaRPr lang="en-US" sz="1250" dirty="0"/>
          </a:p>
        </p:txBody>
      </p:sp>
      <p:sp>
        <p:nvSpPr>
          <p:cNvPr id="28" name="Shape 26"/>
          <p:cNvSpPr/>
          <p:nvPr/>
        </p:nvSpPr>
        <p:spPr>
          <a:xfrm>
            <a:off x="1417320" y="5084064"/>
            <a:ext cx="9326880" cy="786384"/>
          </a:xfrm>
          <a:prstGeom prst="roundRect">
            <a:avLst>
              <a:gd name="adj" fmla="val 13953"/>
            </a:avLst>
          </a:prstGeom>
          <a:solidFill>
            <a:srgbClr val="EAF1FB"/>
          </a:solidFill>
          <a:ln w="12700">
            <a:solidFill>
              <a:srgbClr val="B9CBE3"/>
            </a:solidFill>
            <a:prstDash val="solid"/>
          </a:ln>
        </p:spPr>
        <p:txBody>
          <a:bodyPr/>
          <a:lstStyle/>
          <a:p>
            <a:endParaRPr lang="en-US"/>
          </a:p>
        </p:txBody>
      </p:sp>
      <p:sp>
        <p:nvSpPr>
          <p:cNvPr id="29" name="Text 27"/>
          <p:cNvSpPr/>
          <p:nvPr/>
        </p:nvSpPr>
        <p:spPr>
          <a:xfrm>
            <a:off x="1682496" y="5294376"/>
            <a:ext cx="8778240" cy="310896"/>
          </a:xfrm>
          <a:prstGeom prst="rect">
            <a:avLst/>
          </a:prstGeom>
          <a:noFill/>
          <a:ln/>
        </p:spPr>
        <p:txBody>
          <a:bodyPr wrap="square" lIns="0" tIns="0" rIns="0" bIns="0" rtlCol="0" anchor="ctr"/>
          <a:lstStyle/>
          <a:p>
            <a:pPr marL="0" indent="0" algn="ctr">
              <a:buNone/>
            </a:pPr>
            <a:r>
              <a:rPr lang="en-US" sz="1800" b="1" dirty="0">
                <a:solidFill>
                  <a:srgbClr val="10213D"/>
                </a:solidFill>
              </a:rPr>
              <a:t>Outcome: child protections become portable policy, while identity disclosure remains minimal and controlled.</a:t>
            </a:r>
            <a:endParaRPr lang="en-US" sz="1800" dirty="0"/>
          </a:p>
        </p:txBody>
      </p:sp>
      <p:sp>
        <p:nvSpPr>
          <p:cNvPr id="30" name="Slide Number Placeholder 0"/>
          <p:cNvSpPr>
            <a:spLocks noGrp="1"/>
          </p:cNvSpPr>
          <p:nvPr>
            <p:ph type="sldNum" sz="quarter" idx="4294967295"/>
          </p:nvPr>
        </p:nvSpPr>
        <p:spPr>
          <a:xfrm>
            <a:off x="1177747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657184"/>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66928" y="347472"/>
            <a:ext cx="4572000" cy="228600"/>
          </a:xfrm>
          <a:prstGeom prst="rect">
            <a:avLst/>
          </a:prstGeom>
          <a:noFill/>
          <a:ln/>
        </p:spPr>
        <p:txBody>
          <a:bodyPr wrap="square" lIns="0" tIns="0" rIns="0" bIns="0" rtlCol="0" anchor="ctr"/>
          <a:lstStyle/>
          <a:p>
            <a:pPr marL="0" indent="0">
              <a:buNone/>
            </a:pPr>
            <a:r>
              <a:rPr lang="en-US" sz="1100" b="1" kern="0" spc="160" dirty="0">
                <a:solidFill>
                  <a:srgbClr val="E60000"/>
                </a:solidFill>
              </a:rPr>
              <a:t>DESIGN PRINCIPLES</a:t>
            </a:r>
            <a:endParaRPr lang="en-US" sz="1100" dirty="0"/>
          </a:p>
        </p:txBody>
      </p:sp>
      <p:sp>
        <p:nvSpPr>
          <p:cNvPr id="3" name="Text 1"/>
          <p:cNvSpPr/>
          <p:nvPr/>
        </p:nvSpPr>
        <p:spPr>
          <a:xfrm>
            <a:off x="566928" y="658368"/>
            <a:ext cx="10972800" cy="512064"/>
          </a:xfrm>
          <a:prstGeom prst="rect">
            <a:avLst/>
          </a:prstGeom>
          <a:noFill/>
          <a:ln/>
        </p:spPr>
        <p:txBody>
          <a:bodyPr wrap="square" lIns="0" tIns="0" rIns="0" bIns="0" rtlCol="0" anchor="ctr">
            <a:normAutofit/>
          </a:bodyPr>
          <a:lstStyle/>
          <a:p>
            <a:pPr marL="0" indent="0">
              <a:buNone/>
            </a:pPr>
            <a:r>
              <a:rPr lang="en-US" sz="2700" b="1" dirty="0">
                <a:solidFill>
                  <a:srgbClr val="10213D"/>
                </a:solidFill>
              </a:rPr>
              <a:t>Five principles to keep the theme rights-respecting</a:t>
            </a:r>
            <a:endParaRPr lang="en-US" sz="2700" dirty="0"/>
          </a:p>
        </p:txBody>
      </p:sp>
      <p:sp>
        <p:nvSpPr>
          <p:cNvPr id="4" name="Shape 2"/>
          <p:cNvSpPr/>
          <p:nvPr/>
        </p:nvSpPr>
        <p:spPr>
          <a:xfrm>
            <a:off x="594360" y="1554480"/>
            <a:ext cx="3337560" cy="1554480"/>
          </a:xfrm>
          <a:prstGeom prst="roundRect">
            <a:avLst>
              <a:gd name="adj" fmla="val 7059"/>
            </a:avLst>
          </a:prstGeom>
          <a:solidFill>
            <a:srgbClr val="FFFFFF"/>
          </a:solidFill>
          <a:ln w="12700">
            <a:solidFill>
              <a:srgbClr val="D9E2EF"/>
            </a:solidFill>
            <a:prstDash val="solid"/>
          </a:ln>
          <a:effectLst/>
        </p:spPr>
        <p:txBody>
          <a:bodyPr/>
          <a:lstStyle/>
          <a:p>
            <a:endParaRPr lang="en-US"/>
          </a:p>
        </p:txBody>
      </p:sp>
      <p:sp>
        <p:nvSpPr>
          <p:cNvPr id="5" name="Shape 3"/>
          <p:cNvSpPr/>
          <p:nvPr/>
        </p:nvSpPr>
        <p:spPr>
          <a:xfrm>
            <a:off x="850392" y="1874520"/>
            <a:ext cx="566928" cy="566928"/>
          </a:xfrm>
          <a:prstGeom prst="ellipse">
            <a:avLst/>
          </a:prstGeom>
          <a:solidFill>
            <a:srgbClr val="E60000"/>
          </a:solidFill>
          <a:ln w="12700">
            <a:solidFill>
              <a:srgbClr val="E60000"/>
            </a:solidFill>
            <a:prstDash val="solid"/>
          </a:ln>
        </p:spPr>
        <p:txBody>
          <a:bodyPr/>
          <a:lstStyle/>
          <a:p>
            <a:endParaRPr lang="en-US"/>
          </a:p>
        </p:txBody>
      </p:sp>
      <p:sp>
        <p:nvSpPr>
          <p:cNvPr id="6" name="Text 4"/>
          <p:cNvSpPr/>
          <p:nvPr/>
        </p:nvSpPr>
        <p:spPr>
          <a:xfrm>
            <a:off x="1005840" y="2002536"/>
            <a:ext cx="256032" cy="18288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1554480" y="1810512"/>
            <a:ext cx="2084832" cy="365760"/>
          </a:xfrm>
          <a:prstGeom prst="rect">
            <a:avLst/>
          </a:prstGeom>
          <a:noFill/>
          <a:ln/>
        </p:spPr>
        <p:txBody>
          <a:bodyPr wrap="square" lIns="0" tIns="0" rIns="0" bIns="0" rtlCol="0" anchor="ctr"/>
          <a:lstStyle/>
          <a:p>
            <a:pPr marL="0" indent="0">
              <a:buNone/>
            </a:pPr>
            <a:r>
              <a:rPr lang="en-US" sz="1900" b="1" dirty="0">
                <a:solidFill>
                  <a:srgbClr val="10213D"/>
                </a:solidFill>
              </a:rPr>
              <a:t>Child first</a:t>
            </a:r>
            <a:endParaRPr lang="en-US" sz="1900" dirty="0"/>
          </a:p>
        </p:txBody>
      </p:sp>
      <p:sp>
        <p:nvSpPr>
          <p:cNvPr id="8" name="Text 6"/>
          <p:cNvSpPr/>
          <p:nvPr/>
        </p:nvSpPr>
        <p:spPr>
          <a:xfrm>
            <a:off x="1554480" y="2304288"/>
            <a:ext cx="2057400" cy="585216"/>
          </a:xfrm>
          <a:prstGeom prst="rect">
            <a:avLst/>
          </a:prstGeom>
          <a:noFill/>
          <a:ln/>
        </p:spPr>
        <p:txBody>
          <a:bodyPr wrap="square" lIns="0" tIns="0" rIns="0" bIns="0" rtlCol="0" anchor="ctr">
            <a:normAutofit/>
          </a:bodyPr>
          <a:lstStyle/>
          <a:p>
            <a:pPr marL="0" indent="0">
              <a:buNone/>
            </a:pPr>
            <a:r>
              <a:rPr lang="en-US" sz="1350" dirty="0">
                <a:solidFill>
                  <a:srgbClr val="334155"/>
                </a:solidFill>
              </a:rPr>
              <a:t>Best interests and age-appropriate safeguards</a:t>
            </a:r>
            <a:endParaRPr lang="en-US" sz="1350" dirty="0"/>
          </a:p>
        </p:txBody>
      </p:sp>
      <p:sp>
        <p:nvSpPr>
          <p:cNvPr id="9" name="Shape 7"/>
          <p:cNvSpPr/>
          <p:nvPr/>
        </p:nvSpPr>
        <p:spPr>
          <a:xfrm>
            <a:off x="4389120" y="1554480"/>
            <a:ext cx="3337560" cy="1554480"/>
          </a:xfrm>
          <a:prstGeom prst="roundRect">
            <a:avLst>
              <a:gd name="adj" fmla="val 7059"/>
            </a:avLst>
          </a:prstGeom>
          <a:solidFill>
            <a:srgbClr val="FFFFFF"/>
          </a:solidFill>
          <a:ln w="12700">
            <a:solidFill>
              <a:srgbClr val="D9E2EF"/>
            </a:solidFill>
            <a:prstDash val="solid"/>
          </a:ln>
          <a:effectLst/>
        </p:spPr>
        <p:txBody>
          <a:bodyPr/>
          <a:lstStyle/>
          <a:p>
            <a:endParaRPr lang="en-US"/>
          </a:p>
        </p:txBody>
      </p:sp>
      <p:sp>
        <p:nvSpPr>
          <p:cNvPr id="10" name="Shape 8"/>
          <p:cNvSpPr/>
          <p:nvPr/>
        </p:nvSpPr>
        <p:spPr>
          <a:xfrm>
            <a:off x="4645152" y="1874520"/>
            <a:ext cx="566928" cy="566928"/>
          </a:xfrm>
          <a:prstGeom prst="ellipse">
            <a:avLst/>
          </a:prstGeom>
          <a:solidFill>
            <a:srgbClr val="1677FF"/>
          </a:solidFill>
          <a:ln w="12700">
            <a:solidFill>
              <a:srgbClr val="1677FF"/>
            </a:solidFill>
            <a:prstDash val="solid"/>
          </a:ln>
        </p:spPr>
        <p:txBody>
          <a:bodyPr/>
          <a:lstStyle/>
          <a:p>
            <a:endParaRPr lang="en-US"/>
          </a:p>
        </p:txBody>
      </p:sp>
      <p:sp>
        <p:nvSpPr>
          <p:cNvPr id="11" name="Text 9"/>
          <p:cNvSpPr/>
          <p:nvPr/>
        </p:nvSpPr>
        <p:spPr>
          <a:xfrm>
            <a:off x="4800600" y="2002536"/>
            <a:ext cx="256032" cy="18288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2" name="Text 10"/>
          <p:cNvSpPr/>
          <p:nvPr/>
        </p:nvSpPr>
        <p:spPr>
          <a:xfrm>
            <a:off x="5349240" y="1810512"/>
            <a:ext cx="2084832" cy="365760"/>
          </a:xfrm>
          <a:prstGeom prst="rect">
            <a:avLst/>
          </a:prstGeom>
          <a:noFill/>
          <a:ln/>
        </p:spPr>
        <p:txBody>
          <a:bodyPr wrap="square" lIns="0" tIns="0" rIns="0" bIns="0" rtlCol="0" anchor="ctr"/>
          <a:lstStyle/>
          <a:p>
            <a:pPr marL="0" indent="0">
              <a:buNone/>
            </a:pPr>
            <a:r>
              <a:rPr lang="en-US" sz="1900" b="1" dirty="0">
                <a:solidFill>
                  <a:srgbClr val="10213D"/>
                </a:solidFill>
              </a:rPr>
              <a:t>Data minimisation</a:t>
            </a:r>
            <a:endParaRPr lang="en-US" sz="1900" dirty="0"/>
          </a:p>
        </p:txBody>
      </p:sp>
      <p:sp>
        <p:nvSpPr>
          <p:cNvPr id="13" name="Text 11"/>
          <p:cNvSpPr/>
          <p:nvPr/>
        </p:nvSpPr>
        <p:spPr>
          <a:xfrm>
            <a:off x="5349240" y="2304288"/>
            <a:ext cx="2057400" cy="585216"/>
          </a:xfrm>
          <a:prstGeom prst="rect">
            <a:avLst/>
          </a:prstGeom>
          <a:noFill/>
          <a:ln/>
        </p:spPr>
        <p:txBody>
          <a:bodyPr wrap="square" lIns="0" tIns="0" rIns="0" bIns="0" rtlCol="0" anchor="ctr">
            <a:normAutofit/>
          </a:bodyPr>
          <a:lstStyle/>
          <a:p>
            <a:pPr marL="0" indent="0">
              <a:buNone/>
            </a:pPr>
            <a:r>
              <a:rPr lang="en-US" sz="1350" dirty="0">
                <a:solidFill>
                  <a:srgbClr val="334155"/>
                </a:solidFill>
              </a:rPr>
              <a:t>Prove the needed attribute, not the person</a:t>
            </a:r>
            <a:endParaRPr lang="en-US" sz="1350" dirty="0"/>
          </a:p>
        </p:txBody>
      </p:sp>
      <p:sp>
        <p:nvSpPr>
          <p:cNvPr id="14" name="Shape 12"/>
          <p:cNvSpPr/>
          <p:nvPr/>
        </p:nvSpPr>
        <p:spPr>
          <a:xfrm>
            <a:off x="8183880" y="1554480"/>
            <a:ext cx="3337560" cy="1554480"/>
          </a:xfrm>
          <a:prstGeom prst="roundRect">
            <a:avLst>
              <a:gd name="adj" fmla="val 7059"/>
            </a:avLst>
          </a:prstGeom>
          <a:solidFill>
            <a:srgbClr val="FFFFFF"/>
          </a:solidFill>
          <a:ln w="12700">
            <a:solidFill>
              <a:srgbClr val="D9E2EF"/>
            </a:solidFill>
            <a:prstDash val="solid"/>
          </a:ln>
          <a:effectLst/>
        </p:spPr>
        <p:txBody>
          <a:bodyPr/>
          <a:lstStyle/>
          <a:p>
            <a:endParaRPr lang="en-US"/>
          </a:p>
        </p:txBody>
      </p:sp>
      <p:sp>
        <p:nvSpPr>
          <p:cNvPr id="15" name="Shape 13"/>
          <p:cNvSpPr/>
          <p:nvPr/>
        </p:nvSpPr>
        <p:spPr>
          <a:xfrm>
            <a:off x="8439912" y="1874520"/>
            <a:ext cx="566928" cy="566928"/>
          </a:xfrm>
          <a:prstGeom prst="ellipse">
            <a:avLst/>
          </a:prstGeom>
          <a:solidFill>
            <a:srgbClr val="34C6D3"/>
          </a:solidFill>
          <a:ln w="12700">
            <a:solidFill>
              <a:srgbClr val="34C6D3"/>
            </a:solidFill>
            <a:prstDash val="solid"/>
          </a:ln>
        </p:spPr>
        <p:txBody>
          <a:bodyPr/>
          <a:lstStyle/>
          <a:p>
            <a:endParaRPr lang="en-US"/>
          </a:p>
        </p:txBody>
      </p:sp>
      <p:sp>
        <p:nvSpPr>
          <p:cNvPr id="16" name="Text 14"/>
          <p:cNvSpPr/>
          <p:nvPr/>
        </p:nvSpPr>
        <p:spPr>
          <a:xfrm>
            <a:off x="8595360" y="2002536"/>
            <a:ext cx="256032" cy="18288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7" name="Text 15"/>
          <p:cNvSpPr/>
          <p:nvPr/>
        </p:nvSpPr>
        <p:spPr>
          <a:xfrm>
            <a:off x="9144000" y="1810512"/>
            <a:ext cx="2084832" cy="365760"/>
          </a:xfrm>
          <a:prstGeom prst="rect">
            <a:avLst/>
          </a:prstGeom>
          <a:noFill/>
          <a:ln/>
        </p:spPr>
        <p:txBody>
          <a:bodyPr wrap="square" lIns="0" tIns="0" rIns="0" bIns="0" rtlCol="0" anchor="ctr"/>
          <a:lstStyle/>
          <a:p>
            <a:pPr marL="0" indent="0">
              <a:buNone/>
            </a:pPr>
            <a:r>
              <a:rPr lang="en-US" sz="1900" b="1" dirty="0">
                <a:solidFill>
                  <a:srgbClr val="10213D"/>
                </a:solidFill>
              </a:rPr>
              <a:t>Delegated authority</a:t>
            </a:r>
            <a:endParaRPr lang="en-US" sz="1900" dirty="0"/>
          </a:p>
        </p:txBody>
      </p:sp>
      <p:sp>
        <p:nvSpPr>
          <p:cNvPr id="18" name="Text 16"/>
          <p:cNvSpPr/>
          <p:nvPr/>
        </p:nvSpPr>
        <p:spPr>
          <a:xfrm>
            <a:off x="9144000" y="2304288"/>
            <a:ext cx="2057400" cy="585216"/>
          </a:xfrm>
          <a:prstGeom prst="rect">
            <a:avLst/>
          </a:prstGeom>
          <a:noFill/>
          <a:ln/>
        </p:spPr>
        <p:txBody>
          <a:bodyPr wrap="square" lIns="0" tIns="0" rIns="0" bIns="0" rtlCol="0" anchor="ctr">
            <a:normAutofit/>
          </a:bodyPr>
          <a:lstStyle/>
          <a:p>
            <a:pPr marL="0" indent="0">
              <a:buNone/>
            </a:pPr>
            <a:r>
              <a:rPr lang="en-US" sz="1350" dirty="0">
                <a:solidFill>
                  <a:srgbClr val="334155"/>
                </a:solidFill>
              </a:rPr>
              <a:t>Make guardian scope explicit and auditable</a:t>
            </a:r>
            <a:endParaRPr lang="en-US" sz="1350" dirty="0"/>
          </a:p>
        </p:txBody>
      </p:sp>
      <p:sp>
        <p:nvSpPr>
          <p:cNvPr id="19" name="Shape 17"/>
          <p:cNvSpPr/>
          <p:nvPr/>
        </p:nvSpPr>
        <p:spPr>
          <a:xfrm>
            <a:off x="594360" y="3566160"/>
            <a:ext cx="3337560" cy="1554480"/>
          </a:xfrm>
          <a:prstGeom prst="roundRect">
            <a:avLst>
              <a:gd name="adj" fmla="val 7059"/>
            </a:avLst>
          </a:prstGeom>
          <a:solidFill>
            <a:srgbClr val="FFFFFF"/>
          </a:solidFill>
          <a:ln w="12700">
            <a:solidFill>
              <a:srgbClr val="D9E2EF"/>
            </a:solidFill>
            <a:prstDash val="solid"/>
          </a:ln>
          <a:effectLst/>
        </p:spPr>
        <p:txBody>
          <a:bodyPr/>
          <a:lstStyle/>
          <a:p>
            <a:endParaRPr lang="en-US"/>
          </a:p>
        </p:txBody>
      </p:sp>
      <p:sp>
        <p:nvSpPr>
          <p:cNvPr id="20" name="Shape 18"/>
          <p:cNvSpPr/>
          <p:nvPr/>
        </p:nvSpPr>
        <p:spPr>
          <a:xfrm>
            <a:off x="850392" y="3886200"/>
            <a:ext cx="566928" cy="566928"/>
          </a:xfrm>
          <a:prstGeom prst="ellipse">
            <a:avLst/>
          </a:prstGeom>
          <a:solidFill>
            <a:srgbClr val="FF6B5E"/>
          </a:solidFill>
          <a:ln w="12700">
            <a:solidFill>
              <a:srgbClr val="FF6B5E"/>
            </a:solidFill>
            <a:prstDash val="solid"/>
          </a:ln>
        </p:spPr>
        <p:txBody>
          <a:bodyPr/>
          <a:lstStyle/>
          <a:p>
            <a:endParaRPr lang="en-US"/>
          </a:p>
        </p:txBody>
      </p:sp>
      <p:sp>
        <p:nvSpPr>
          <p:cNvPr id="21" name="Text 19"/>
          <p:cNvSpPr/>
          <p:nvPr/>
        </p:nvSpPr>
        <p:spPr>
          <a:xfrm>
            <a:off x="1005840" y="4014216"/>
            <a:ext cx="256032" cy="18288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p:nvPr/>
        </p:nvSpPr>
        <p:spPr>
          <a:xfrm>
            <a:off x="1554480" y="3822192"/>
            <a:ext cx="2084832" cy="365760"/>
          </a:xfrm>
          <a:prstGeom prst="rect">
            <a:avLst/>
          </a:prstGeom>
          <a:noFill/>
          <a:ln/>
        </p:spPr>
        <p:txBody>
          <a:bodyPr wrap="square" lIns="0" tIns="0" rIns="0" bIns="0" rtlCol="0" anchor="ctr"/>
          <a:lstStyle/>
          <a:p>
            <a:pPr marL="0" indent="0">
              <a:buNone/>
            </a:pPr>
            <a:r>
              <a:rPr lang="en-US" sz="1900" b="1" dirty="0">
                <a:solidFill>
                  <a:srgbClr val="10213D"/>
                </a:solidFill>
              </a:rPr>
              <a:t>Portability</a:t>
            </a:r>
            <a:endParaRPr lang="en-US" sz="1900" dirty="0"/>
          </a:p>
        </p:txBody>
      </p:sp>
      <p:sp>
        <p:nvSpPr>
          <p:cNvPr id="23" name="Text 21"/>
          <p:cNvSpPr/>
          <p:nvPr/>
        </p:nvSpPr>
        <p:spPr>
          <a:xfrm>
            <a:off x="1554480" y="4315968"/>
            <a:ext cx="2057400" cy="585216"/>
          </a:xfrm>
          <a:prstGeom prst="rect">
            <a:avLst/>
          </a:prstGeom>
          <a:noFill/>
          <a:ln/>
        </p:spPr>
        <p:txBody>
          <a:bodyPr wrap="square" lIns="0" tIns="0" rIns="0" bIns="0" rtlCol="0" anchor="ctr">
            <a:normAutofit/>
          </a:bodyPr>
          <a:lstStyle/>
          <a:p>
            <a:pPr marL="0" indent="0">
              <a:buNone/>
            </a:pPr>
            <a:r>
              <a:rPr lang="en-US" sz="1350" dirty="0">
                <a:solidFill>
                  <a:srgbClr val="334155"/>
                </a:solidFill>
              </a:rPr>
              <a:t>Carry protections across agents and domains</a:t>
            </a:r>
            <a:endParaRPr lang="en-US" sz="1350" dirty="0"/>
          </a:p>
        </p:txBody>
      </p:sp>
      <p:sp>
        <p:nvSpPr>
          <p:cNvPr id="24" name="Shape 22"/>
          <p:cNvSpPr/>
          <p:nvPr/>
        </p:nvSpPr>
        <p:spPr>
          <a:xfrm>
            <a:off x="4389120" y="3566160"/>
            <a:ext cx="3337560" cy="1554480"/>
          </a:xfrm>
          <a:prstGeom prst="roundRect">
            <a:avLst>
              <a:gd name="adj" fmla="val 7059"/>
            </a:avLst>
          </a:prstGeom>
          <a:solidFill>
            <a:srgbClr val="FFFFFF"/>
          </a:solidFill>
          <a:ln w="12700">
            <a:solidFill>
              <a:srgbClr val="D9E2EF"/>
            </a:solidFill>
            <a:prstDash val="solid"/>
          </a:ln>
          <a:effectLst/>
        </p:spPr>
        <p:txBody>
          <a:bodyPr/>
          <a:lstStyle/>
          <a:p>
            <a:endParaRPr lang="en-US"/>
          </a:p>
        </p:txBody>
      </p:sp>
      <p:sp>
        <p:nvSpPr>
          <p:cNvPr id="25" name="Shape 23"/>
          <p:cNvSpPr/>
          <p:nvPr/>
        </p:nvSpPr>
        <p:spPr>
          <a:xfrm>
            <a:off x="4645152" y="3886200"/>
            <a:ext cx="566928" cy="566928"/>
          </a:xfrm>
          <a:prstGeom prst="ellipse">
            <a:avLst/>
          </a:prstGeom>
          <a:solidFill>
            <a:srgbClr val="18A66A"/>
          </a:solidFill>
          <a:ln w="12700">
            <a:solidFill>
              <a:srgbClr val="18A66A"/>
            </a:solidFill>
            <a:prstDash val="solid"/>
          </a:ln>
        </p:spPr>
        <p:txBody>
          <a:bodyPr/>
          <a:lstStyle/>
          <a:p>
            <a:endParaRPr lang="en-US"/>
          </a:p>
        </p:txBody>
      </p:sp>
      <p:sp>
        <p:nvSpPr>
          <p:cNvPr id="26" name="Text 24"/>
          <p:cNvSpPr/>
          <p:nvPr/>
        </p:nvSpPr>
        <p:spPr>
          <a:xfrm>
            <a:off x="4800600" y="4014216"/>
            <a:ext cx="256032" cy="18288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7" name="Text 25"/>
          <p:cNvSpPr/>
          <p:nvPr/>
        </p:nvSpPr>
        <p:spPr>
          <a:xfrm>
            <a:off x="5349240" y="3822192"/>
            <a:ext cx="2084832" cy="365760"/>
          </a:xfrm>
          <a:prstGeom prst="rect">
            <a:avLst/>
          </a:prstGeom>
          <a:noFill/>
          <a:ln/>
        </p:spPr>
        <p:txBody>
          <a:bodyPr wrap="square" lIns="0" tIns="0" rIns="0" bIns="0" rtlCol="0" anchor="ctr"/>
          <a:lstStyle/>
          <a:p>
            <a:pPr marL="0" indent="0">
              <a:buNone/>
            </a:pPr>
            <a:r>
              <a:rPr lang="en-US" sz="1900" b="1" dirty="0">
                <a:solidFill>
                  <a:srgbClr val="10213D"/>
                </a:solidFill>
              </a:rPr>
              <a:t>Agency and remedy</a:t>
            </a:r>
            <a:endParaRPr lang="en-US" sz="1900" dirty="0"/>
          </a:p>
        </p:txBody>
      </p:sp>
      <p:sp>
        <p:nvSpPr>
          <p:cNvPr id="28" name="Text 26"/>
          <p:cNvSpPr/>
          <p:nvPr/>
        </p:nvSpPr>
        <p:spPr>
          <a:xfrm>
            <a:off x="5349240" y="4315968"/>
            <a:ext cx="2057400" cy="585216"/>
          </a:xfrm>
          <a:prstGeom prst="rect">
            <a:avLst/>
          </a:prstGeom>
          <a:noFill/>
          <a:ln/>
        </p:spPr>
        <p:txBody>
          <a:bodyPr wrap="square" lIns="0" tIns="0" rIns="0" bIns="0" rtlCol="0" anchor="ctr">
            <a:normAutofit/>
          </a:bodyPr>
          <a:lstStyle/>
          <a:p>
            <a:pPr marL="0" indent="0">
              <a:buNone/>
            </a:pPr>
            <a:r>
              <a:rPr lang="en-US" sz="1350" dirty="0">
                <a:solidFill>
                  <a:srgbClr val="334155"/>
                </a:solidFill>
              </a:rPr>
              <a:t>Support correction, appeal and human escalation</a:t>
            </a:r>
            <a:endParaRPr lang="en-US" sz="1350" dirty="0"/>
          </a:p>
        </p:txBody>
      </p:sp>
      <p:sp>
        <p:nvSpPr>
          <p:cNvPr id="29" name="Shape 27"/>
          <p:cNvSpPr/>
          <p:nvPr/>
        </p:nvSpPr>
        <p:spPr>
          <a:xfrm>
            <a:off x="8183880" y="3566160"/>
            <a:ext cx="3337560" cy="1554480"/>
          </a:xfrm>
          <a:prstGeom prst="roundRect">
            <a:avLst>
              <a:gd name="adj" fmla="val 7059"/>
            </a:avLst>
          </a:prstGeom>
          <a:solidFill>
            <a:srgbClr val="10213D"/>
          </a:solidFill>
          <a:ln w="12700">
            <a:solidFill>
              <a:srgbClr val="10213D"/>
            </a:solidFill>
            <a:prstDash val="solid"/>
          </a:ln>
          <a:effectLst/>
        </p:spPr>
        <p:txBody>
          <a:bodyPr/>
          <a:lstStyle/>
          <a:p>
            <a:endParaRPr lang="en-US"/>
          </a:p>
        </p:txBody>
      </p:sp>
      <p:sp>
        <p:nvSpPr>
          <p:cNvPr id="30" name="Text 28"/>
          <p:cNvSpPr/>
          <p:nvPr/>
        </p:nvSpPr>
        <p:spPr>
          <a:xfrm>
            <a:off x="8458200" y="3858768"/>
            <a:ext cx="2788920" cy="347472"/>
          </a:xfrm>
          <a:prstGeom prst="rect">
            <a:avLst/>
          </a:prstGeom>
          <a:noFill/>
          <a:ln/>
        </p:spPr>
        <p:txBody>
          <a:bodyPr wrap="square" lIns="0" tIns="0" rIns="0" bIns="0" rtlCol="0" anchor="ctr"/>
          <a:lstStyle/>
          <a:p>
            <a:pPr marL="0" indent="0" algn="ctr">
              <a:buNone/>
            </a:pPr>
            <a:r>
              <a:rPr lang="en-US" sz="1900" b="1" dirty="0">
                <a:solidFill>
                  <a:srgbClr val="FFFFFF"/>
                </a:solidFill>
              </a:rPr>
              <a:t>Not a universal child identifier</a:t>
            </a:r>
            <a:endParaRPr lang="en-US" sz="1900" dirty="0"/>
          </a:p>
        </p:txBody>
      </p:sp>
      <p:sp>
        <p:nvSpPr>
          <p:cNvPr id="31" name="Text 29"/>
          <p:cNvSpPr/>
          <p:nvPr/>
        </p:nvSpPr>
        <p:spPr>
          <a:xfrm>
            <a:off x="8503920" y="4389120"/>
            <a:ext cx="2697480" cy="530352"/>
          </a:xfrm>
          <a:prstGeom prst="rect">
            <a:avLst/>
          </a:prstGeom>
          <a:noFill/>
          <a:ln/>
        </p:spPr>
        <p:txBody>
          <a:bodyPr wrap="square" lIns="0" tIns="0" rIns="0" bIns="0" rtlCol="0" anchor="ctr">
            <a:normAutofit fontScale="92500" lnSpcReduction="10000"/>
          </a:bodyPr>
          <a:lstStyle/>
          <a:p>
            <a:pPr marL="0" indent="0" algn="ctr">
              <a:buNone/>
            </a:pPr>
            <a:r>
              <a:rPr lang="en-US" sz="1350" dirty="0">
                <a:solidFill>
                  <a:srgbClr val="D9E6FA"/>
                </a:solidFill>
              </a:rPr>
              <a:t>The theme should explicitly avoid persistent tracking and unnecessary identity correlation.</a:t>
            </a:r>
            <a:endParaRPr lang="en-US" sz="1350" dirty="0"/>
          </a:p>
        </p:txBody>
      </p:sp>
      <p:sp>
        <p:nvSpPr>
          <p:cNvPr id="32" name="Slide Number Placeholder 0"/>
          <p:cNvSpPr>
            <a:spLocks noGrp="1"/>
          </p:cNvSpPr>
          <p:nvPr>
            <p:ph type="sldNum" sz="quarter" idx="4294967295"/>
          </p:nvPr>
        </p:nvSpPr>
        <p:spPr>
          <a:xfrm>
            <a:off x="1177747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657184"/>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66928" y="347472"/>
            <a:ext cx="4572000" cy="228600"/>
          </a:xfrm>
          <a:prstGeom prst="rect">
            <a:avLst/>
          </a:prstGeom>
          <a:noFill/>
          <a:ln/>
        </p:spPr>
        <p:txBody>
          <a:bodyPr wrap="square" lIns="0" tIns="0" rIns="0" bIns="0" rtlCol="0" anchor="ctr"/>
          <a:lstStyle/>
          <a:p>
            <a:pPr marL="0" indent="0">
              <a:buNone/>
            </a:pPr>
            <a:r>
              <a:rPr lang="en-US" sz="1100" b="1" kern="0" spc="160" dirty="0">
                <a:solidFill>
                  <a:srgbClr val="E60000"/>
                </a:solidFill>
              </a:rPr>
              <a:t>WHAT TIDA CAN DEFINE</a:t>
            </a:r>
            <a:endParaRPr lang="en-US" sz="1100" dirty="0"/>
          </a:p>
        </p:txBody>
      </p:sp>
      <p:sp>
        <p:nvSpPr>
          <p:cNvPr id="3" name="Text 1"/>
          <p:cNvSpPr/>
          <p:nvPr/>
        </p:nvSpPr>
        <p:spPr>
          <a:xfrm>
            <a:off x="566928" y="658368"/>
            <a:ext cx="10972800" cy="512064"/>
          </a:xfrm>
          <a:prstGeom prst="rect">
            <a:avLst/>
          </a:prstGeom>
          <a:noFill/>
          <a:ln/>
        </p:spPr>
        <p:txBody>
          <a:bodyPr wrap="square" lIns="0" tIns="0" rIns="0" bIns="0" rtlCol="0" anchor="ctr">
            <a:normAutofit/>
          </a:bodyPr>
          <a:lstStyle/>
          <a:p>
            <a:pPr marL="0" indent="0">
              <a:buNone/>
            </a:pPr>
            <a:r>
              <a:rPr lang="en-US" sz="2700" b="1" dirty="0">
                <a:solidFill>
                  <a:srgbClr val="10213D"/>
                </a:solidFill>
              </a:rPr>
              <a:t>Proposed scope for a TIDA study theme</a:t>
            </a:r>
            <a:endParaRPr lang="en-US" sz="2700" dirty="0"/>
          </a:p>
        </p:txBody>
      </p:sp>
      <p:sp>
        <p:nvSpPr>
          <p:cNvPr id="4" name="Shape 2"/>
          <p:cNvSpPr/>
          <p:nvPr/>
        </p:nvSpPr>
        <p:spPr>
          <a:xfrm>
            <a:off x="658368" y="1481328"/>
            <a:ext cx="5166360" cy="4407408"/>
          </a:xfrm>
          <a:prstGeom prst="roundRect">
            <a:avLst>
              <a:gd name="adj" fmla="val 2490"/>
            </a:avLst>
          </a:prstGeom>
          <a:solidFill>
            <a:srgbClr val="FFFFFF"/>
          </a:solidFill>
          <a:ln w="12700">
            <a:solidFill>
              <a:srgbClr val="B9CBE3"/>
            </a:solidFill>
            <a:prstDash val="solid"/>
          </a:ln>
          <a:effectLst/>
        </p:spPr>
        <p:txBody>
          <a:bodyPr/>
          <a:lstStyle/>
          <a:p>
            <a:endParaRPr lang="en-US"/>
          </a:p>
        </p:txBody>
      </p:sp>
      <p:sp>
        <p:nvSpPr>
          <p:cNvPr id="5" name="Shape 3"/>
          <p:cNvSpPr/>
          <p:nvPr/>
        </p:nvSpPr>
        <p:spPr>
          <a:xfrm>
            <a:off x="6373368" y="1481328"/>
            <a:ext cx="5166360" cy="4407408"/>
          </a:xfrm>
          <a:prstGeom prst="roundRect">
            <a:avLst>
              <a:gd name="adj" fmla="val 2490"/>
            </a:avLst>
          </a:prstGeom>
          <a:solidFill>
            <a:srgbClr val="FFFFFF"/>
          </a:solidFill>
          <a:ln w="12700">
            <a:solidFill>
              <a:srgbClr val="B9CBE3"/>
            </a:solidFill>
            <a:prstDash val="solid"/>
          </a:ln>
          <a:effectLst/>
        </p:spPr>
        <p:txBody>
          <a:bodyPr/>
          <a:lstStyle/>
          <a:p>
            <a:endParaRPr lang="en-US"/>
          </a:p>
        </p:txBody>
      </p:sp>
      <p:sp>
        <p:nvSpPr>
          <p:cNvPr id="6" name="Text 4"/>
          <p:cNvSpPr/>
          <p:nvPr/>
        </p:nvSpPr>
        <p:spPr>
          <a:xfrm>
            <a:off x="996696" y="1810512"/>
            <a:ext cx="4526280" cy="411480"/>
          </a:xfrm>
          <a:prstGeom prst="rect">
            <a:avLst/>
          </a:prstGeom>
          <a:noFill/>
          <a:ln/>
        </p:spPr>
        <p:txBody>
          <a:bodyPr wrap="square" lIns="0" tIns="0" rIns="0" bIns="0" rtlCol="0" anchor="ctr"/>
          <a:lstStyle/>
          <a:p>
            <a:pPr marL="0" indent="0" algn="ctr">
              <a:buNone/>
            </a:pPr>
            <a:r>
              <a:rPr lang="en-US" sz="2200" b="1" dirty="0">
                <a:solidFill>
                  <a:srgbClr val="10213D"/>
                </a:solidFill>
              </a:rPr>
              <a:t>Core architecture questions</a:t>
            </a:r>
            <a:endParaRPr lang="en-US" sz="2200" dirty="0"/>
          </a:p>
        </p:txBody>
      </p:sp>
      <p:sp>
        <p:nvSpPr>
          <p:cNvPr id="7" name="Text 5"/>
          <p:cNvSpPr/>
          <p:nvPr/>
        </p:nvSpPr>
        <p:spPr>
          <a:xfrm>
            <a:off x="6693408" y="1810512"/>
            <a:ext cx="4526280" cy="411480"/>
          </a:xfrm>
          <a:prstGeom prst="rect">
            <a:avLst/>
          </a:prstGeom>
          <a:noFill/>
          <a:ln/>
        </p:spPr>
        <p:txBody>
          <a:bodyPr wrap="square" lIns="0" tIns="0" rIns="0" bIns="0" rtlCol="0" anchor="ctr"/>
          <a:lstStyle/>
          <a:p>
            <a:pPr marL="0" indent="0" algn="ctr">
              <a:buNone/>
            </a:pPr>
            <a:r>
              <a:rPr lang="en-US" sz="2200" b="1" dirty="0">
                <a:solidFill>
                  <a:srgbClr val="10213D"/>
                </a:solidFill>
              </a:rPr>
              <a:t>Governance and safeguards</a:t>
            </a:r>
            <a:endParaRPr lang="en-US" sz="2200" dirty="0"/>
          </a:p>
        </p:txBody>
      </p:sp>
      <p:sp>
        <p:nvSpPr>
          <p:cNvPr id="8" name="Shape 6"/>
          <p:cNvSpPr/>
          <p:nvPr/>
        </p:nvSpPr>
        <p:spPr>
          <a:xfrm>
            <a:off x="1024128" y="2523744"/>
            <a:ext cx="210312" cy="210312"/>
          </a:xfrm>
          <a:prstGeom prst="ellipse">
            <a:avLst/>
          </a:prstGeom>
          <a:solidFill>
            <a:srgbClr val="1677FF"/>
          </a:solidFill>
          <a:ln w="12700">
            <a:solidFill>
              <a:srgbClr val="1677FF"/>
            </a:solidFill>
            <a:prstDash val="solid"/>
          </a:ln>
        </p:spPr>
        <p:txBody>
          <a:bodyPr/>
          <a:lstStyle/>
          <a:p>
            <a:endParaRPr lang="en-US"/>
          </a:p>
        </p:txBody>
      </p:sp>
      <p:sp>
        <p:nvSpPr>
          <p:cNvPr id="9" name="Text 7"/>
          <p:cNvSpPr/>
          <p:nvPr/>
        </p:nvSpPr>
        <p:spPr>
          <a:xfrm>
            <a:off x="1389888" y="2487168"/>
            <a:ext cx="4160520" cy="384048"/>
          </a:xfrm>
          <a:prstGeom prst="rect">
            <a:avLst/>
          </a:prstGeom>
          <a:noFill/>
          <a:ln/>
        </p:spPr>
        <p:txBody>
          <a:bodyPr wrap="square" lIns="0" tIns="0" rIns="0" bIns="0" rtlCol="0" anchor="ctr">
            <a:normAutofit/>
          </a:bodyPr>
          <a:lstStyle/>
          <a:p>
            <a:pPr marL="0" indent="0">
              <a:buNone/>
            </a:pPr>
            <a:r>
              <a:rPr lang="en-US" sz="1550" dirty="0">
                <a:solidFill>
                  <a:srgbClr val="334155"/>
                </a:solidFill>
              </a:rPr>
              <a:t>Identity and attribute model for a child profile</a:t>
            </a:r>
            <a:endParaRPr lang="en-US" sz="1550" dirty="0"/>
          </a:p>
        </p:txBody>
      </p:sp>
      <p:sp>
        <p:nvSpPr>
          <p:cNvPr id="10" name="Shape 8"/>
          <p:cNvSpPr/>
          <p:nvPr/>
        </p:nvSpPr>
        <p:spPr>
          <a:xfrm>
            <a:off x="1024128" y="3127248"/>
            <a:ext cx="210312" cy="210312"/>
          </a:xfrm>
          <a:prstGeom prst="ellipse">
            <a:avLst/>
          </a:prstGeom>
          <a:solidFill>
            <a:srgbClr val="1677FF"/>
          </a:solidFill>
          <a:ln w="12700">
            <a:solidFill>
              <a:srgbClr val="1677FF"/>
            </a:solidFill>
            <a:prstDash val="solid"/>
          </a:ln>
        </p:spPr>
        <p:txBody>
          <a:bodyPr/>
          <a:lstStyle/>
          <a:p>
            <a:endParaRPr lang="en-US"/>
          </a:p>
        </p:txBody>
      </p:sp>
      <p:sp>
        <p:nvSpPr>
          <p:cNvPr id="11" name="Text 9"/>
          <p:cNvSpPr/>
          <p:nvPr/>
        </p:nvSpPr>
        <p:spPr>
          <a:xfrm>
            <a:off x="1389888" y="3090672"/>
            <a:ext cx="4160520" cy="384048"/>
          </a:xfrm>
          <a:prstGeom prst="rect">
            <a:avLst/>
          </a:prstGeom>
          <a:noFill/>
          <a:ln/>
        </p:spPr>
        <p:txBody>
          <a:bodyPr wrap="square" lIns="0" tIns="0" rIns="0" bIns="0" rtlCol="0" anchor="ctr">
            <a:normAutofit fontScale="92500"/>
          </a:bodyPr>
          <a:lstStyle/>
          <a:p>
            <a:pPr marL="0" indent="0">
              <a:buNone/>
            </a:pPr>
            <a:r>
              <a:rPr lang="en-US" sz="1550" dirty="0">
                <a:solidFill>
                  <a:srgbClr val="334155"/>
                </a:solidFill>
              </a:rPr>
              <a:t>Delegation from guardian or accountable authority</a:t>
            </a:r>
            <a:endParaRPr lang="en-US" sz="1550" dirty="0"/>
          </a:p>
        </p:txBody>
      </p:sp>
      <p:sp>
        <p:nvSpPr>
          <p:cNvPr id="12" name="Shape 10"/>
          <p:cNvSpPr/>
          <p:nvPr/>
        </p:nvSpPr>
        <p:spPr>
          <a:xfrm>
            <a:off x="1024128" y="3730752"/>
            <a:ext cx="210312" cy="210312"/>
          </a:xfrm>
          <a:prstGeom prst="ellipse">
            <a:avLst/>
          </a:prstGeom>
          <a:solidFill>
            <a:srgbClr val="1677FF"/>
          </a:solidFill>
          <a:ln w="12700">
            <a:solidFill>
              <a:srgbClr val="1677FF"/>
            </a:solidFill>
            <a:prstDash val="solid"/>
          </a:ln>
        </p:spPr>
        <p:txBody>
          <a:bodyPr/>
          <a:lstStyle/>
          <a:p>
            <a:endParaRPr lang="en-US"/>
          </a:p>
        </p:txBody>
      </p:sp>
      <p:sp>
        <p:nvSpPr>
          <p:cNvPr id="13" name="Text 11"/>
          <p:cNvSpPr/>
          <p:nvPr/>
        </p:nvSpPr>
        <p:spPr>
          <a:xfrm>
            <a:off x="1389888" y="3694176"/>
            <a:ext cx="4160520" cy="384048"/>
          </a:xfrm>
          <a:prstGeom prst="rect">
            <a:avLst/>
          </a:prstGeom>
          <a:noFill/>
          <a:ln/>
        </p:spPr>
        <p:txBody>
          <a:bodyPr wrap="square" lIns="0" tIns="0" rIns="0" bIns="0" rtlCol="0" anchor="ctr">
            <a:normAutofit/>
          </a:bodyPr>
          <a:lstStyle/>
          <a:p>
            <a:pPr marL="0" indent="0">
              <a:buNone/>
            </a:pPr>
            <a:r>
              <a:rPr lang="en-US" sz="1550" dirty="0">
                <a:solidFill>
                  <a:srgbClr val="334155"/>
                </a:solidFill>
              </a:rPr>
              <a:t>Age-band and protection-class assertions</a:t>
            </a:r>
            <a:endParaRPr lang="en-US" sz="1550" dirty="0"/>
          </a:p>
        </p:txBody>
      </p:sp>
      <p:sp>
        <p:nvSpPr>
          <p:cNvPr id="14" name="Shape 12"/>
          <p:cNvSpPr/>
          <p:nvPr/>
        </p:nvSpPr>
        <p:spPr>
          <a:xfrm>
            <a:off x="1024128" y="4334256"/>
            <a:ext cx="210312" cy="210312"/>
          </a:xfrm>
          <a:prstGeom prst="ellipse">
            <a:avLst/>
          </a:prstGeom>
          <a:solidFill>
            <a:srgbClr val="1677FF"/>
          </a:solidFill>
          <a:ln w="12700">
            <a:solidFill>
              <a:srgbClr val="1677FF"/>
            </a:solidFill>
            <a:prstDash val="solid"/>
          </a:ln>
        </p:spPr>
        <p:txBody>
          <a:bodyPr/>
          <a:lstStyle/>
          <a:p>
            <a:endParaRPr lang="en-US"/>
          </a:p>
        </p:txBody>
      </p:sp>
      <p:sp>
        <p:nvSpPr>
          <p:cNvPr id="15" name="Text 13"/>
          <p:cNvSpPr/>
          <p:nvPr/>
        </p:nvSpPr>
        <p:spPr>
          <a:xfrm>
            <a:off x="1389888" y="4297680"/>
            <a:ext cx="4160520" cy="384048"/>
          </a:xfrm>
          <a:prstGeom prst="rect">
            <a:avLst/>
          </a:prstGeom>
          <a:noFill/>
          <a:ln/>
        </p:spPr>
        <p:txBody>
          <a:bodyPr wrap="square" lIns="0" tIns="0" rIns="0" bIns="0" rtlCol="0" anchor="ctr">
            <a:normAutofit/>
          </a:bodyPr>
          <a:lstStyle/>
          <a:p>
            <a:pPr marL="0" indent="0">
              <a:buNone/>
            </a:pPr>
            <a:r>
              <a:rPr lang="en-US" sz="1550" dirty="0">
                <a:solidFill>
                  <a:srgbClr val="334155"/>
                </a:solidFill>
              </a:rPr>
              <a:t>Consent, scope, expiry and revocation semantics</a:t>
            </a:r>
            <a:endParaRPr lang="en-US" sz="1550" dirty="0"/>
          </a:p>
        </p:txBody>
      </p:sp>
      <p:sp>
        <p:nvSpPr>
          <p:cNvPr id="16" name="Shape 14"/>
          <p:cNvSpPr/>
          <p:nvPr/>
        </p:nvSpPr>
        <p:spPr>
          <a:xfrm>
            <a:off x="1024128" y="4937760"/>
            <a:ext cx="210312" cy="210312"/>
          </a:xfrm>
          <a:prstGeom prst="ellipse">
            <a:avLst/>
          </a:prstGeom>
          <a:solidFill>
            <a:srgbClr val="1677FF"/>
          </a:solidFill>
          <a:ln w="12700">
            <a:solidFill>
              <a:srgbClr val="1677FF"/>
            </a:solidFill>
            <a:prstDash val="solid"/>
          </a:ln>
        </p:spPr>
        <p:txBody>
          <a:bodyPr/>
          <a:lstStyle/>
          <a:p>
            <a:endParaRPr lang="en-US"/>
          </a:p>
        </p:txBody>
      </p:sp>
      <p:sp>
        <p:nvSpPr>
          <p:cNvPr id="17" name="Text 15"/>
          <p:cNvSpPr/>
          <p:nvPr/>
        </p:nvSpPr>
        <p:spPr>
          <a:xfrm>
            <a:off x="1389888" y="4901184"/>
            <a:ext cx="4160520" cy="384048"/>
          </a:xfrm>
          <a:prstGeom prst="rect">
            <a:avLst/>
          </a:prstGeom>
          <a:noFill/>
          <a:ln/>
        </p:spPr>
        <p:txBody>
          <a:bodyPr wrap="square" lIns="0" tIns="0" rIns="0" bIns="0" rtlCol="0" anchor="ctr">
            <a:normAutofit/>
          </a:bodyPr>
          <a:lstStyle/>
          <a:p>
            <a:pPr marL="0" indent="0">
              <a:buNone/>
            </a:pPr>
            <a:r>
              <a:rPr lang="en-US" sz="1550" dirty="0">
                <a:solidFill>
                  <a:srgbClr val="334155"/>
                </a:solidFill>
              </a:rPr>
              <a:t>Cross-agent and cross-domain portability</a:t>
            </a:r>
            <a:endParaRPr lang="en-US" sz="1550" dirty="0"/>
          </a:p>
        </p:txBody>
      </p:sp>
      <p:sp>
        <p:nvSpPr>
          <p:cNvPr id="18" name="Shape 16"/>
          <p:cNvSpPr/>
          <p:nvPr/>
        </p:nvSpPr>
        <p:spPr>
          <a:xfrm>
            <a:off x="6739128" y="2523744"/>
            <a:ext cx="210312" cy="210312"/>
          </a:xfrm>
          <a:prstGeom prst="ellipse">
            <a:avLst/>
          </a:prstGeom>
          <a:solidFill>
            <a:srgbClr val="FF6B5E"/>
          </a:solidFill>
          <a:ln w="12700">
            <a:solidFill>
              <a:srgbClr val="FF6B5E"/>
            </a:solidFill>
            <a:prstDash val="solid"/>
          </a:ln>
        </p:spPr>
        <p:txBody>
          <a:bodyPr/>
          <a:lstStyle/>
          <a:p>
            <a:endParaRPr lang="en-US"/>
          </a:p>
        </p:txBody>
      </p:sp>
      <p:sp>
        <p:nvSpPr>
          <p:cNvPr id="19" name="Text 17"/>
          <p:cNvSpPr/>
          <p:nvPr/>
        </p:nvSpPr>
        <p:spPr>
          <a:xfrm>
            <a:off x="7104888" y="2487168"/>
            <a:ext cx="4160520" cy="384048"/>
          </a:xfrm>
          <a:prstGeom prst="rect">
            <a:avLst/>
          </a:prstGeom>
          <a:noFill/>
          <a:ln/>
        </p:spPr>
        <p:txBody>
          <a:bodyPr wrap="square" lIns="0" tIns="0" rIns="0" bIns="0" rtlCol="0" anchor="ctr">
            <a:normAutofit/>
          </a:bodyPr>
          <a:lstStyle/>
          <a:p>
            <a:pPr marL="0" indent="0">
              <a:buNone/>
            </a:pPr>
            <a:r>
              <a:rPr lang="en-US" sz="1550" dirty="0">
                <a:solidFill>
                  <a:srgbClr val="334155"/>
                </a:solidFill>
              </a:rPr>
              <a:t>Privacy and unlinkability requirements</a:t>
            </a:r>
            <a:endParaRPr lang="en-US" sz="1550" dirty="0"/>
          </a:p>
        </p:txBody>
      </p:sp>
      <p:sp>
        <p:nvSpPr>
          <p:cNvPr id="20" name="Shape 18"/>
          <p:cNvSpPr/>
          <p:nvPr/>
        </p:nvSpPr>
        <p:spPr>
          <a:xfrm>
            <a:off x="6739128" y="3127248"/>
            <a:ext cx="210312" cy="210312"/>
          </a:xfrm>
          <a:prstGeom prst="ellipse">
            <a:avLst/>
          </a:prstGeom>
          <a:solidFill>
            <a:srgbClr val="FF6B5E"/>
          </a:solidFill>
          <a:ln w="12700">
            <a:solidFill>
              <a:srgbClr val="FF6B5E"/>
            </a:solidFill>
            <a:prstDash val="solid"/>
          </a:ln>
        </p:spPr>
        <p:txBody>
          <a:bodyPr/>
          <a:lstStyle/>
          <a:p>
            <a:endParaRPr lang="en-US"/>
          </a:p>
        </p:txBody>
      </p:sp>
      <p:sp>
        <p:nvSpPr>
          <p:cNvPr id="21" name="Text 19"/>
          <p:cNvSpPr/>
          <p:nvPr/>
        </p:nvSpPr>
        <p:spPr>
          <a:xfrm>
            <a:off x="7104888" y="3090672"/>
            <a:ext cx="4160520" cy="384048"/>
          </a:xfrm>
          <a:prstGeom prst="rect">
            <a:avLst/>
          </a:prstGeom>
          <a:noFill/>
          <a:ln/>
        </p:spPr>
        <p:txBody>
          <a:bodyPr wrap="square" lIns="0" tIns="0" rIns="0" bIns="0" rtlCol="0" anchor="ctr">
            <a:normAutofit/>
          </a:bodyPr>
          <a:lstStyle/>
          <a:p>
            <a:pPr marL="0" indent="0">
              <a:buNone/>
            </a:pPr>
            <a:r>
              <a:rPr lang="en-US" sz="1550" dirty="0">
                <a:solidFill>
                  <a:srgbClr val="334155"/>
                </a:solidFill>
              </a:rPr>
              <a:t>Auditability, evidence and accountability</a:t>
            </a:r>
            <a:endParaRPr lang="en-US" sz="1550" dirty="0"/>
          </a:p>
        </p:txBody>
      </p:sp>
      <p:sp>
        <p:nvSpPr>
          <p:cNvPr id="22" name="Shape 20"/>
          <p:cNvSpPr/>
          <p:nvPr/>
        </p:nvSpPr>
        <p:spPr>
          <a:xfrm>
            <a:off x="6739128" y="3730752"/>
            <a:ext cx="210312" cy="210312"/>
          </a:xfrm>
          <a:prstGeom prst="ellipse">
            <a:avLst/>
          </a:prstGeom>
          <a:solidFill>
            <a:srgbClr val="FF6B5E"/>
          </a:solidFill>
          <a:ln w="12700">
            <a:solidFill>
              <a:srgbClr val="FF6B5E"/>
            </a:solidFill>
            <a:prstDash val="solid"/>
          </a:ln>
        </p:spPr>
        <p:txBody>
          <a:bodyPr/>
          <a:lstStyle/>
          <a:p>
            <a:endParaRPr lang="en-US"/>
          </a:p>
        </p:txBody>
      </p:sp>
      <p:sp>
        <p:nvSpPr>
          <p:cNvPr id="23" name="Text 21"/>
          <p:cNvSpPr/>
          <p:nvPr/>
        </p:nvSpPr>
        <p:spPr>
          <a:xfrm>
            <a:off x="7104888" y="3694176"/>
            <a:ext cx="4160520" cy="384048"/>
          </a:xfrm>
          <a:prstGeom prst="rect">
            <a:avLst/>
          </a:prstGeom>
          <a:noFill/>
          <a:ln/>
        </p:spPr>
        <p:txBody>
          <a:bodyPr wrap="square" lIns="0" tIns="0" rIns="0" bIns="0" rtlCol="0" anchor="ctr">
            <a:normAutofit/>
          </a:bodyPr>
          <a:lstStyle/>
          <a:p>
            <a:pPr marL="0" indent="0">
              <a:buNone/>
            </a:pPr>
            <a:r>
              <a:rPr lang="en-US" sz="1550" dirty="0">
                <a:solidFill>
                  <a:srgbClr val="334155"/>
                </a:solidFill>
              </a:rPr>
              <a:t>Conflict handling across laws and policies</a:t>
            </a:r>
            <a:endParaRPr lang="en-US" sz="1550" dirty="0"/>
          </a:p>
        </p:txBody>
      </p:sp>
      <p:sp>
        <p:nvSpPr>
          <p:cNvPr id="24" name="Shape 22"/>
          <p:cNvSpPr/>
          <p:nvPr/>
        </p:nvSpPr>
        <p:spPr>
          <a:xfrm>
            <a:off x="6739128" y="4334256"/>
            <a:ext cx="210312" cy="210312"/>
          </a:xfrm>
          <a:prstGeom prst="ellipse">
            <a:avLst/>
          </a:prstGeom>
          <a:solidFill>
            <a:srgbClr val="FF6B5E"/>
          </a:solidFill>
          <a:ln w="12700">
            <a:solidFill>
              <a:srgbClr val="FF6B5E"/>
            </a:solidFill>
            <a:prstDash val="solid"/>
          </a:ln>
        </p:spPr>
        <p:txBody>
          <a:bodyPr/>
          <a:lstStyle/>
          <a:p>
            <a:endParaRPr lang="en-US"/>
          </a:p>
        </p:txBody>
      </p:sp>
      <p:sp>
        <p:nvSpPr>
          <p:cNvPr id="25" name="Text 23"/>
          <p:cNvSpPr/>
          <p:nvPr/>
        </p:nvSpPr>
        <p:spPr>
          <a:xfrm>
            <a:off x="7104888" y="4297680"/>
            <a:ext cx="4160520" cy="384048"/>
          </a:xfrm>
          <a:prstGeom prst="rect">
            <a:avLst/>
          </a:prstGeom>
          <a:noFill/>
          <a:ln/>
        </p:spPr>
        <p:txBody>
          <a:bodyPr wrap="square" lIns="0" tIns="0" rIns="0" bIns="0" rtlCol="0" anchor="ctr">
            <a:normAutofit/>
          </a:bodyPr>
          <a:lstStyle/>
          <a:p>
            <a:pPr marL="0" indent="0">
              <a:buNone/>
            </a:pPr>
            <a:r>
              <a:rPr lang="en-US" sz="1550" dirty="0">
                <a:solidFill>
                  <a:srgbClr val="334155"/>
                </a:solidFill>
              </a:rPr>
              <a:t>Human escalation and remedy conditions</a:t>
            </a:r>
            <a:endParaRPr lang="en-US" sz="1550" dirty="0"/>
          </a:p>
        </p:txBody>
      </p:sp>
      <p:sp>
        <p:nvSpPr>
          <p:cNvPr id="26" name="Shape 24"/>
          <p:cNvSpPr/>
          <p:nvPr/>
        </p:nvSpPr>
        <p:spPr>
          <a:xfrm>
            <a:off x="6739128" y="4937760"/>
            <a:ext cx="210312" cy="210312"/>
          </a:xfrm>
          <a:prstGeom prst="ellipse">
            <a:avLst/>
          </a:prstGeom>
          <a:solidFill>
            <a:srgbClr val="FF6B5E"/>
          </a:solidFill>
          <a:ln w="12700">
            <a:solidFill>
              <a:srgbClr val="FF6B5E"/>
            </a:solidFill>
            <a:prstDash val="solid"/>
          </a:ln>
        </p:spPr>
        <p:txBody>
          <a:bodyPr/>
          <a:lstStyle/>
          <a:p>
            <a:endParaRPr lang="en-US"/>
          </a:p>
        </p:txBody>
      </p:sp>
      <p:sp>
        <p:nvSpPr>
          <p:cNvPr id="27" name="Text 25"/>
          <p:cNvSpPr/>
          <p:nvPr/>
        </p:nvSpPr>
        <p:spPr>
          <a:xfrm>
            <a:off x="7104888" y="4901184"/>
            <a:ext cx="4160520" cy="384048"/>
          </a:xfrm>
          <a:prstGeom prst="rect">
            <a:avLst/>
          </a:prstGeom>
          <a:noFill/>
          <a:ln/>
        </p:spPr>
        <p:txBody>
          <a:bodyPr wrap="square" lIns="0" tIns="0" rIns="0" bIns="0" rtlCol="0" anchor="ctr">
            <a:normAutofit/>
          </a:bodyPr>
          <a:lstStyle/>
          <a:p>
            <a:pPr marL="0" indent="0">
              <a:buNone/>
            </a:pPr>
            <a:r>
              <a:rPr lang="en-US" sz="1550" dirty="0">
                <a:solidFill>
                  <a:srgbClr val="334155"/>
                </a:solidFill>
              </a:rPr>
              <a:t>Interfaces with AI policy and enforcement layers</a:t>
            </a:r>
            <a:endParaRPr lang="en-US" sz="1550" dirty="0"/>
          </a:p>
        </p:txBody>
      </p:sp>
      <p:sp>
        <p:nvSpPr>
          <p:cNvPr id="28" name="Slide Number Placeholder 0"/>
          <p:cNvSpPr>
            <a:spLocks noGrp="1"/>
          </p:cNvSpPr>
          <p:nvPr>
            <p:ph type="sldNum" sz="quarter" idx="4294967295"/>
          </p:nvPr>
        </p:nvSpPr>
        <p:spPr>
          <a:xfrm>
            <a:off x="1177747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657184"/>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213D"/>
        </a:solidFill>
        <a:effectLst/>
      </p:bgPr>
    </p:bg>
    <p:spTree>
      <p:nvGrpSpPr>
        <p:cNvPr id="1" name=""/>
        <p:cNvGrpSpPr/>
        <p:nvPr/>
      </p:nvGrpSpPr>
      <p:grpSpPr>
        <a:xfrm>
          <a:off x="0" y="0"/>
          <a:ext cx="1" cy="1"/>
          <a:chOff x="0" y="0"/>
          <a:chExt cx="1" cy="1"/>
        </a:xfrm>
      </p:grpSpPr>
      <p:sp>
        <p:nvSpPr>
          <p:cNvPr id="2" name="Shape 0"/>
          <p:cNvSpPr/>
          <p:nvPr/>
        </p:nvSpPr>
        <p:spPr>
          <a:xfrm>
            <a:off x="0" y="0"/>
            <a:ext cx="12191695" cy="6858000"/>
          </a:xfrm>
          <a:prstGeom prst="rect">
            <a:avLst/>
          </a:prstGeom>
          <a:solidFill>
            <a:srgbClr val="10213D"/>
          </a:solidFill>
          <a:ln w="12700">
            <a:solidFill>
              <a:srgbClr val="10213D"/>
            </a:solidFill>
            <a:prstDash val="solid"/>
          </a:ln>
        </p:spPr>
        <p:txBody>
          <a:bodyPr/>
          <a:lstStyle/>
          <a:p>
            <a:endParaRPr lang="en-US"/>
          </a:p>
        </p:txBody>
      </p:sp>
      <p:sp>
        <p:nvSpPr>
          <p:cNvPr id="3" name="Text 1"/>
          <p:cNvSpPr/>
          <p:nvPr/>
        </p:nvSpPr>
        <p:spPr>
          <a:xfrm>
            <a:off x="658368" y="685800"/>
            <a:ext cx="8046720" cy="548640"/>
          </a:xfrm>
          <a:prstGeom prst="rect">
            <a:avLst/>
          </a:prstGeom>
          <a:noFill/>
          <a:ln/>
        </p:spPr>
        <p:txBody>
          <a:bodyPr wrap="square" lIns="0" tIns="0" rIns="0" bIns="0" rtlCol="0" anchor="ctr"/>
          <a:lstStyle/>
          <a:p>
            <a:pPr marL="0" indent="0">
              <a:buNone/>
            </a:pPr>
            <a:r>
              <a:rPr lang="en-US" sz="3000" b="1" dirty="0">
                <a:solidFill>
                  <a:srgbClr val="FFFFFF"/>
                </a:solidFill>
              </a:rPr>
              <a:t>The decision requested from TIDA</a:t>
            </a:r>
            <a:endParaRPr lang="en-US" sz="3000" dirty="0"/>
          </a:p>
        </p:txBody>
      </p:sp>
      <p:sp>
        <p:nvSpPr>
          <p:cNvPr id="4" name="Text 2"/>
          <p:cNvSpPr/>
          <p:nvPr/>
        </p:nvSpPr>
        <p:spPr>
          <a:xfrm>
            <a:off x="685800" y="1417320"/>
            <a:ext cx="9875520" cy="685800"/>
          </a:xfrm>
          <a:prstGeom prst="rect">
            <a:avLst/>
          </a:prstGeom>
          <a:noFill/>
          <a:ln/>
        </p:spPr>
        <p:txBody>
          <a:bodyPr wrap="square" lIns="0" tIns="0" rIns="0" bIns="0" rtlCol="0" anchor="ctr"/>
          <a:lstStyle/>
          <a:p>
            <a:pPr marL="0" indent="0">
              <a:buNone/>
            </a:pPr>
            <a:r>
              <a:rPr lang="en-US" sz="2500" b="1" dirty="0">
                <a:solidFill>
                  <a:srgbClr val="CFE1FA"/>
                </a:solidFill>
              </a:rPr>
              <a:t>Open a dedicated theme on child-aware delegated identity for Agentic AI.</a:t>
            </a:r>
            <a:endParaRPr lang="en-US" sz="2500" dirty="0"/>
          </a:p>
        </p:txBody>
      </p:sp>
      <p:sp>
        <p:nvSpPr>
          <p:cNvPr id="5" name="Shape 3"/>
          <p:cNvSpPr/>
          <p:nvPr/>
        </p:nvSpPr>
        <p:spPr>
          <a:xfrm>
            <a:off x="749808" y="2468880"/>
            <a:ext cx="621792" cy="621792"/>
          </a:xfrm>
          <a:prstGeom prst="ellipse">
            <a:avLst/>
          </a:prstGeom>
          <a:solidFill>
            <a:srgbClr val="E60000"/>
          </a:solidFill>
          <a:ln w="12700">
            <a:solidFill>
              <a:srgbClr val="E60000"/>
            </a:solidFill>
            <a:prstDash val="solid"/>
          </a:ln>
        </p:spPr>
        <p:txBody>
          <a:bodyPr/>
          <a:lstStyle/>
          <a:p>
            <a:endParaRPr lang="en-US"/>
          </a:p>
        </p:txBody>
      </p:sp>
      <p:sp>
        <p:nvSpPr>
          <p:cNvPr id="6" name="Text 4"/>
          <p:cNvSpPr/>
          <p:nvPr/>
        </p:nvSpPr>
        <p:spPr>
          <a:xfrm>
            <a:off x="932688" y="2615184"/>
            <a:ext cx="256032" cy="22860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Text 5"/>
          <p:cNvSpPr/>
          <p:nvPr/>
        </p:nvSpPr>
        <p:spPr>
          <a:xfrm>
            <a:off x="1627632" y="2450592"/>
            <a:ext cx="2423160" cy="329184"/>
          </a:xfrm>
          <a:prstGeom prst="rect">
            <a:avLst/>
          </a:prstGeom>
          <a:noFill/>
          <a:ln/>
        </p:spPr>
        <p:txBody>
          <a:bodyPr wrap="square" lIns="0" tIns="0" rIns="0" bIns="0" rtlCol="0" anchor="ctr"/>
          <a:lstStyle/>
          <a:p>
            <a:pPr marL="0" indent="0">
              <a:buNone/>
            </a:pPr>
            <a:r>
              <a:rPr lang="en-US" sz="1900" b="1" dirty="0">
                <a:solidFill>
                  <a:srgbClr val="FFFFFF"/>
                </a:solidFill>
              </a:rPr>
              <a:t>Recognise the gap</a:t>
            </a:r>
            <a:endParaRPr lang="en-US" sz="1900" dirty="0"/>
          </a:p>
        </p:txBody>
      </p:sp>
      <p:sp>
        <p:nvSpPr>
          <p:cNvPr id="8" name="Text 6"/>
          <p:cNvSpPr/>
          <p:nvPr/>
        </p:nvSpPr>
        <p:spPr>
          <a:xfrm>
            <a:off x="4114800" y="2450592"/>
            <a:ext cx="6263640" cy="493776"/>
          </a:xfrm>
          <a:prstGeom prst="rect">
            <a:avLst/>
          </a:prstGeom>
          <a:noFill/>
          <a:ln/>
        </p:spPr>
        <p:txBody>
          <a:bodyPr wrap="square" lIns="0" tIns="0" rIns="0" bIns="0" rtlCol="0" anchor="ctr">
            <a:normAutofit/>
          </a:bodyPr>
          <a:lstStyle/>
          <a:p>
            <a:pPr marL="0" indent="0">
              <a:buNone/>
            </a:pPr>
            <a:r>
              <a:rPr lang="en-US" sz="1600" dirty="0">
                <a:solidFill>
                  <a:srgbClr val="D9E6FA"/>
                </a:solidFill>
              </a:rPr>
              <a:t>Age assurance alone does not make agent delegation child-aware.</a:t>
            </a:r>
            <a:endParaRPr lang="en-US" sz="1600" dirty="0"/>
          </a:p>
        </p:txBody>
      </p:sp>
      <p:sp>
        <p:nvSpPr>
          <p:cNvPr id="9" name="Shape 7"/>
          <p:cNvSpPr/>
          <p:nvPr/>
        </p:nvSpPr>
        <p:spPr>
          <a:xfrm>
            <a:off x="749808" y="3474720"/>
            <a:ext cx="621792" cy="621792"/>
          </a:xfrm>
          <a:prstGeom prst="ellipse">
            <a:avLst/>
          </a:prstGeom>
          <a:solidFill>
            <a:srgbClr val="34C6D3"/>
          </a:solidFill>
          <a:ln w="12700">
            <a:solidFill>
              <a:srgbClr val="34C6D3"/>
            </a:solidFill>
            <a:prstDash val="solid"/>
          </a:ln>
        </p:spPr>
        <p:txBody>
          <a:bodyPr/>
          <a:lstStyle/>
          <a:p>
            <a:endParaRPr lang="en-US"/>
          </a:p>
        </p:txBody>
      </p:sp>
      <p:sp>
        <p:nvSpPr>
          <p:cNvPr id="10" name="Text 8"/>
          <p:cNvSpPr/>
          <p:nvPr/>
        </p:nvSpPr>
        <p:spPr>
          <a:xfrm>
            <a:off x="932688" y="3621024"/>
            <a:ext cx="256032" cy="22860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1" name="Text 9"/>
          <p:cNvSpPr/>
          <p:nvPr/>
        </p:nvSpPr>
        <p:spPr>
          <a:xfrm>
            <a:off x="1627632" y="3456432"/>
            <a:ext cx="2423160" cy="329184"/>
          </a:xfrm>
          <a:prstGeom prst="rect">
            <a:avLst/>
          </a:prstGeom>
          <a:noFill/>
          <a:ln/>
        </p:spPr>
        <p:txBody>
          <a:bodyPr wrap="square" lIns="0" tIns="0" rIns="0" bIns="0" rtlCol="0" anchor="ctr"/>
          <a:lstStyle/>
          <a:p>
            <a:pPr marL="0" indent="0">
              <a:buNone/>
            </a:pPr>
            <a:r>
              <a:rPr lang="en-US" sz="1900" b="1" dirty="0">
                <a:solidFill>
                  <a:srgbClr val="FFFFFF"/>
                </a:solidFill>
              </a:rPr>
              <a:t>Frame the study</a:t>
            </a:r>
            <a:endParaRPr lang="en-US" sz="1900" dirty="0"/>
          </a:p>
        </p:txBody>
      </p:sp>
      <p:sp>
        <p:nvSpPr>
          <p:cNvPr id="12" name="Text 10"/>
          <p:cNvSpPr/>
          <p:nvPr/>
        </p:nvSpPr>
        <p:spPr>
          <a:xfrm>
            <a:off x="4114800" y="3456432"/>
            <a:ext cx="6263640" cy="493776"/>
          </a:xfrm>
          <a:prstGeom prst="rect">
            <a:avLst/>
          </a:prstGeom>
          <a:noFill/>
          <a:ln/>
        </p:spPr>
        <p:txBody>
          <a:bodyPr wrap="square" lIns="0" tIns="0" rIns="0" bIns="0" rtlCol="0" anchor="ctr">
            <a:normAutofit/>
          </a:bodyPr>
          <a:lstStyle/>
          <a:p>
            <a:pPr marL="0" indent="0">
              <a:buNone/>
            </a:pPr>
            <a:r>
              <a:rPr lang="en-US" sz="1600" dirty="0">
                <a:solidFill>
                  <a:srgbClr val="D9E6FA"/>
                </a:solidFill>
              </a:rPr>
              <a:t>Define requirements, safeguards and interfaces, not a product.</a:t>
            </a:r>
            <a:endParaRPr lang="en-US" sz="1600" dirty="0"/>
          </a:p>
        </p:txBody>
      </p:sp>
      <p:sp>
        <p:nvSpPr>
          <p:cNvPr id="13" name="Shape 11"/>
          <p:cNvSpPr/>
          <p:nvPr/>
        </p:nvSpPr>
        <p:spPr>
          <a:xfrm>
            <a:off x="749808" y="4480560"/>
            <a:ext cx="621792" cy="621792"/>
          </a:xfrm>
          <a:prstGeom prst="ellipse">
            <a:avLst/>
          </a:prstGeom>
          <a:solidFill>
            <a:srgbClr val="18A66A"/>
          </a:solidFill>
          <a:ln w="12700">
            <a:solidFill>
              <a:srgbClr val="18A66A"/>
            </a:solidFill>
            <a:prstDash val="solid"/>
          </a:ln>
        </p:spPr>
        <p:txBody>
          <a:bodyPr/>
          <a:lstStyle/>
          <a:p>
            <a:endParaRPr lang="en-US"/>
          </a:p>
        </p:txBody>
      </p:sp>
      <p:sp>
        <p:nvSpPr>
          <p:cNvPr id="14" name="Text 12"/>
          <p:cNvSpPr/>
          <p:nvPr/>
        </p:nvSpPr>
        <p:spPr>
          <a:xfrm>
            <a:off x="932688" y="4626864"/>
            <a:ext cx="256032" cy="22860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5" name="Text 13"/>
          <p:cNvSpPr/>
          <p:nvPr/>
        </p:nvSpPr>
        <p:spPr>
          <a:xfrm>
            <a:off x="1627632" y="4462272"/>
            <a:ext cx="2423160" cy="329184"/>
          </a:xfrm>
          <a:prstGeom prst="rect">
            <a:avLst/>
          </a:prstGeom>
          <a:noFill/>
          <a:ln/>
        </p:spPr>
        <p:txBody>
          <a:bodyPr wrap="square" lIns="0" tIns="0" rIns="0" bIns="0" rtlCol="0" anchor="ctr"/>
          <a:lstStyle/>
          <a:p>
            <a:pPr marL="0" indent="0">
              <a:buNone/>
            </a:pPr>
            <a:r>
              <a:rPr lang="en-US" sz="1900" b="1" dirty="0">
                <a:solidFill>
                  <a:srgbClr val="FFFFFF"/>
                </a:solidFill>
              </a:rPr>
              <a:t>Connect the work</a:t>
            </a:r>
            <a:endParaRPr lang="en-US" sz="1900" dirty="0"/>
          </a:p>
        </p:txBody>
      </p:sp>
      <p:sp>
        <p:nvSpPr>
          <p:cNvPr id="16" name="Text 14"/>
          <p:cNvSpPr/>
          <p:nvPr/>
        </p:nvSpPr>
        <p:spPr>
          <a:xfrm>
            <a:off x="4114800" y="4462272"/>
            <a:ext cx="6263640" cy="493776"/>
          </a:xfrm>
          <a:prstGeom prst="rect">
            <a:avLst/>
          </a:prstGeom>
          <a:noFill/>
          <a:ln/>
        </p:spPr>
        <p:txBody>
          <a:bodyPr wrap="square" lIns="0" tIns="0" rIns="0" bIns="0" rtlCol="0" anchor="ctr">
            <a:normAutofit/>
          </a:bodyPr>
          <a:lstStyle/>
          <a:p>
            <a:pPr marL="0" indent="0">
              <a:buNone/>
            </a:pPr>
            <a:r>
              <a:rPr lang="en-US" sz="1600" dirty="0">
                <a:solidFill>
                  <a:srgbClr val="D9E6FA"/>
                </a:solidFill>
              </a:rPr>
              <a:t>Link agent identity, trust enforcement, human oversight and child protection.</a:t>
            </a:r>
            <a:endParaRPr lang="en-US" sz="1600" dirty="0"/>
          </a:p>
        </p:txBody>
      </p:sp>
      <p:sp>
        <p:nvSpPr>
          <p:cNvPr id="17" name="Shape 15"/>
          <p:cNvSpPr/>
          <p:nvPr/>
        </p:nvSpPr>
        <p:spPr>
          <a:xfrm>
            <a:off x="8183880" y="5349240"/>
            <a:ext cx="3246120" cy="713232"/>
          </a:xfrm>
          <a:prstGeom prst="roundRect">
            <a:avLst>
              <a:gd name="adj" fmla="val 15385"/>
            </a:avLst>
          </a:prstGeom>
          <a:solidFill>
            <a:srgbClr val="E60000"/>
          </a:solidFill>
          <a:ln w="12700">
            <a:solidFill>
              <a:srgbClr val="E60000"/>
            </a:solidFill>
            <a:prstDash val="solid"/>
          </a:ln>
          <a:effectLst/>
        </p:spPr>
        <p:txBody>
          <a:bodyPr/>
          <a:lstStyle/>
          <a:p>
            <a:endParaRPr lang="en-US"/>
          </a:p>
        </p:txBody>
      </p:sp>
      <p:sp>
        <p:nvSpPr>
          <p:cNvPr id="18" name="Text 16"/>
          <p:cNvSpPr/>
          <p:nvPr/>
        </p:nvSpPr>
        <p:spPr>
          <a:xfrm>
            <a:off x="8394192" y="5559552"/>
            <a:ext cx="2834640" cy="256032"/>
          </a:xfrm>
          <a:prstGeom prst="rect">
            <a:avLst/>
          </a:prstGeom>
          <a:noFill/>
          <a:ln/>
        </p:spPr>
        <p:txBody>
          <a:bodyPr wrap="square" lIns="0" tIns="0" rIns="0" bIns="0" rtlCol="0" anchor="ctr"/>
          <a:lstStyle/>
          <a:p>
            <a:pPr marL="0" indent="0" algn="ctr">
              <a:buNone/>
            </a:pPr>
            <a:r>
              <a:rPr lang="en-US" sz="1600" b="1" dirty="0">
                <a:solidFill>
                  <a:srgbClr val="FFFFFF"/>
                </a:solidFill>
              </a:rPr>
              <a:t>Proposed next step: adopt and refine</a:t>
            </a:r>
            <a:endParaRPr lang="en-US" sz="1600" dirty="0"/>
          </a:p>
        </p:txBody>
      </p:sp>
      <p:sp>
        <p:nvSpPr>
          <p:cNvPr id="19" name="Text 17"/>
          <p:cNvSpPr/>
          <p:nvPr/>
        </p:nvSpPr>
        <p:spPr>
          <a:xfrm>
            <a:off x="694944" y="5596128"/>
            <a:ext cx="6995160" cy="685800"/>
          </a:xfrm>
          <a:prstGeom prst="rect">
            <a:avLst/>
          </a:prstGeom>
          <a:noFill/>
          <a:ln/>
        </p:spPr>
        <p:txBody>
          <a:bodyPr wrap="square" lIns="0" tIns="0" rIns="0" bIns="0" rtlCol="0" anchor="ctr"/>
          <a:lstStyle/>
          <a:p>
            <a:pPr marL="0" indent="0">
              <a:buNone/>
            </a:pPr>
            <a:r>
              <a:rPr lang="en-US" sz="2000" b="1" i="1" dirty="0">
                <a:solidFill>
                  <a:srgbClr val="FFFFFF"/>
                </a:solidFill>
              </a:rPr>
              <a:t>“How can an AI agent reliably protect a child without needing to know who the child is?”</a:t>
            </a:r>
            <a:endParaRPr lang="en-US" sz="2000" dirty="0"/>
          </a:p>
        </p:txBody>
      </p:sp>
      <p:sp>
        <p:nvSpPr>
          <p:cNvPr id="25" name="Slide Number Placeholder 0"/>
          <p:cNvSpPr>
            <a:spLocks noGrp="1"/>
          </p:cNvSpPr>
          <p:nvPr>
            <p:ph type="sldNum" sz="quarter" idx="4294967295"/>
          </p:nvPr>
        </p:nvSpPr>
        <p:spPr>
          <a:xfrm>
            <a:off x="1177747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657184"/>
                </a:solidFill>
              </a:defRPr>
            </a:lvl1pPr>
          </a:lstStyle>
          <a:p>
            <a:pPr algn="l"/>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0359f705-2ba0-454b-9cfc-6ce5bcaac040}" enabled="1" method="Standard" siteId="{68283f3b-8487-4c86-adb3-a5228f18b893}" removed="0"/>
</clbl:labelList>
</file>

<file path=docProps/app.xml><?xml version="1.0" encoding="utf-8"?>
<Properties xmlns="http://schemas.openxmlformats.org/officeDocument/2006/extended-properties" xmlns:vt="http://schemas.openxmlformats.org/officeDocument/2006/docPropsVTypes">
  <TotalTime>0</TotalTime>
  <Words>1478</Words>
  <Application>Microsoft Office PowerPoint</Application>
  <PresentationFormat>Widescreen</PresentationFormat>
  <Paragraphs>129</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Vodafone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Child-Aware Delegated Identity for Agentic AI</dc:title>
  <dc:subject>TIDA Theme Proposal</dc:subject>
  <dc:creator>Gianpaolo Angelo Scalone, Vodafone</dc:creator>
  <cp:lastModifiedBy>Gianpaolo Angelo Scalone, Vodafone</cp:lastModifiedBy>
  <cp:revision>2</cp:revision>
  <dcterms:created xsi:type="dcterms:W3CDTF">2026-09-29T07:57:52Z</dcterms:created>
  <dcterms:modified xsi:type="dcterms:W3CDTF">2026-09-30T13:34:45Z</dcterms:modified>
</cp:coreProperties>
</file>